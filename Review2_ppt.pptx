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handoutMasterIdLst>
    <p:handoutMasterId r:id="rId24"/>
  </p:handoutMasterIdLst>
  <p:sldIdLst>
    <p:sldId id="332" r:id="rId2"/>
    <p:sldId id="273" r:id="rId3"/>
    <p:sldId id="259" r:id="rId4"/>
    <p:sldId id="260" r:id="rId5"/>
    <p:sldId id="262" r:id="rId6"/>
    <p:sldId id="263" r:id="rId7"/>
    <p:sldId id="334" r:id="rId8"/>
    <p:sldId id="335" r:id="rId9"/>
    <p:sldId id="336" r:id="rId10"/>
    <p:sldId id="337" r:id="rId11"/>
    <p:sldId id="338" r:id="rId12"/>
    <p:sldId id="339" r:id="rId13"/>
    <p:sldId id="344" r:id="rId14"/>
    <p:sldId id="347" r:id="rId15"/>
    <p:sldId id="345" r:id="rId16"/>
    <p:sldId id="346" r:id="rId17"/>
    <p:sldId id="341" r:id="rId18"/>
    <p:sldId id="264" r:id="rId19"/>
    <p:sldId id="342" r:id="rId20"/>
    <p:sldId id="272" r:id="rId21"/>
    <p:sldId id="33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66"/>
    <a:srgbClr val="FF6600"/>
    <a:srgbClr val="009900"/>
    <a:srgbClr val="F4AF83"/>
    <a:srgbClr val="0099FF"/>
    <a:srgbClr val="008080"/>
    <a:srgbClr val="0F9F7D"/>
    <a:srgbClr val="008000"/>
    <a:srgbClr val="373545"/>
    <a:srgbClr val="AFAB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1344" autoAdjust="0"/>
  </p:normalViewPr>
  <p:slideViewPr>
    <p:cSldViewPr snapToGrid="0">
      <p:cViewPr varScale="1">
        <p:scale>
          <a:sx n="82" d="100"/>
          <a:sy n="82" d="100"/>
        </p:scale>
        <p:origin x="710" y="77"/>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2" d="100"/>
          <a:sy n="52" d="100"/>
        </p:scale>
        <p:origin x="2680" y="6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6E5FBE0-5C21-4E83-8069-52D09BCDD71E}" type="datetimeFigureOut">
              <a:rPr lang="en-IN" smtClean="0"/>
              <a:pPr/>
              <a:t>11-03-2026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36C5872-5BF2-424D-ADD9-174D7927D36A}" type="slidenum">
              <a:rPr lang="en-IN" smtClean="0"/>
              <a:pPr/>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846DD5-0A30-46AD-B2E1-F25508726044}" type="datetimeFigureOut">
              <a:rPr lang="en-IN" smtClean="0"/>
              <a:pPr/>
              <a:t>11-03-2026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FFBC11-2ED2-450E-A0CC-CEA7380C613F}" type="slidenum">
              <a:rPr lang="en-IN" smtClean="0"/>
              <a:pPr/>
              <a:t>‹#›</a:t>
            </a:fld>
            <a:endParaRPr lang="en-IN"/>
          </a:p>
        </p:txBody>
      </p:sp>
    </p:spTree>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
        <p:cNvGrpSpPr/>
        <p:nvPr/>
      </p:nvGrpSpPr>
      <p:grpSpPr>
        <a:xfrm>
          <a:off x="0" y="0"/>
          <a:ext cx="0" cy="0"/>
          <a:chOff x="0" y="0"/>
          <a:chExt cx="0" cy="0"/>
        </a:xfrm>
      </p:grpSpPr>
      <p:sp>
        <p:nvSpPr>
          <p:cNvPr id="27" name="Google Shape;2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 name="Google Shape;2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Date Placeholder 3"/>
          <p:cNvSpPr txBox="1"/>
          <p:nvPr userDrawn="1"/>
        </p:nvSpPr>
        <p:spPr>
          <a:xfrm>
            <a:off x="777239" y="6634573"/>
            <a:ext cx="5781822" cy="220979"/>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6" name="Date Placeholder 3"/>
          <p:cNvSpPr txBox="1"/>
          <p:nvPr userDrawn="1"/>
        </p:nvSpPr>
        <p:spPr>
          <a:xfrm>
            <a:off x="6559062" y="6634573"/>
            <a:ext cx="5195133" cy="220979"/>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p:cNvSpPr txBox="1"/>
          <p:nvPr userDrawn="1"/>
        </p:nvSpPr>
        <p:spPr>
          <a:xfrm>
            <a:off x="11754196" y="6637020"/>
            <a:ext cx="437803" cy="220979"/>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Date Placeholder 3"/>
          <p:cNvSpPr txBox="1"/>
          <p:nvPr userDrawn="1"/>
        </p:nvSpPr>
        <p:spPr>
          <a:xfrm>
            <a:off x="-1" y="-1"/>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sp>
        <p:nvSpPr>
          <p:cNvPr id="9" name="Date Placeholder 3"/>
          <p:cNvSpPr txBox="1"/>
          <p:nvPr userDrawn="1"/>
        </p:nvSpPr>
        <p:spPr>
          <a:xfrm>
            <a:off x="0" y="6634573"/>
            <a:ext cx="777239" cy="22152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 y="232759"/>
            <a:ext cx="12192000" cy="714892"/>
          </a:xfrm>
          <a:prstGeom prst="rect">
            <a:avLst/>
          </a:prstGeom>
          <a:solidFill>
            <a:srgbClr val="FF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defRPr b="0" cap="none" spc="0">
                <a:ln w="0"/>
                <a:solidFill>
                  <a:schemeClr val="bg1"/>
                </a:solidFill>
                <a:effectLst>
                  <a:outerShdw blurRad="38100" dist="25400" dir="5400000" algn="ctr" rotWithShape="0">
                    <a:srgbClr val="6E747A">
                      <a:alpha val="43000"/>
                    </a:srgbClr>
                  </a:outerShdw>
                </a:effectLst>
              </a:defRPr>
            </a:lvl1pPr>
          </a:lstStyle>
          <a:p>
            <a:r>
              <a:rPr lang="en-US" dirty="0"/>
              <a:t>Click to edit Master title style</a:t>
            </a:r>
            <a:endParaRPr lang="en-IN" dirty="0"/>
          </a:p>
        </p:txBody>
      </p:sp>
      <p:sp>
        <p:nvSpPr>
          <p:cNvPr id="3" name="Content Placeholder 2"/>
          <p:cNvSpPr>
            <a:spLocks noGrp="1"/>
          </p:cNvSpPr>
          <p:nvPr>
            <p:ph idx="1"/>
          </p:nvPr>
        </p:nvSpPr>
        <p:spPr>
          <a:xfrm>
            <a:off x="199505" y="1097279"/>
            <a:ext cx="11779135" cy="5394960"/>
          </a:xfrm>
        </p:spPr>
        <p:txBody>
          <a:bodyPr/>
          <a:lstStyle>
            <a:lvl1pPr marL="228600" indent="-228600">
              <a:buFont typeface="Wingdings" panose="05000000000000000000" pitchFamily="2" charset="2"/>
              <a:buChar char="Ø"/>
              <a:defRPr/>
            </a:lvl1pPr>
            <a:lvl2pPr marL="685800" indent="-228600">
              <a:buFont typeface="Wingdings" panose="05000000000000000000" pitchFamily="2" charset="2"/>
              <a:buChar char="q"/>
              <a:defRPr/>
            </a:lvl2pPr>
            <a:lvl3pPr marL="1143000" indent="-228600">
              <a:buFont typeface="Courier New" panose="02070309020205020404" pitchFamily="49" charset="0"/>
              <a:buChar char="o"/>
              <a:defRPr/>
            </a:lvl3pPr>
            <a:lvl4pPr marL="1600200" indent="-228600">
              <a:buFont typeface="Wingdings" panose="05000000000000000000" pitchFamily="2" charset="2"/>
              <a:buChar char="§"/>
              <a:defRPr/>
            </a:lvl4pPr>
            <a:lvl5pPr marL="2057400" indent="-228600">
              <a:buFont typeface="Arial" panose="020B0604020202020204" pitchFamily="34" charset="0"/>
              <a:buChar cha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Date Placeholder 3"/>
          <p:cNvSpPr txBox="1"/>
          <p:nvPr userDrawn="1"/>
        </p:nvSpPr>
        <p:spPr>
          <a:xfrm>
            <a:off x="777239" y="6642828"/>
            <a:ext cx="5654039" cy="215172"/>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Dept. of Computer Science and Engineering</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p:cNvSpPr txBox="1"/>
          <p:nvPr userDrawn="1"/>
        </p:nvSpPr>
        <p:spPr>
          <a:xfrm>
            <a:off x="6431278" y="6641866"/>
            <a:ext cx="5322917" cy="216133"/>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Srinivasa Ramanujan Institute of Technology</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8" name="Date Placeholder 3"/>
          <p:cNvSpPr txBox="1"/>
          <p:nvPr userDrawn="1"/>
        </p:nvSpPr>
        <p:spPr>
          <a:xfrm>
            <a:off x="11754196" y="6641865"/>
            <a:ext cx="437803" cy="216133"/>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DAC095C-C545-42F9-B93D-2B3224753C51}" type="slidenum">
              <a:rPr lang="en-US" sz="16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pPr algn="ctr"/>
              <a:t>‹#›</a:t>
            </a:fld>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Date Placeholder 3"/>
          <p:cNvSpPr txBox="1"/>
          <p:nvPr userDrawn="1"/>
        </p:nvSpPr>
        <p:spPr>
          <a:xfrm>
            <a:off x="-1" y="0"/>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500" b="1" i="1" dirty="0">
                <a:solidFill>
                  <a:schemeClr val="bg1"/>
                </a:solidFill>
                <a:effectLst/>
                <a:latin typeface="Times New Roman" panose="02020603050405020304" pitchFamily="18" charset="0"/>
                <a:cs typeface="Times New Roman" panose="02020603050405020304" pitchFamily="18" charset="0"/>
              </a:rPr>
              <a:t>Grievance Management System using Mobile Application</a:t>
            </a: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06200" y="5956065"/>
            <a:ext cx="685800" cy="685800"/>
          </a:xfrm>
          <a:prstGeom prst="rect">
            <a:avLst/>
          </a:prstGeom>
        </p:spPr>
      </p:pic>
      <p:sp>
        <p:nvSpPr>
          <p:cNvPr id="10" name="Date Placeholder 3"/>
          <p:cNvSpPr txBox="1"/>
          <p:nvPr userDrawn="1"/>
        </p:nvSpPr>
        <p:spPr>
          <a:xfrm>
            <a:off x="0" y="6642828"/>
            <a:ext cx="777239" cy="21517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 A2</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2" cstate="print"/>
          <a:stretch>
            <a:fillRect/>
          </a:stretch>
        </p:blipFill>
        <p:spPr>
          <a:xfrm>
            <a:off x="11506320" y="5956200"/>
            <a:ext cx="685439" cy="681285"/>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1" name="bg object 21"/>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3" name="Holder 3"/>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4" name="Holder 4"/>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extLst>
      <p:ext uri="{BB962C8B-B14F-4D97-AF65-F5344CB8AC3E}">
        <p14:creationId xmlns:p14="http://schemas.microsoft.com/office/powerpoint/2010/main" val="3591944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just" defTabSz="914400" rtl="0" eaLnBrk="1" latinLnBrk="0" hangingPunct="1">
        <a:lnSpc>
          <a:spcPct val="90000"/>
        </a:lnSpc>
        <a:spcBef>
          <a:spcPts val="1000"/>
        </a:spcBef>
        <a:buFont typeface="Wingdings" panose="05000000000000000000" pitchFamily="2" charset="2"/>
        <a:buChar char="q"/>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just" defTabSz="914400" rtl="0" eaLnBrk="1" latinLnBrk="0" hangingPunct="1">
        <a:lnSpc>
          <a:spcPct val="90000"/>
        </a:lnSpc>
        <a:spcBef>
          <a:spcPts val="500"/>
        </a:spcBef>
        <a:buFont typeface="Wingdings" panose="05000000000000000000" pitchFamily="2" charset="2"/>
        <a:buChar char="Ø"/>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just" defTabSz="914400" rtl="0" eaLnBrk="1" latinLnBrk="0" hangingPunct="1">
        <a:lnSpc>
          <a:spcPct val="90000"/>
        </a:lnSpc>
        <a:spcBef>
          <a:spcPts val="500"/>
        </a:spcBef>
        <a:buFont typeface="Courier New" panose="02070309020205020404" pitchFamily="49" charset="0"/>
        <a:buChar char="o"/>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just"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mani-chandrika549/CSE-2022-2026-Batch-A9"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
        <p:cNvGrpSpPr/>
        <p:nvPr/>
      </p:nvGrpSpPr>
      <p:grpSpPr>
        <a:xfrm>
          <a:off x="0" y="0"/>
          <a:ext cx="0" cy="0"/>
          <a:chOff x="0" y="0"/>
          <a:chExt cx="0" cy="0"/>
        </a:xfrm>
      </p:grpSpPr>
      <p:sp>
        <p:nvSpPr>
          <p:cNvPr id="4" name="Subtitle 11"/>
          <p:cNvSpPr txBox="1"/>
          <p:nvPr/>
        </p:nvSpPr>
        <p:spPr>
          <a:xfrm>
            <a:off x="7782857" y="1751993"/>
            <a:ext cx="2957324" cy="584534"/>
          </a:xfrm>
          <a:prstGeom prst="rect">
            <a:avLst/>
          </a:prstGeom>
        </p:spPr>
        <p:txBody>
          <a:bodyPr vert="horz" lIns="91440" tIns="45720" rIns="91440" bIns="45720" rtlCol="0">
            <a:normAutofit fontScale="2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IN" sz="8000" b="0" dirty="0"/>
              <a:t>S.MANJUNATH REDDY</a:t>
            </a:r>
            <a:endParaRPr lang="en-US" sz="8000" b="0" dirty="0"/>
          </a:p>
          <a:p>
            <a:pPr>
              <a:spcBef>
                <a:spcPts val="300"/>
              </a:spcBef>
            </a:pPr>
            <a:r>
              <a:rPr lang="en-US" sz="6000" b="0" dirty="0"/>
              <a:t>Roll No. 224G1A0552</a:t>
            </a:r>
          </a:p>
        </p:txBody>
      </p:sp>
      <p:sp>
        <p:nvSpPr>
          <p:cNvPr id="2" name="Subtitle 11"/>
          <p:cNvSpPr txBox="1"/>
          <p:nvPr/>
        </p:nvSpPr>
        <p:spPr>
          <a:xfrm>
            <a:off x="3384884" y="2475580"/>
            <a:ext cx="5047444" cy="8980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1400" b="0" i="1" dirty="0"/>
              <a:t>Under the guidance of</a:t>
            </a:r>
          </a:p>
          <a:p>
            <a:pPr>
              <a:spcBef>
                <a:spcPts val="200"/>
              </a:spcBef>
            </a:pPr>
            <a:r>
              <a:rPr lang="en-IN" sz="2400" b="0" dirty="0" err="1"/>
              <a:t>Mr.G.Chinna</a:t>
            </a:r>
            <a:r>
              <a:rPr lang="en-IN" sz="2400" b="0" dirty="0"/>
              <a:t> Pullaiah </a:t>
            </a:r>
            <a:r>
              <a:rPr lang="en-IN" sz="2400" b="0" dirty="0">
                <a:effectLst>
                  <a:outerShdw blurRad="38100" dist="38100" dir="2700000" algn="tl">
                    <a:srgbClr val="000000">
                      <a:alpha val="43137"/>
                    </a:srgbClr>
                  </a:outerShdw>
                </a:effectLst>
              </a:rPr>
              <a:t>,</a:t>
            </a:r>
            <a:r>
              <a:rPr lang="en-US" sz="2400" b="0" spc="-25" dirty="0" err="1">
                <a:latin typeface="Times New Roman" panose="02020603050405020304"/>
                <a:cs typeface="Times New Roman" panose="02020603050405020304"/>
              </a:rPr>
              <a:t>M.Tech</a:t>
            </a:r>
            <a:r>
              <a:rPr lang="en-US" sz="2400" b="0" spc="-25" dirty="0">
                <a:latin typeface="Times New Roman" panose="02020603050405020304"/>
                <a:cs typeface="Times New Roman" panose="02020603050405020304"/>
              </a:rPr>
              <a:t>.,(</a:t>
            </a:r>
            <a:r>
              <a:rPr lang="en-US" sz="2400" b="0" spc="-25" dirty="0" err="1">
                <a:latin typeface="Times New Roman" panose="02020603050405020304"/>
                <a:cs typeface="Times New Roman" panose="02020603050405020304"/>
              </a:rPr>
              <a:t>Ph.D</a:t>
            </a:r>
            <a:r>
              <a:rPr lang="en-US" sz="2400" b="0" spc="-25" dirty="0">
                <a:latin typeface="Times New Roman" panose="02020603050405020304"/>
                <a:cs typeface="Times New Roman" panose="02020603050405020304"/>
              </a:rPr>
              <a:t>)</a:t>
            </a:r>
          </a:p>
          <a:p>
            <a:pPr>
              <a:spcBef>
                <a:spcPts val="200"/>
              </a:spcBef>
            </a:pPr>
            <a:r>
              <a:rPr lang="en-US" sz="2400" b="0" spc="-25" dirty="0">
                <a:latin typeface="Times New Roman" panose="02020603050405020304"/>
                <a:cs typeface="Times New Roman" panose="02020603050405020304"/>
              </a:rPr>
              <a:t>Assistant Professor</a:t>
            </a:r>
            <a:endParaRPr lang="en-IN" sz="2400" b="0" dirty="0">
              <a:effectLst>
                <a:outerShdw blurRad="38100" dist="38100" dir="2700000" algn="tl">
                  <a:srgbClr val="000000">
                    <a:alpha val="43137"/>
                  </a:srgbClr>
                </a:outerShdw>
              </a:effectLst>
            </a:endParaRPr>
          </a:p>
        </p:txBody>
      </p:sp>
      <p:sp>
        <p:nvSpPr>
          <p:cNvPr id="3" name="Subtitle 11"/>
          <p:cNvSpPr txBox="1"/>
          <p:nvPr/>
        </p:nvSpPr>
        <p:spPr>
          <a:xfrm>
            <a:off x="1514475" y="5162533"/>
            <a:ext cx="9163049" cy="1427181"/>
          </a:xfrm>
          <a:prstGeom prst="rect">
            <a:avLst/>
          </a:prstGeom>
        </p:spPr>
        <p:txBody>
          <a:bodyPr vert="horz" lIns="91440" tIns="45720" rIns="91440" bIns="45720" rtlCol="0">
            <a:normAutofit fontScale="40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500"/>
              </a:spcBef>
            </a:pPr>
            <a:r>
              <a:rPr lang="en-US" sz="4200" b="0" dirty="0">
                <a:effectLst>
                  <a:outerShdw blurRad="38100" dist="38100" dir="2700000" algn="tl">
                    <a:srgbClr val="000000">
                      <a:alpha val="43137"/>
                    </a:srgbClr>
                  </a:outerShdw>
                </a:effectLst>
              </a:rPr>
              <a:t>Department of Computer Science and Engineering    </a:t>
            </a:r>
          </a:p>
          <a:p>
            <a:pPr>
              <a:spcBef>
                <a:spcPts val="500"/>
              </a:spcBef>
            </a:pPr>
            <a:r>
              <a:rPr lang="en-US" sz="6500" b="0" dirty="0">
                <a:solidFill>
                  <a:srgbClr val="FF0000"/>
                </a:solidFill>
                <a:effectLst>
                  <a:outerShdw blurRad="38100" dist="38100" dir="2700000" algn="tl">
                    <a:srgbClr val="000000">
                      <a:alpha val="43137"/>
                    </a:srgbClr>
                  </a:outerShdw>
                </a:effectLst>
              </a:rPr>
              <a:t>Srinivasa Ramanujan Institute of Technology</a:t>
            </a:r>
          </a:p>
          <a:p>
            <a:pPr>
              <a:spcBef>
                <a:spcPts val="300"/>
              </a:spcBef>
            </a:pPr>
            <a:r>
              <a:rPr lang="en-US" sz="3400" dirty="0">
                <a:effectLst/>
                <a:ea typeface="Times New Roman" panose="02020603050405020304" pitchFamily="18" charset="0"/>
              </a:rPr>
              <a:t>Autonomous</a:t>
            </a:r>
            <a:endParaRPr lang="en-US" sz="3400" b="0" dirty="0"/>
          </a:p>
          <a:p>
            <a:pPr>
              <a:spcBef>
                <a:spcPts val="300"/>
              </a:spcBef>
            </a:pPr>
            <a:r>
              <a:rPr lang="en-US" sz="2770" dirty="0" err="1"/>
              <a:t>Rotarypuram</a:t>
            </a:r>
            <a:r>
              <a:rPr lang="en-US" sz="2770" dirty="0"/>
              <a:t> Village, B K </a:t>
            </a:r>
            <a:r>
              <a:rPr lang="en-US" sz="2770" dirty="0" err="1"/>
              <a:t>Samudram</a:t>
            </a:r>
            <a:r>
              <a:rPr lang="en-US" sz="2770" dirty="0"/>
              <a:t> Mandal, </a:t>
            </a:r>
            <a:r>
              <a:rPr lang="en-US" sz="2770" dirty="0" err="1"/>
              <a:t>Ananthapuramu</a:t>
            </a:r>
            <a:r>
              <a:rPr lang="en-US" sz="2770" dirty="0"/>
              <a:t> – 515701.</a:t>
            </a:r>
          </a:p>
          <a:p>
            <a:pPr>
              <a:spcBef>
                <a:spcPts val="300"/>
              </a:spcBef>
            </a:pPr>
            <a:r>
              <a:rPr lang="en-IN" altLang="en-US" sz="2770" dirty="0"/>
              <a:t>Accredited by NBA &amp; NAAC with “A” Grade,Affiliated to JNTUA,Ananthapuramu</a:t>
            </a:r>
            <a:endParaRPr lang="en-US" sz="2770" dirty="0"/>
          </a:p>
          <a:p>
            <a:pPr>
              <a:spcAft>
                <a:spcPts val="100"/>
              </a:spcAft>
            </a:pPr>
            <a:r>
              <a:rPr lang="en-US" sz="2770" dirty="0">
                <a:solidFill>
                  <a:schemeClr val="accent1">
                    <a:lumMod val="50000"/>
                  </a:schemeClr>
                </a:solidFill>
              </a:rPr>
              <a:t>202</a:t>
            </a:r>
            <a:r>
              <a:rPr lang="en-IN" altLang="en-US" sz="2770" dirty="0">
                <a:solidFill>
                  <a:schemeClr val="accent1">
                    <a:lumMod val="50000"/>
                  </a:schemeClr>
                </a:solidFill>
              </a:rPr>
              <a:t>5</a:t>
            </a:r>
            <a:r>
              <a:rPr lang="en-US" sz="2770" dirty="0">
                <a:solidFill>
                  <a:schemeClr val="accent1">
                    <a:lumMod val="50000"/>
                  </a:schemeClr>
                </a:solidFill>
              </a:rPr>
              <a:t>-202</a:t>
            </a:r>
            <a:r>
              <a:rPr lang="en-IN" altLang="en-US" sz="2770" dirty="0">
                <a:solidFill>
                  <a:schemeClr val="accent1">
                    <a:lumMod val="50000"/>
                  </a:schemeClr>
                </a:solidFill>
              </a:rPr>
              <a:t>6</a:t>
            </a:r>
            <a:endParaRPr lang="en-US" sz="2770" b="0" dirty="0"/>
          </a:p>
          <a:p>
            <a:endParaRPr lang="en-IN" sz="2770" b="0" dirty="0"/>
          </a:p>
        </p:txBody>
      </p:sp>
      <p:sp>
        <p:nvSpPr>
          <p:cNvPr id="8" name="Subtitle 11"/>
          <p:cNvSpPr txBox="1"/>
          <p:nvPr/>
        </p:nvSpPr>
        <p:spPr>
          <a:xfrm>
            <a:off x="4827638" y="1783000"/>
            <a:ext cx="2382924" cy="584534"/>
          </a:xfrm>
          <a:prstGeom prst="rect">
            <a:avLst/>
          </a:prstGeom>
        </p:spPr>
        <p:txBody>
          <a:bodyPr vert="horz" lIns="91440" tIns="45720" rIns="91440" bIns="45720" rtlCol="0">
            <a:normAutofit fontScale="5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IN" sz="4200" b="0" dirty="0"/>
              <a:t>S.ANKITHA</a:t>
            </a:r>
            <a:endParaRPr lang="en-US" sz="4200" b="0" dirty="0"/>
          </a:p>
          <a:p>
            <a:pPr>
              <a:spcBef>
                <a:spcPts val="300"/>
              </a:spcBef>
            </a:pPr>
            <a:r>
              <a:rPr lang="en-US" b="0" dirty="0"/>
              <a:t>Roll No. 224G1A0504</a:t>
            </a:r>
          </a:p>
        </p:txBody>
      </p:sp>
      <p:sp>
        <p:nvSpPr>
          <p:cNvPr id="9" name="Subtitle 11"/>
          <p:cNvSpPr txBox="1"/>
          <p:nvPr/>
        </p:nvSpPr>
        <p:spPr>
          <a:xfrm>
            <a:off x="8617598" y="1783000"/>
            <a:ext cx="2382924" cy="58453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endParaRPr lang="en-US" sz="2800" b="0" dirty="0"/>
          </a:p>
        </p:txBody>
      </p:sp>
      <p:sp>
        <p:nvSpPr>
          <p:cNvPr id="10" name="Subtitle 11"/>
          <p:cNvSpPr txBox="1"/>
          <p:nvPr/>
        </p:nvSpPr>
        <p:spPr>
          <a:xfrm>
            <a:off x="1617027" y="1795320"/>
            <a:ext cx="2638316" cy="584534"/>
          </a:xfrm>
          <a:prstGeom prst="rect">
            <a:avLst/>
          </a:prstGeom>
        </p:spPr>
        <p:txBody>
          <a:bodyPr vert="horz" lIns="91440" tIns="45720" rIns="91440" bIns="45720" rtlCol="0">
            <a:normAutofit fontScale="2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8000" b="0" dirty="0"/>
              <a:t>C.MANICHANDRIKA</a:t>
            </a:r>
          </a:p>
          <a:p>
            <a:pPr>
              <a:spcBef>
                <a:spcPts val="300"/>
              </a:spcBef>
            </a:pPr>
            <a:r>
              <a:rPr lang="en-US" sz="6000" b="0" dirty="0"/>
              <a:t>Roll No. 224G1A0549</a:t>
            </a:r>
          </a:p>
        </p:txBody>
      </p:sp>
      <p:sp>
        <p:nvSpPr>
          <p:cNvPr id="11" name="Rectangle: Rounded Corners 16"/>
          <p:cNvSpPr/>
          <p:nvPr/>
        </p:nvSpPr>
        <p:spPr>
          <a:xfrm>
            <a:off x="755009" y="335271"/>
            <a:ext cx="10528183" cy="857864"/>
          </a:xfrm>
          <a:prstGeom prst="roundRect">
            <a:avLst/>
          </a:prstGeom>
          <a:solidFill>
            <a:srgbClr val="FF66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IN"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AI Enhanced </a:t>
            </a:r>
            <a:r>
              <a:rPr lang="en-IN" sz="320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GeoSpatial</a:t>
            </a:r>
            <a:r>
              <a:rPr lang="en-IN"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Tourism Recommendation</a:t>
            </a:r>
          </a:p>
        </p:txBody>
      </p:sp>
      <p:sp>
        <p:nvSpPr>
          <p:cNvPr id="15" name="Rectangle 17"/>
          <p:cNvSpPr/>
          <p:nvPr/>
        </p:nvSpPr>
        <p:spPr>
          <a:xfrm>
            <a:off x="2714840" y="1261696"/>
            <a:ext cx="6762303" cy="338041"/>
          </a:xfrm>
          <a:prstGeom prst="rect">
            <a:avLst/>
          </a:prstGeom>
        </p:spPr>
        <p:txBody>
          <a:bodyPr wrap="square">
            <a:spAutoFit/>
          </a:bodyPr>
          <a:lstStyle/>
          <a:p>
            <a:pPr algn="ctr">
              <a:lnSpc>
                <a:spcPct val="107000"/>
              </a:lnSpc>
              <a:spcBef>
                <a:spcPts val="500"/>
              </a:spcBef>
              <a:spcAft>
                <a:spcPts val="500"/>
              </a:spcAft>
            </a:pPr>
            <a:r>
              <a:rPr lang="en-IN" sz="1600" i="1" dirty="0">
                <a:solidFill>
                  <a:srgbClr val="000000"/>
                </a:solidFill>
                <a:latin typeface="Times New Roman" panose="02020603050405020304" pitchFamily="18" charset="0"/>
                <a:ea typeface="Calibri" panose="020F0502020204030204" pitchFamily="34" charset="0"/>
              </a:rPr>
              <a:t>by</a:t>
            </a:r>
          </a:p>
        </p:txBody>
      </p:sp>
      <p:pic>
        <p:nvPicPr>
          <p:cNvPr id="16" name="Picture 15"/>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5332301" y="3477046"/>
            <a:ext cx="1527379" cy="1685487"/>
          </a:xfrm>
          <a:prstGeom prst="rect">
            <a:avLst/>
          </a:prstGeom>
        </p:spPr>
      </p:pic>
      <p:sp>
        <p:nvSpPr>
          <p:cNvPr id="6" name="TextBox 5">
            <a:extLst>
              <a:ext uri="{FF2B5EF4-FFF2-40B4-BE49-F238E27FC236}">
                <a16:creationId xmlns:a16="http://schemas.microsoft.com/office/drawing/2014/main" id="{2085E259-15EE-E761-23E9-890BC6A5705B}"/>
              </a:ext>
            </a:extLst>
          </p:cNvPr>
          <p:cNvSpPr txBox="1"/>
          <p:nvPr/>
        </p:nvSpPr>
        <p:spPr>
          <a:xfrm>
            <a:off x="-2711116" y="6589714"/>
            <a:ext cx="6096000" cy="369332"/>
          </a:xfrm>
          <a:prstGeom prst="rect">
            <a:avLst/>
          </a:prstGeom>
          <a:noFill/>
        </p:spPr>
        <p:txBody>
          <a:bodyPr wrap="square">
            <a:spAutoFit/>
          </a:bodyPr>
          <a:lstStyle/>
          <a:p>
            <a:pPr algn="ctr"/>
            <a:r>
              <a:rPr lang="en-IN" dirty="0">
                <a:solidFill>
                  <a:schemeClr val="bg1"/>
                </a:solidFill>
              </a:rPr>
              <a:t>A9</a:t>
            </a:r>
          </a:p>
        </p:txBody>
      </p:sp>
      <p:sp>
        <p:nvSpPr>
          <p:cNvPr id="12" name="TextBox 11">
            <a:extLst>
              <a:ext uri="{FF2B5EF4-FFF2-40B4-BE49-F238E27FC236}">
                <a16:creationId xmlns:a16="http://schemas.microsoft.com/office/drawing/2014/main" id="{2F8C65E5-7B69-E468-755B-508E7E570A21}"/>
              </a:ext>
            </a:extLst>
          </p:cNvPr>
          <p:cNvSpPr txBox="1"/>
          <p:nvPr/>
        </p:nvSpPr>
        <p:spPr>
          <a:xfrm>
            <a:off x="840740" y="6589714"/>
            <a:ext cx="11351260" cy="323165"/>
          </a:xfrm>
          <a:prstGeom prst="rect">
            <a:avLst/>
          </a:prstGeom>
          <a:noFill/>
        </p:spPr>
        <p:txBody>
          <a:bodyPr wrap="square">
            <a:spAutoFit/>
          </a:bodyPr>
          <a:lstStyle/>
          <a:p>
            <a:r>
              <a:rPr lang="en-IN" sz="1500" dirty="0">
                <a:solidFill>
                  <a:schemeClr val="bg1"/>
                </a:solidFill>
                <a:latin typeface="Times New Roman" panose="02020603050405020304" pitchFamily="18" charset="0"/>
                <a:cs typeface="Times New Roman" panose="02020603050405020304" pitchFamily="18" charset="0"/>
              </a:rPr>
              <a:t>        DEPT. OF COMPUTER SCIENCE AND ENGINEERING                  SRINIVASA RAMANUJAN INSTITUTE OF TECHNOLOGY      </a:t>
            </a:r>
            <a:r>
              <a:rPr lang="en-IN" sz="1500" dirty="0">
                <a:latin typeface="Times New Roman" panose="02020603050405020304" pitchFamily="18" charset="0"/>
                <a:cs typeface="Times New Roman" panose="02020603050405020304" pitchFamily="18" charset="0"/>
              </a:rPr>
              <a:t>1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5501881-5451-9BA1-35B4-2059AB890D39}"/>
              </a:ext>
            </a:extLst>
          </p:cNvPr>
          <p:cNvSpPr/>
          <p:nvPr/>
        </p:nvSpPr>
        <p:spPr>
          <a:xfrm>
            <a:off x="3159890" y="26720"/>
            <a:ext cx="5632632" cy="232759"/>
          </a:xfrm>
          <a:prstGeom prst="rect">
            <a:avLst/>
          </a:prstGeom>
          <a:solidFill>
            <a:srgbClr val="00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p:txBody>
          <a:bodyPr/>
          <a:lstStyle/>
          <a:p>
            <a:r>
              <a:rPr lang="en-US" dirty="0"/>
              <a:t>Contents</a:t>
            </a:r>
            <a:endParaRPr lang="en-IN" dirty="0"/>
          </a:p>
        </p:txBody>
      </p:sp>
      <p:sp>
        <p:nvSpPr>
          <p:cNvPr id="3" name="Content Placeholder 2"/>
          <p:cNvSpPr>
            <a:spLocks noGrp="1"/>
          </p:cNvSpPr>
          <p:nvPr>
            <p:ph idx="1"/>
          </p:nvPr>
        </p:nvSpPr>
        <p:spPr/>
        <p:txBody>
          <a:bodyPr>
            <a:normAutofit lnSpcReduction="10000"/>
          </a:bodyPr>
          <a:lstStyle/>
          <a:p>
            <a:pPr marL="462280" indent="-462280">
              <a:buBlip>
                <a:blip r:embed="rId2">
                  <a:extLst>
                    <a:ext uri="{96DAC541-7B7A-43D3-8B79-37D633B846F1}">
                      <asvg:svgBlip xmlns:asvg="http://schemas.microsoft.com/office/drawing/2016/SVG/main" r:embed="rId3"/>
                    </a:ext>
                  </a:extLst>
                </a:blip>
              </a:buBlip>
            </a:pPr>
            <a:r>
              <a:rPr lang="en-US" dirty="0"/>
              <a:t>Abstract</a:t>
            </a:r>
          </a:p>
          <a:p>
            <a:pPr marL="462280" indent="-462280">
              <a:buBlip>
                <a:blip r:embed="rId2">
                  <a:extLst>
                    <a:ext uri="{96DAC541-7B7A-43D3-8B79-37D633B846F1}">
                      <asvg:svgBlip xmlns:asvg="http://schemas.microsoft.com/office/drawing/2016/SVG/main" r:embed="rId3"/>
                    </a:ext>
                  </a:extLst>
                </a:blip>
              </a:buBlip>
            </a:pPr>
            <a:r>
              <a:rPr lang="en-US" dirty="0"/>
              <a:t>Introduction</a:t>
            </a:r>
          </a:p>
          <a:p>
            <a:pPr marL="462280" indent="-462280">
              <a:buBlip>
                <a:blip r:embed="rId2">
                  <a:extLst>
                    <a:ext uri="{96DAC541-7B7A-43D3-8B79-37D633B846F1}">
                      <asvg:svgBlip xmlns:asvg="http://schemas.microsoft.com/office/drawing/2016/SVG/main" r:embed="rId3"/>
                    </a:ext>
                  </a:extLst>
                </a:blip>
              </a:buBlip>
            </a:pPr>
            <a:r>
              <a:rPr lang="en-US" altLang="en-IN" dirty="0"/>
              <a:t>Literature Survey</a:t>
            </a:r>
          </a:p>
          <a:p>
            <a:pPr marL="462280" indent="-462280">
              <a:buBlip>
                <a:blip r:embed="rId2">
                  <a:extLst>
                    <a:ext uri="{96DAC541-7B7A-43D3-8B79-37D633B846F1}">
                      <asvg:svgBlip xmlns:asvg="http://schemas.microsoft.com/office/drawing/2016/SVG/main" r:embed="rId3"/>
                    </a:ext>
                  </a:extLst>
                </a:blip>
              </a:buBlip>
            </a:pPr>
            <a:r>
              <a:rPr lang="en-US" dirty="0"/>
              <a:t>Existing System</a:t>
            </a:r>
          </a:p>
          <a:p>
            <a:pPr marL="462280" indent="-462280">
              <a:buBlip>
                <a:blip r:embed="rId2">
                  <a:extLst>
                    <a:ext uri="{96DAC541-7B7A-43D3-8B79-37D633B846F1}">
                      <asvg:svgBlip xmlns:asvg="http://schemas.microsoft.com/office/drawing/2016/SVG/main" r:embed="rId3"/>
                    </a:ext>
                  </a:extLst>
                </a:blip>
              </a:buBlip>
            </a:pPr>
            <a:r>
              <a:rPr lang="en-US" dirty="0"/>
              <a:t>Proposed System</a:t>
            </a:r>
          </a:p>
          <a:p>
            <a:pPr marL="462280" indent="-462280">
              <a:buBlip>
                <a:blip r:embed="rId2">
                  <a:extLst>
                    <a:ext uri="{96DAC541-7B7A-43D3-8B79-37D633B846F1}">
                      <asvg:svgBlip xmlns:asvg="http://schemas.microsoft.com/office/drawing/2016/SVG/main" r:embed="rId3"/>
                    </a:ext>
                  </a:extLst>
                </a:blip>
              </a:buBlip>
            </a:pPr>
            <a:r>
              <a:rPr lang="en-US" dirty="0"/>
              <a:t>Planning</a:t>
            </a:r>
          </a:p>
          <a:p>
            <a:pPr marL="462280" indent="-462280">
              <a:buBlip>
                <a:blip r:embed="rId2">
                  <a:extLst>
                    <a:ext uri="{96DAC541-7B7A-43D3-8B79-37D633B846F1}">
                      <asvg:svgBlip xmlns:asvg="http://schemas.microsoft.com/office/drawing/2016/SVG/main" r:embed="rId3"/>
                    </a:ext>
                  </a:extLst>
                </a:blip>
              </a:buBlip>
            </a:pPr>
            <a:r>
              <a:rPr lang="en-US" dirty="0"/>
              <a:t>Design</a:t>
            </a:r>
          </a:p>
          <a:p>
            <a:pPr marL="462280" indent="-462280">
              <a:buBlip>
                <a:blip r:embed="rId2">
                  <a:extLst>
                    <a:ext uri="{96DAC541-7B7A-43D3-8B79-37D633B846F1}">
                      <asvg:svgBlip xmlns:asvg="http://schemas.microsoft.com/office/drawing/2016/SVG/main" r:embed="rId3"/>
                    </a:ext>
                  </a:extLst>
                </a:blip>
              </a:buBlip>
            </a:pPr>
            <a:r>
              <a:rPr lang="en-US" dirty="0"/>
              <a:t>Implementation</a:t>
            </a:r>
          </a:p>
          <a:p>
            <a:pPr marL="462280" indent="-462280">
              <a:buBlip>
                <a:blip r:embed="rId2">
                  <a:extLst>
                    <a:ext uri="{96DAC541-7B7A-43D3-8B79-37D633B846F1}">
                      <asvg:svgBlip xmlns:asvg="http://schemas.microsoft.com/office/drawing/2016/SVG/main" r:embed="rId3"/>
                    </a:ext>
                  </a:extLst>
                </a:blip>
              </a:buBlip>
            </a:pPr>
            <a:r>
              <a:rPr lang="en-US" dirty="0"/>
              <a:t>Research Paper</a:t>
            </a:r>
            <a:endParaRPr lang="en-IN" dirty="0"/>
          </a:p>
          <a:p>
            <a:pPr marL="462280" indent="-462280">
              <a:buBlip>
                <a:blip r:embed="rId2">
                  <a:extLst>
                    <a:ext uri="{96DAC541-7B7A-43D3-8B79-37D633B846F1}">
                      <asvg:svgBlip xmlns:asvg="http://schemas.microsoft.com/office/drawing/2016/SVG/main" r:embed="rId3"/>
                    </a:ext>
                  </a:extLst>
                </a:blip>
              </a:buBlip>
            </a:pPr>
            <a:r>
              <a:rPr lang="en-IN" dirty="0"/>
              <a:t>References</a:t>
            </a:r>
          </a:p>
          <a:p>
            <a:pPr marL="462280" indent="-462280">
              <a:buBlip>
                <a:blip r:embed="rId2">
                  <a:extLst>
                    <a:ext uri="{96DAC541-7B7A-43D3-8B79-37D633B846F1}">
                      <asvg:svgBlip xmlns:asvg="http://schemas.microsoft.com/office/drawing/2016/SVG/main" r:embed="rId3"/>
                    </a:ext>
                  </a:extLst>
                </a:blip>
              </a:buBlip>
            </a:pPr>
            <a:r>
              <a:rPr lang="en-IN" dirty="0"/>
              <a:t>GitHub Link</a:t>
            </a:r>
            <a:endParaRPr lang="en-US" dirty="0"/>
          </a:p>
          <a:p>
            <a:pPr marL="0" indent="0">
              <a:buNone/>
            </a:pPr>
            <a:endParaRPr lang="en-IN" dirty="0"/>
          </a:p>
        </p:txBody>
      </p:sp>
      <p:sp>
        <p:nvSpPr>
          <p:cNvPr id="5" name="TextBox 4">
            <a:extLst>
              <a:ext uri="{FF2B5EF4-FFF2-40B4-BE49-F238E27FC236}">
                <a16:creationId xmlns:a16="http://schemas.microsoft.com/office/drawing/2014/main" id="{07A40046-7C98-A203-71C5-064F4E4266BF}"/>
              </a:ext>
            </a:extLst>
          </p:cNvPr>
          <p:cNvSpPr txBox="1"/>
          <p:nvPr/>
        </p:nvSpPr>
        <p:spPr>
          <a:xfrm>
            <a:off x="3159890" y="-68288"/>
            <a:ext cx="5620128" cy="369332"/>
          </a:xfrm>
          <a:prstGeom prst="rect">
            <a:avLst/>
          </a:prstGeom>
          <a:noFill/>
        </p:spPr>
        <p:txBody>
          <a:bodyPr wrap="none" rtlCol="0">
            <a:spAutoFit/>
          </a:bodyPr>
          <a:lstStyle/>
          <a:p>
            <a:r>
              <a:rPr lang="en-IN" i="1" dirty="0">
                <a:solidFill>
                  <a:schemeClr val="bg1"/>
                </a:solidFill>
                <a:latin typeface="Times New Roman" panose="02020603050405020304" pitchFamily="18" charset="0"/>
                <a:cs typeface="Times New Roman" panose="02020603050405020304" pitchFamily="18" charset="0"/>
              </a:rPr>
              <a:t>AI Enhanced Geospatial Tourism Recommendation System</a:t>
            </a:r>
          </a:p>
        </p:txBody>
      </p:sp>
      <p:sp>
        <p:nvSpPr>
          <p:cNvPr id="9" name="Rectangle 8">
            <a:extLst>
              <a:ext uri="{FF2B5EF4-FFF2-40B4-BE49-F238E27FC236}">
                <a16:creationId xmlns:a16="http://schemas.microsoft.com/office/drawing/2014/main" id="{31E552EE-7395-004A-A352-95FCE4D23A00}"/>
              </a:ext>
            </a:extLst>
          </p:cNvPr>
          <p:cNvSpPr/>
          <p:nvPr/>
        </p:nvSpPr>
        <p:spPr>
          <a:xfrm>
            <a:off x="199505" y="6641867"/>
            <a:ext cx="493915" cy="216133"/>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A9</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0480" y="-18339"/>
            <a:ext cx="1488440" cy="254000"/>
          </a:xfrm>
          <a:prstGeom prst="rect">
            <a:avLst/>
          </a:prstGeom>
        </p:spPr>
        <p:txBody>
          <a:bodyPr vert="horz" wrap="square" lIns="0" tIns="12700" rIns="0" bIns="0" rtlCol="0">
            <a:spAutoFit/>
          </a:bodyPr>
          <a:lstStyle/>
          <a:p>
            <a:pPr marL="12700">
              <a:lnSpc>
                <a:spcPct val="100000"/>
              </a:lnSpc>
              <a:spcBef>
                <a:spcPts val="100"/>
              </a:spcBef>
            </a:pPr>
            <a:r>
              <a:rPr sz="1500" b="1" i="1" dirty="0">
                <a:solidFill>
                  <a:srgbClr val="FFFFFF"/>
                </a:solidFill>
                <a:latin typeface="Times New Roman"/>
                <a:cs typeface="Times New Roman"/>
              </a:rPr>
              <a:t>Title</a:t>
            </a:r>
            <a:r>
              <a:rPr sz="1500" b="1" i="1" spc="-20" dirty="0">
                <a:solidFill>
                  <a:srgbClr val="FFFFFF"/>
                </a:solidFill>
                <a:latin typeface="Times New Roman"/>
                <a:cs typeface="Times New Roman"/>
              </a:rPr>
              <a:t> </a:t>
            </a:r>
            <a:r>
              <a:rPr sz="1500" b="1" i="1" dirty="0">
                <a:solidFill>
                  <a:srgbClr val="FFFFFF"/>
                </a:solidFill>
                <a:latin typeface="Times New Roman"/>
                <a:cs typeface="Times New Roman"/>
              </a:rPr>
              <a:t>of</a:t>
            </a:r>
            <a:r>
              <a:rPr sz="1500" b="1" i="1" spc="-15" dirty="0">
                <a:solidFill>
                  <a:srgbClr val="FFFFFF"/>
                </a:solidFill>
                <a:latin typeface="Times New Roman"/>
                <a:cs typeface="Times New Roman"/>
              </a:rPr>
              <a:t> </a:t>
            </a:r>
            <a:r>
              <a:rPr sz="1500" b="1" i="1" dirty="0">
                <a:solidFill>
                  <a:srgbClr val="FFFFFF"/>
                </a:solidFill>
                <a:latin typeface="Times New Roman"/>
                <a:cs typeface="Times New Roman"/>
              </a:rPr>
              <a:t>the</a:t>
            </a:r>
            <a:r>
              <a:rPr sz="1500" b="1" i="1" spc="-20" dirty="0">
                <a:solidFill>
                  <a:srgbClr val="FFFFFF"/>
                </a:solidFill>
                <a:latin typeface="Times New Roman"/>
                <a:cs typeface="Times New Roman"/>
              </a:rPr>
              <a:t> </a:t>
            </a:r>
            <a:r>
              <a:rPr sz="1500" b="1" i="1" spc="-10" dirty="0">
                <a:solidFill>
                  <a:srgbClr val="FFFFFF"/>
                </a:solidFill>
                <a:latin typeface="Times New Roman"/>
                <a:cs typeface="Times New Roman"/>
              </a:rPr>
              <a:t>Project</a:t>
            </a:r>
            <a:endParaRPr sz="1500">
              <a:latin typeface="Times New Roman"/>
              <a:cs typeface="Times New Roman"/>
            </a:endParaRP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8" name="object 8"/>
          <p:cNvSpPr txBox="1">
            <a:spLocks noGrp="1"/>
          </p:cNvSpPr>
          <p:nvPr>
            <p:ph type="ftr" sz="quarter" idx="5"/>
          </p:nvPr>
        </p:nvSpPr>
        <p:spPr>
          <a:xfrm>
            <a:off x="149031" y="6629427"/>
            <a:ext cx="635000" cy="250825"/>
          </a:xfrm>
          <a:prstGeom prst="rect">
            <a:avLst/>
          </a:prstGeom>
        </p:spPr>
        <p:txBody>
          <a:bodyPr vert="horz" wrap="square" lIns="0" tIns="0" rIns="0" bIns="0" rtlCol="0">
            <a:spAutoFit/>
          </a:bodyPr>
          <a:lstStyle>
            <a:defPPr>
              <a:defRPr kern="0"/>
            </a:defPPr>
            <a:lvl1pPr>
              <a:defRPr sz="1600" b="0" i="0">
                <a:solidFill>
                  <a:schemeClr val="bg1"/>
                </a:solidFill>
                <a:latin typeface="Times New Roman"/>
                <a:cs typeface="Times New Roman"/>
              </a:defRPr>
            </a:lvl1pPr>
          </a:lstStyle>
          <a:p>
            <a:pPr marL="12700">
              <a:lnSpc>
                <a:spcPts val="1845"/>
              </a:lnSpc>
            </a:pPr>
            <a:r>
              <a:rPr lang="en-US"/>
              <a:t>A</a:t>
            </a:r>
            <a:r>
              <a:rPr lang="en-US" spc="-10"/>
              <a:t> </a:t>
            </a:r>
            <a:r>
              <a:rPr lang="en-US"/>
              <a:t>-</a:t>
            </a:r>
            <a:r>
              <a:rPr lang="en-US" spc="-5"/>
              <a:t> </a:t>
            </a:r>
            <a:r>
              <a:rPr lang="en-US" spc="-25"/>
              <a:t>XX</a:t>
            </a:r>
            <a:endParaRPr spc="-25" dirty="0"/>
          </a:p>
        </p:txBody>
      </p:sp>
      <p:sp>
        <p:nvSpPr>
          <p:cNvPr id="12" name="TextBox 11">
            <a:extLst>
              <a:ext uri="{FF2B5EF4-FFF2-40B4-BE49-F238E27FC236}">
                <a16:creationId xmlns:a16="http://schemas.microsoft.com/office/drawing/2014/main" id="{03289E10-C778-97C5-3BEF-64F0215EEA35}"/>
              </a:ext>
            </a:extLst>
          </p:cNvPr>
          <p:cNvSpPr txBox="1"/>
          <p:nvPr/>
        </p:nvSpPr>
        <p:spPr>
          <a:xfrm>
            <a:off x="618931" y="1573910"/>
            <a:ext cx="10798369" cy="3785652"/>
          </a:xfrm>
          <a:prstGeom prst="rect">
            <a:avLst/>
          </a:prstGeom>
          <a:noFill/>
        </p:spPr>
        <p:txBody>
          <a:bodyPr wrap="square">
            <a:spAutoFit/>
          </a:bodyPr>
          <a:lstStyle/>
          <a:p>
            <a:r>
              <a:rPr lang="en-US" sz="2000" dirty="0"/>
              <a:t>Tourism planning is often difficult due to the large number of destinations and lack of personalized recommendations. Traditional travel planning systems provide static information without considering user preferences, location proximity, or seasonal conditions.</a:t>
            </a:r>
          </a:p>
          <a:p>
            <a:endParaRPr lang="en-US" sz="2000" dirty="0"/>
          </a:p>
          <a:p>
            <a:r>
              <a:rPr lang="en-US" sz="2000" dirty="0"/>
              <a:t>This project presents an </a:t>
            </a:r>
            <a:r>
              <a:rPr lang="en-US" sz="2000" b="1" dirty="0"/>
              <a:t>AI-Enhanced Geospatial Tourism Recommendation System</a:t>
            </a:r>
            <a:r>
              <a:rPr lang="en-US" sz="2000" dirty="0"/>
              <a:t> that recommends travel destinations based on user preferences, travel month, and geographical proximity. The system uses geospatial calculations to identify nearby attractions and integrates artificial intelligence to generate travel insights and suggestions.</a:t>
            </a:r>
          </a:p>
          <a:p>
            <a:endParaRPr lang="en-US" sz="2000" dirty="0"/>
          </a:p>
          <a:p>
            <a:r>
              <a:rPr lang="en-US" sz="2000" dirty="0"/>
              <a:t>The application provides destination details, nearby attractions, accommodation suggestions, and AI-generated travel guidance. The system helps travelers plan trips more efficiently with personalized and intelligent recommendations.</a:t>
            </a:r>
          </a:p>
        </p:txBody>
      </p:sp>
      <p:sp>
        <p:nvSpPr>
          <p:cNvPr id="14" name="Rectangle 13">
            <a:extLst>
              <a:ext uri="{FF2B5EF4-FFF2-40B4-BE49-F238E27FC236}">
                <a16:creationId xmlns:a16="http://schemas.microsoft.com/office/drawing/2014/main" id="{C60B5349-E8E2-7FDC-569E-DF4B1A95599E}"/>
              </a:ext>
            </a:extLst>
          </p:cNvPr>
          <p:cNvSpPr/>
          <p:nvPr/>
        </p:nvSpPr>
        <p:spPr>
          <a:xfrm>
            <a:off x="3159890" y="49871"/>
            <a:ext cx="5632632" cy="160088"/>
          </a:xfrm>
          <a:prstGeom prst="rect">
            <a:avLst/>
          </a:prstGeom>
          <a:solidFill>
            <a:srgbClr val="00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i="1" dirty="0">
                <a:solidFill>
                  <a:schemeClr val="bg1"/>
                </a:solidFill>
                <a:latin typeface="Times New Roman" panose="02020603050405020304" pitchFamily="18" charset="0"/>
                <a:cs typeface="Times New Roman" panose="02020603050405020304" pitchFamily="18" charset="0"/>
              </a:rPr>
              <a:t>AI Enhanced Geospatial Tourism Recommendation System</a:t>
            </a:r>
          </a:p>
        </p:txBody>
      </p:sp>
      <p:sp>
        <p:nvSpPr>
          <p:cNvPr id="19" name="Rectangle 18">
            <a:extLst>
              <a:ext uri="{FF2B5EF4-FFF2-40B4-BE49-F238E27FC236}">
                <a16:creationId xmlns:a16="http://schemas.microsoft.com/office/drawing/2014/main" id="{8441F164-C035-35DF-0939-01F30A4C3AEB}"/>
              </a:ext>
            </a:extLst>
          </p:cNvPr>
          <p:cNvSpPr/>
          <p:nvPr/>
        </p:nvSpPr>
        <p:spPr>
          <a:xfrm>
            <a:off x="149031" y="6641280"/>
            <a:ext cx="635000" cy="216721"/>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A9</a:t>
            </a:r>
          </a:p>
        </p:txBody>
      </p:sp>
      <p:sp>
        <p:nvSpPr>
          <p:cNvPr id="20" name="TextBox 19">
            <a:extLst>
              <a:ext uri="{FF2B5EF4-FFF2-40B4-BE49-F238E27FC236}">
                <a16:creationId xmlns:a16="http://schemas.microsoft.com/office/drawing/2014/main" id="{B363E4D3-BD7E-1527-C388-D9408905DEFC}"/>
              </a:ext>
            </a:extLst>
          </p:cNvPr>
          <p:cNvSpPr txBox="1"/>
          <p:nvPr/>
        </p:nvSpPr>
        <p:spPr>
          <a:xfrm>
            <a:off x="-2600" y="216720"/>
            <a:ext cx="2187769" cy="769441"/>
          </a:xfrm>
          <a:prstGeom prst="rect">
            <a:avLst/>
          </a:prstGeom>
          <a:noFill/>
        </p:spPr>
        <p:txBody>
          <a:bodyPr wrap="square" rtlCol="0">
            <a:spAutoFit/>
          </a:bodyPr>
          <a:lstStyle/>
          <a:p>
            <a:r>
              <a:rPr lang="en-IN" sz="4400" spc="-10" dirty="0">
                <a:solidFill>
                  <a:schemeClr val="bg1"/>
                </a:solidFill>
              </a:rPr>
              <a:t>Abstract</a:t>
            </a:r>
            <a:endParaRPr lang="en-IN" sz="4400"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0480" y="-18339"/>
            <a:ext cx="1488440" cy="254000"/>
          </a:xfrm>
          <a:prstGeom prst="rect">
            <a:avLst/>
          </a:prstGeom>
        </p:spPr>
        <p:txBody>
          <a:bodyPr vert="horz" wrap="square" lIns="0" tIns="12700" rIns="0" bIns="0" rtlCol="0">
            <a:spAutoFit/>
          </a:bodyPr>
          <a:lstStyle/>
          <a:p>
            <a:pPr marL="12700">
              <a:lnSpc>
                <a:spcPct val="100000"/>
              </a:lnSpc>
              <a:spcBef>
                <a:spcPts val="100"/>
              </a:spcBef>
            </a:pPr>
            <a:r>
              <a:rPr sz="1500" b="1" i="1" dirty="0">
                <a:solidFill>
                  <a:srgbClr val="FFFFFF"/>
                </a:solidFill>
                <a:latin typeface="Times New Roman"/>
                <a:cs typeface="Times New Roman"/>
              </a:rPr>
              <a:t>Title</a:t>
            </a:r>
            <a:r>
              <a:rPr sz="1500" b="1" i="1" spc="-20" dirty="0">
                <a:solidFill>
                  <a:srgbClr val="FFFFFF"/>
                </a:solidFill>
                <a:latin typeface="Times New Roman"/>
                <a:cs typeface="Times New Roman"/>
              </a:rPr>
              <a:t> </a:t>
            </a:r>
            <a:r>
              <a:rPr sz="1500" b="1" i="1" dirty="0">
                <a:solidFill>
                  <a:srgbClr val="FFFFFF"/>
                </a:solidFill>
                <a:latin typeface="Times New Roman"/>
                <a:cs typeface="Times New Roman"/>
              </a:rPr>
              <a:t>of</a:t>
            </a:r>
            <a:r>
              <a:rPr sz="1500" b="1" i="1" spc="-15" dirty="0">
                <a:solidFill>
                  <a:srgbClr val="FFFFFF"/>
                </a:solidFill>
                <a:latin typeface="Times New Roman"/>
                <a:cs typeface="Times New Roman"/>
              </a:rPr>
              <a:t> </a:t>
            </a:r>
            <a:r>
              <a:rPr sz="1500" b="1" i="1" dirty="0">
                <a:solidFill>
                  <a:srgbClr val="FFFFFF"/>
                </a:solidFill>
                <a:latin typeface="Times New Roman"/>
                <a:cs typeface="Times New Roman"/>
              </a:rPr>
              <a:t>the</a:t>
            </a:r>
            <a:r>
              <a:rPr sz="1500" b="1" i="1" spc="-20" dirty="0">
                <a:solidFill>
                  <a:srgbClr val="FFFFFF"/>
                </a:solidFill>
                <a:latin typeface="Times New Roman"/>
                <a:cs typeface="Times New Roman"/>
              </a:rPr>
              <a:t> </a:t>
            </a:r>
            <a:r>
              <a:rPr sz="1500" b="1" i="1" spc="-10" dirty="0">
                <a:solidFill>
                  <a:srgbClr val="FFFFFF"/>
                </a:solidFill>
                <a:latin typeface="Times New Roman"/>
                <a:cs typeface="Times New Roman"/>
              </a:rPr>
              <a:t>Project</a:t>
            </a:r>
            <a:endParaRPr sz="1500">
              <a:latin typeface="Times New Roman"/>
              <a:cs typeface="Times New Roman"/>
            </a:endParaRP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US" dirty="0"/>
              <a:t>Introduction</a:t>
            </a:r>
            <a:endParaRPr spc="-10" dirty="0"/>
          </a:p>
        </p:txBody>
      </p:sp>
      <p:sp>
        <p:nvSpPr>
          <p:cNvPr id="8" name="object 8"/>
          <p:cNvSpPr txBox="1">
            <a:spLocks noGrp="1"/>
          </p:cNvSpPr>
          <p:nvPr>
            <p:ph type="ftr" sz="quarter" idx="5"/>
          </p:nvPr>
        </p:nvSpPr>
        <p:spPr>
          <a:xfrm>
            <a:off x="149031" y="6629427"/>
            <a:ext cx="635000" cy="250825"/>
          </a:xfrm>
          <a:prstGeom prst="rect">
            <a:avLst/>
          </a:prstGeom>
        </p:spPr>
        <p:txBody>
          <a:bodyPr vert="horz" wrap="square" lIns="0" tIns="0" rIns="0" bIns="0" rtlCol="0">
            <a:spAutoFit/>
          </a:bodyPr>
          <a:lstStyle>
            <a:defPPr>
              <a:defRPr kern="0"/>
            </a:defPPr>
            <a:lvl1pPr>
              <a:defRPr sz="1600" b="0" i="0">
                <a:solidFill>
                  <a:schemeClr val="bg1"/>
                </a:solidFill>
                <a:latin typeface="Times New Roman"/>
                <a:cs typeface="Times New Roman"/>
              </a:defRPr>
            </a:lvl1pPr>
          </a:lstStyle>
          <a:p>
            <a:pPr marL="12700">
              <a:lnSpc>
                <a:spcPts val="1845"/>
              </a:lnSpc>
            </a:pPr>
            <a:r>
              <a:rPr lang="en-US"/>
              <a:t>A</a:t>
            </a:r>
            <a:r>
              <a:rPr lang="en-US" spc="-10"/>
              <a:t> </a:t>
            </a:r>
            <a:r>
              <a:rPr lang="en-US"/>
              <a:t>-</a:t>
            </a:r>
            <a:r>
              <a:rPr lang="en-US" spc="-5"/>
              <a:t> </a:t>
            </a:r>
            <a:r>
              <a:rPr lang="en-US" spc="-25"/>
              <a:t>XX</a:t>
            </a:r>
            <a:endParaRPr spc="-25" dirty="0"/>
          </a:p>
        </p:txBody>
      </p:sp>
      <p:sp>
        <p:nvSpPr>
          <p:cNvPr id="12" name="TextBox 11">
            <a:extLst>
              <a:ext uri="{FF2B5EF4-FFF2-40B4-BE49-F238E27FC236}">
                <a16:creationId xmlns:a16="http://schemas.microsoft.com/office/drawing/2014/main" id="{F64B098F-2EEB-E3B6-D749-B5552382089A}"/>
              </a:ext>
            </a:extLst>
          </p:cNvPr>
          <p:cNvSpPr txBox="1"/>
          <p:nvPr/>
        </p:nvSpPr>
        <p:spPr>
          <a:xfrm>
            <a:off x="478972" y="1843950"/>
            <a:ext cx="10798369" cy="3170099"/>
          </a:xfrm>
          <a:prstGeom prst="rect">
            <a:avLst/>
          </a:prstGeom>
          <a:noFill/>
        </p:spPr>
        <p:txBody>
          <a:bodyPr wrap="square">
            <a:spAutoFit/>
          </a:bodyPr>
          <a:lstStyle/>
          <a:p>
            <a:pPr marL="342900" indent="-342900">
              <a:buFont typeface="Wingdings" panose="05000000000000000000" pitchFamily="2" charset="2"/>
              <a:buChar char="Ø"/>
            </a:pPr>
            <a:r>
              <a:rPr lang="en-US" sz="2000" dirty="0"/>
              <a:t>Tourism plays an important role in cultural exchange and economic development. However, planning a trip requires gathering information from multiple sources such as travel websites, maps, and booking platforms.</a:t>
            </a:r>
          </a:p>
          <a:p>
            <a:endParaRPr lang="en-US" sz="2000" dirty="0"/>
          </a:p>
          <a:p>
            <a:pPr marL="342900" indent="-342900">
              <a:buFont typeface="Wingdings" panose="05000000000000000000" pitchFamily="2" charset="2"/>
              <a:buChar char="Ø"/>
            </a:pPr>
            <a:r>
              <a:rPr lang="en-US" sz="2000" dirty="0"/>
              <a:t>Many travelers struggle to identify the best destinations based on their interests, travel season, and nearby attractions.</a:t>
            </a:r>
          </a:p>
          <a:p>
            <a:endParaRPr lang="en-US" sz="2000" dirty="0"/>
          </a:p>
          <a:p>
            <a:pPr marL="342900" indent="-342900">
              <a:buFont typeface="Wingdings" panose="05000000000000000000" pitchFamily="2" charset="2"/>
              <a:buChar char="Ø"/>
            </a:pPr>
            <a:r>
              <a:rPr lang="en-US" sz="2000" dirty="0"/>
              <a:t>The proposed system addresses this problem by developing an intelligent tourism recommendation platform. It combines </a:t>
            </a:r>
            <a:r>
              <a:rPr lang="en-US" sz="2000" b="1" dirty="0"/>
              <a:t>geospatial analysis, artificial intelligence, and a structured tourism dataset</a:t>
            </a:r>
            <a:r>
              <a:rPr lang="en-US" sz="2000" dirty="0"/>
              <a:t> to help users discover suitable destinations and plan their trips efficiently.</a:t>
            </a:r>
          </a:p>
        </p:txBody>
      </p:sp>
      <p:sp>
        <p:nvSpPr>
          <p:cNvPr id="13" name="Rectangle 12">
            <a:extLst>
              <a:ext uri="{FF2B5EF4-FFF2-40B4-BE49-F238E27FC236}">
                <a16:creationId xmlns:a16="http://schemas.microsoft.com/office/drawing/2014/main" id="{D3F1607F-D290-0009-8A21-2190D9EBEEAE}"/>
              </a:ext>
            </a:extLst>
          </p:cNvPr>
          <p:cNvSpPr/>
          <p:nvPr/>
        </p:nvSpPr>
        <p:spPr>
          <a:xfrm>
            <a:off x="3159890" y="26720"/>
            <a:ext cx="5632632" cy="208941"/>
          </a:xfrm>
          <a:prstGeom prst="rect">
            <a:avLst/>
          </a:prstGeom>
          <a:solidFill>
            <a:srgbClr val="00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i="1">
                <a:solidFill>
                  <a:schemeClr val="bg1"/>
                </a:solidFill>
                <a:latin typeface="Times New Roman" panose="02020603050405020304" pitchFamily="18" charset="0"/>
                <a:cs typeface="Times New Roman" panose="02020603050405020304" pitchFamily="18" charset="0"/>
              </a:rPr>
              <a:t>AI Enhanced Geospatial Tourism Recommendation System</a:t>
            </a:r>
            <a:endParaRPr lang="en-IN" i="1" dirty="0">
              <a:solidFill>
                <a:schemeClr val="bg1"/>
              </a:solidFill>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52AD15E2-0FCD-DA5A-5E99-E7B6DF2C53AA}"/>
              </a:ext>
            </a:extLst>
          </p:cNvPr>
          <p:cNvSpPr/>
          <p:nvPr/>
        </p:nvSpPr>
        <p:spPr>
          <a:xfrm>
            <a:off x="149031" y="6641280"/>
            <a:ext cx="635000" cy="216721"/>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A9</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0480" y="-18339"/>
            <a:ext cx="1488440" cy="254000"/>
          </a:xfrm>
          <a:prstGeom prst="rect">
            <a:avLst/>
          </a:prstGeom>
        </p:spPr>
        <p:txBody>
          <a:bodyPr vert="horz" wrap="square" lIns="0" tIns="12700" rIns="0" bIns="0" rtlCol="0">
            <a:spAutoFit/>
          </a:bodyPr>
          <a:lstStyle/>
          <a:p>
            <a:pPr marL="12700">
              <a:lnSpc>
                <a:spcPct val="100000"/>
              </a:lnSpc>
              <a:spcBef>
                <a:spcPts val="100"/>
              </a:spcBef>
            </a:pPr>
            <a:r>
              <a:rPr sz="1500" b="1" i="1" dirty="0">
                <a:solidFill>
                  <a:srgbClr val="FFFFFF"/>
                </a:solidFill>
                <a:latin typeface="Times New Roman"/>
                <a:cs typeface="Times New Roman"/>
              </a:rPr>
              <a:t>Title</a:t>
            </a:r>
            <a:r>
              <a:rPr sz="1500" b="1" i="1" spc="-20" dirty="0">
                <a:solidFill>
                  <a:srgbClr val="FFFFFF"/>
                </a:solidFill>
                <a:latin typeface="Times New Roman"/>
                <a:cs typeface="Times New Roman"/>
              </a:rPr>
              <a:t> </a:t>
            </a:r>
            <a:r>
              <a:rPr sz="1500" b="1" i="1" dirty="0">
                <a:solidFill>
                  <a:srgbClr val="FFFFFF"/>
                </a:solidFill>
                <a:latin typeface="Times New Roman"/>
                <a:cs typeface="Times New Roman"/>
              </a:rPr>
              <a:t>of</a:t>
            </a:r>
            <a:r>
              <a:rPr sz="1500" b="1" i="1" spc="-15" dirty="0">
                <a:solidFill>
                  <a:srgbClr val="FFFFFF"/>
                </a:solidFill>
                <a:latin typeface="Times New Roman"/>
                <a:cs typeface="Times New Roman"/>
              </a:rPr>
              <a:t> </a:t>
            </a:r>
            <a:r>
              <a:rPr sz="1500" b="1" i="1" dirty="0">
                <a:solidFill>
                  <a:srgbClr val="FFFFFF"/>
                </a:solidFill>
                <a:latin typeface="Times New Roman"/>
                <a:cs typeface="Times New Roman"/>
              </a:rPr>
              <a:t>the</a:t>
            </a:r>
            <a:r>
              <a:rPr sz="1500" b="1" i="1" spc="-20" dirty="0">
                <a:solidFill>
                  <a:srgbClr val="FFFFFF"/>
                </a:solidFill>
                <a:latin typeface="Times New Roman"/>
                <a:cs typeface="Times New Roman"/>
              </a:rPr>
              <a:t> </a:t>
            </a:r>
            <a:r>
              <a:rPr sz="1500" b="1" i="1" spc="-10" dirty="0">
                <a:solidFill>
                  <a:srgbClr val="FFFFFF"/>
                </a:solidFill>
                <a:latin typeface="Times New Roman"/>
                <a:cs typeface="Times New Roman"/>
              </a:rPr>
              <a:t>Project</a:t>
            </a:r>
            <a:endParaRPr sz="1500">
              <a:latin typeface="Times New Roman"/>
              <a:cs typeface="Times New Roman"/>
            </a:endParaRP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p:nvPr/>
        </p:nvSpPr>
        <p:spPr>
          <a:xfrm>
            <a:off x="73025" y="209958"/>
            <a:ext cx="10086975" cy="2069797"/>
          </a:xfrm>
          <a:prstGeom prst="rect">
            <a:avLst/>
          </a:prstGeom>
        </p:spPr>
        <p:txBody>
          <a:bodyPr vert="horz" wrap="square" lIns="0" tIns="12700" rIns="0" bIns="0" rtlCol="0">
            <a:spAutoFit/>
          </a:bodyPr>
          <a:lstStyle/>
          <a:p>
            <a:pPr marL="12700">
              <a:lnSpc>
                <a:spcPct val="100000"/>
              </a:lnSpc>
              <a:spcBef>
                <a:spcPts val="100"/>
              </a:spcBef>
            </a:pPr>
            <a:r>
              <a:rPr sz="4400" dirty="0">
                <a:solidFill>
                  <a:schemeClr val="bg1"/>
                </a:solidFill>
                <a:latin typeface="Times New Roman"/>
                <a:cs typeface="Times New Roman"/>
              </a:rPr>
              <a:t>Literature</a:t>
            </a:r>
            <a:r>
              <a:rPr sz="4400" spc="-35" dirty="0">
                <a:solidFill>
                  <a:schemeClr val="bg1"/>
                </a:solidFill>
                <a:latin typeface="Times New Roman"/>
                <a:cs typeface="Times New Roman"/>
              </a:rPr>
              <a:t> </a:t>
            </a:r>
            <a:r>
              <a:rPr sz="4400" dirty="0">
                <a:solidFill>
                  <a:schemeClr val="bg1"/>
                </a:solidFill>
                <a:latin typeface="Times New Roman"/>
                <a:cs typeface="Times New Roman"/>
              </a:rPr>
              <a:t>survey</a:t>
            </a:r>
            <a:r>
              <a:rPr sz="4400" spc="-25" dirty="0">
                <a:solidFill>
                  <a:schemeClr val="bg1"/>
                </a:solidFill>
                <a:latin typeface="Times New Roman"/>
                <a:cs typeface="Times New Roman"/>
              </a:rPr>
              <a:t> </a:t>
            </a:r>
            <a:r>
              <a:rPr sz="4400" dirty="0">
                <a:solidFill>
                  <a:schemeClr val="bg1"/>
                </a:solidFill>
                <a:latin typeface="Times New Roman"/>
                <a:cs typeface="Times New Roman"/>
              </a:rPr>
              <a:t>for</a:t>
            </a:r>
            <a:r>
              <a:rPr sz="4400" spc="-25" dirty="0">
                <a:solidFill>
                  <a:schemeClr val="bg1"/>
                </a:solidFill>
                <a:latin typeface="Times New Roman"/>
                <a:cs typeface="Times New Roman"/>
              </a:rPr>
              <a:t> </a:t>
            </a:r>
            <a:r>
              <a:rPr sz="4400" spc="-10" dirty="0">
                <a:solidFill>
                  <a:schemeClr val="bg1"/>
                </a:solidFill>
                <a:latin typeface="Times New Roman"/>
                <a:cs typeface="Times New Roman"/>
              </a:rPr>
              <a:t>objectives</a:t>
            </a:r>
            <a:endParaRPr sz="4400" dirty="0">
              <a:solidFill>
                <a:schemeClr val="bg1"/>
              </a:solidFill>
              <a:latin typeface="Times New Roman"/>
              <a:cs typeface="Times New Roman"/>
            </a:endParaRPr>
          </a:p>
          <a:p>
            <a:pPr>
              <a:lnSpc>
                <a:spcPct val="100000"/>
              </a:lnSpc>
              <a:spcBef>
                <a:spcPts val="225"/>
              </a:spcBef>
            </a:pPr>
            <a:endParaRPr sz="4400" dirty="0">
              <a:solidFill>
                <a:schemeClr val="bg1"/>
              </a:solidFill>
              <a:latin typeface="Times New Roman"/>
              <a:cs typeface="Times New Roman"/>
            </a:endParaRPr>
          </a:p>
          <a:p>
            <a:pPr marL="176530">
              <a:lnSpc>
                <a:spcPct val="100000"/>
              </a:lnSpc>
            </a:pPr>
            <a:endParaRPr sz="4400" dirty="0">
              <a:solidFill>
                <a:schemeClr val="bg1"/>
              </a:solidFill>
              <a:latin typeface="Lucida Sans Unicode"/>
              <a:cs typeface="Lucida Sans Unicode"/>
            </a:endParaRPr>
          </a:p>
        </p:txBody>
      </p:sp>
      <p:sp>
        <p:nvSpPr>
          <p:cNvPr id="9" name="object 9"/>
          <p:cNvSpPr txBox="1"/>
          <p:nvPr/>
        </p:nvSpPr>
        <p:spPr>
          <a:xfrm>
            <a:off x="7147541" y="6629197"/>
            <a:ext cx="3891279" cy="250825"/>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graphicFrame>
        <p:nvGraphicFramePr>
          <p:cNvPr id="12" name="Table 11">
            <a:extLst>
              <a:ext uri="{FF2B5EF4-FFF2-40B4-BE49-F238E27FC236}">
                <a16:creationId xmlns:a16="http://schemas.microsoft.com/office/drawing/2014/main" id="{99EF9D97-3DAF-40F7-5670-27C580AF35B1}"/>
              </a:ext>
            </a:extLst>
          </p:cNvPr>
          <p:cNvGraphicFramePr>
            <a:graphicFrameLocks noGrp="1"/>
          </p:cNvGraphicFramePr>
          <p:nvPr/>
        </p:nvGraphicFramePr>
        <p:xfrm>
          <a:off x="457200" y="1074738"/>
          <a:ext cx="10744200" cy="4892240"/>
        </p:xfrm>
        <a:graphic>
          <a:graphicData uri="http://schemas.openxmlformats.org/drawingml/2006/table">
            <a:tbl>
              <a:tblPr>
                <a:tableStyleId>{BC89EF96-8CEA-46FF-86C4-4CE0E7609802}</a:tableStyleId>
              </a:tblPr>
              <a:tblGrid>
                <a:gridCol w="2148840">
                  <a:extLst>
                    <a:ext uri="{9D8B030D-6E8A-4147-A177-3AD203B41FA5}">
                      <a16:colId xmlns:a16="http://schemas.microsoft.com/office/drawing/2014/main" val="805013458"/>
                    </a:ext>
                  </a:extLst>
                </a:gridCol>
                <a:gridCol w="1051560">
                  <a:extLst>
                    <a:ext uri="{9D8B030D-6E8A-4147-A177-3AD203B41FA5}">
                      <a16:colId xmlns:a16="http://schemas.microsoft.com/office/drawing/2014/main" val="2872496068"/>
                    </a:ext>
                  </a:extLst>
                </a:gridCol>
                <a:gridCol w="2438400">
                  <a:extLst>
                    <a:ext uri="{9D8B030D-6E8A-4147-A177-3AD203B41FA5}">
                      <a16:colId xmlns:a16="http://schemas.microsoft.com/office/drawing/2014/main" val="3440606919"/>
                    </a:ext>
                  </a:extLst>
                </a:gridCol>
                <a:gridCol w="2667000">
                  <a:extLst>
                    <a:ext uri="{9D8B030D-6E8A-4147-A177-3AD203B41FA5}">
                      <a16:colId xmlns:a16="http://schemas.microsoft.com/office/drawing/2014/main" val="1052781825"/>
                    </a:ext>
                  </a:extLst>
                </a:gridCol>
                <a:gridCol w="2438400">
                  <a:extLst>
                    <a:ext uri="{9D8B030D-6E8A-4147-A177-3AD203B41FA5}">
                      <a16:colId xmlns:a16="http://schemas.microsoft.com/office/drawing/2014/main" val="1767098778"/>
                    </a:ext>
                  </a:extLst>
                </a:gridCol>
              </a:tblGrid>
              <a:tr h="226458">
                <a:tc>
                  <a:txBody>
                    <a:bodyPr/>
                    <a:lstStyle/>
                    <a:p>
                      <a:pPr>
                        <a:buNone/>
                      </a:pPr>
                      <a:r>
                        <a:rPr lang="en-US" sz="1400" b="1" dirty="0">
                          <a:latin typeface="Times New Roman" panose="02020603050405020304" pitchFamily="18" charset="0"/>
                          <a:cs typeface="Times New Roman" panose="02020603050405020304" pitchFamily="18" charset="0"/>
                        </a:rPr>
                        <a:t>Author</a:t>
                      </a:r>
                      <a:endParaRPr lang="en-US" sz="1400" dirty="0">
                        <a:latin typeface="Times New Roman" panose="02020603050405020304" pitchFamily="18" charset="0"/>
                        <a:cs typeface="Times New Roman" panose="02020603050405020304" pitchFamily="18" charset="0"/>
                      </a:endParaRPr>
                    </a:p>
                  </a:txBody>
                  <a:tcPr marL="36476" marR="36476" marT="18238" marB="18238" anchor="ctr"/>
                </a:tc>
                <a:tc>
                  <a:txBody>
                    <a:bodyPr/>
                    <a:lstStyle/>
                    <a:p>
                      <a:pPr>
                        <a:buNone/>
                      </a:pPr>
                      <a:r>
                        <a:rPr lang="en-US" sz="1400" b="1" dirty="0">
                          <a:latin typeface="Times New Roman" panose="02020603050405020304" pitchFamily="18" charset="0"/>
                          <a:cs typeface="Times New Roman" panose="02020603050405020304" pitchFamily="18" charset="0"/>
                        </a:rPr>
                        <a:t>Year</a:t>
                      </a:r>
                      <a:endParaRPr lang="en-US" sz="1400" dirty="0">
                        <a:latin typeface="Times New Roman" panose="02020603050405020304" pitchFamily="18" charset="0"/>
                        <a:cs typeface="Times New Roman" panose="02020603050405020304" pitchFamily="18" charset="0"/>
                      </a:endParaRPr>
                    </a:p>
                  </a:txBody>
                  <a:tcPr marL="36476" marR="36476" marT="18238" marB="18238" anchor="ctr"/>
                </a:tc>
                <a:tc>
                  <a:txBody>
                    <a:bodyPr/>
                    <a:lstStyle/>
                    <a:p>
                      <a:pPr>
                        <a:buNone/>
                      </a:pPr>
                      <a:r>
                        <a:rPr lang="en-US" sz="1400" b="1" dirty="0">
                          <a:latin typeface="Times New Roman" panose="02020603050405020304" pitchFamily="18" charset="0"/>
                          <a:cs typeface="Times New Roman" panose="02020603050405020304" pitchFamily="18" charset="0"/>
                        </a:rPr>
                        <a:t>Methodology Used</a:t>
                      </a:r>
                      <a:endParaRPr lang="en-US" sz="1400" dirty="0">
                        <a:latin typeface="Times New Roman" panose="02020603050405020304" pitchFamily="18" charset="0"/>
                        <a:cs typeface="Times New Roman" panose="02020603050405020304" pitchFamily="18" charset="0"/>
                      </a:endParaRPr>
                    </a:p>
                  </a:txBody>
                  <a:tcPr marL="36476" marR="36476" marT="18238" marB="18238" anchor="ctr"/>
                </a:tc>
                <a:tc>
                  <a:txBody>
                    <a:bodyPr/>
                    <a:lstStyle/>
                    <a:p>
                      <a:pPr>
                        <a:buNone/>
                      </a:pPr>
                      <a:r>
                        <a:rPr lang="en-US" sz="1400" b="1" dirty="0">
                          <a:latin typeface="Times New Roman" panose="02020603050405020304" pitchFamily="18" charset="0"/>
                          <a:cs typeface="Times New Roman" panose="02020603050405020304" pitchFamily="18" charset="0"/>
                        </a:rPr>
                        <a:t>Implementation</a:t>
                      </a:r>
                      <a:endParaRPr lang="en-US" sz="1400" dirty="0">
                        <a:latin typeface="Times New Roman" panose="02020603050405020304" pitchFamily="18" charset="0"/>
                        <a:cs typeface="Times New Roman" panose="02020603050405020304" pitchFamily="18" charset="0"/>
                      </a:endParaRPr>
                    </a:p>
                  </a:txBody>
                  <a:tcPr marL="36476" marR="36476" marT="18238" marB="18238" anchor="ctr"/>
                </a:tc>
                <a:tc>
                  <a:txBody>
                    <a:bodyPr/>
                    <a:lstStyle/>
                    <a:p>
                      <a:pPr>
                        <a:buNone/>
                      </a:pPr>
                      <a:r>
                        <a:rPr lang="en-US" sz="1400" b="1" dirty="0">
                          <a:latin typeface="Times New Roman" panose="02020603050405020304" pitchFamily="18" charset="0"/>
                          <a:cs typeface="Times New Roman" panose="02020603050405020304" pitchFamily="18" charset="0"/>
                        </a:rPr>
                        <a:t>Limitations</a:t>
                      </a:r>
                      <a:endParaRPr lang="en-US" sz="1400" dirty="0">
                        <a:latin typeface="Times New Roman" panose="02020603050405020304" pitchFamily="18" charset="0"/>
                        <a:cs typeface="Times New Roman" panose="02020603050405020304" pitchFamily="18" charset="0"/>
                      </a:endParaRPr>
                    </a:p>
                  </a:txBody>
                  <a:tcPr marL="36476" marR="36476" marT="18238" marB="18238" anchor="ctr"/>
                </a:tc>
                <a:extLst>
                  <a:ext uri="{0D108BD9-81ED-4DB2-BD59-A6C34878D82A}">
                    <a16:rowId xmlns:a16="http://schemas.microsoft.com/office/drawing/2014/main" val="102232388"/>
                  </a:ext>
                </a:extLst>
              </a:tr>
              <a:tr h="1245523">
                <a:tc>
                  <a:txBody>
                    <a:bodyPr/>
                    <a:lstStyle/>
                    <a:p>
                      <a:pPr>
                        <a:buNone/>
                      </a:pPr>
                      <a:r>
                        <a:rPr lang="en-US" sz="1400" dirty="0">
                          <a:latin typeface="Times New Roman" panose="02020603050405020304" pitchFamily="18" charset="0"/>
                          <a:cs typeface="Times New Roman" panose="02020603050405020304" pitchFamily="18" charset="0"/>
                        </a:rPr>
                        <a:t>Shrestha et al.</a:t>
                      </a:r>
                    </a:p>
                  </a:txBody>
                  <a:tcPr marL="36476" marR="36476" marT="18238" marB="18238" anchor="ctr"/>
                </a:tc>
                <a:tc>
                  <a:txBody>
                    <a:bodyPr/>
                    <a:lstStyle/>
                    <a:p>
                      <a:pPr>
                        <a:buNone/>
                      </a:pPr>
                      <a:r>
                        <a:rPr lang="en-US" sz="1400" dirty="0">
                          <a:latin typeface="Times New Roman" panose="02020603050405020304" pitchFamily="18" charset="0"/>
                          <a:cs typeface="Times New Roman" panose="02020603050405020304" pitchFamily="18" charset="0"/>
                        </a:rPr>
                        <a:t>2024</a:t>
                      </a:r>
                    </a:p>
                  </a:txBody>
                  <a:tcPr marL="36476" marR="36476" marT="18238" marB="18238" anchor="ctr"/>
                </a:tc>
                <a:tc>
                  <a:txBody>
                    <a:bodyPr/>
                    <a:lstStyle/>
                    <a:p>
                      <a:pPr>
                        <a:buNone/>
                      </a:pPr>
                      <a:r>
                        <a:rPr lang="en-US" sz="1400" dirty="0">
                          <a:latin typeface="Times New Roman" panose="02020603050405020304" pitchFamily="18" charset="0"/>
                          <a:cs typeface="Times New Roman" panose="02020603050405020304" pitchFamily="18" charset="0"/>
                        </a:rPr>
                        <a:t>Content-Based Image Recognition, CNN Models</a:t>
                      </a:r>
                    </a:p>
                  </a:txBody>
                  <a:tcPr marL="36476" marR="36476" marT="18238" marB="18238" anchor="ctr"/>
                </a:tc>
                <a:tc>
                  <a:txBody>
                    <a:bodyPr/>
                    <a:lstStyle/>
                    <a:p>
                      <a:pPr>
                        <a:buNone/>
                      </a:pPr>
                      <a:r>
                        <a:rPr lang="en-US" sz="1400">
                          <a:latin typeface="Times New Roman" panose="02020603050405020304" pitchFamily="18" charset="0"/>
                          <a:cs typeface="Times New Roman" panose="02020603050405020304" pitchFamily="18" charset="0"/>
                        </a:rPr>
                        <a:t>Classified tourist attractions from uploaded images using deep learning and provided category-level suggestions.</a:t>
                      </a:r>
                    </a:p>
                  </a:txBody>
                  <a:tcPr marL="36476" marR="36476" marT="18238" marB="18238" anchor="ctr"/>
                </a:tc>
                <a:tc>
                  <a:txBody>
                    <a:bodyPr/>
                    <a:lstStyle/>
                    <a:p>
                      <a:pPr>
                        <a:buNone/>
                      </a:pPr>
                      <a:r>
                        <a:rPr lang="en-US" sz="1400">
                          <a:latin typeface="Times New Roman" panose="02020603050405020304" pitchFamily="18" charset="0"/>
                          <a:cs typeface="Times New Roman" panose="02020603050405020304" pitchFamily="18" charset="0"/>
                        </a:rPr>
                        <a:t>No geospatial analysis; recommendations not personalized; limited to image-only inputs.</a:t>
                      </a:r>
                    </a:p>
                  </a:txBody>
                  <a:tcPr marL="36476" marR="36476" marT="18238" marB="18238" anchor="ctr"/>
                </a:tc>
                <a:extLst>
                  <a:ext uri="{0D108BD9-81ED-4DB2-BD59-A6C34878D82A}">
                    <a16:rowId xmlns:a16="http://schemas.microsoft.com/office/drawing/2014/main" val="944905773"/>
                  </a:ext>
                </a:extLst>
              </a:tr>
              <a:tr h="1075679">
                <a:tc>
                  <a:txBody>
                    <a:bodyPr/>
                    <a:lstStyle/>
                    <a:p>
                      <a:pPr>
                        <a:buNone/>
                      </a:pPr>
                      <a:r>
                        <a:rPr lang="en-US" sz="1400" dirty="0" err="1">
                          <a:latin typeface="Times New Roman" panose="02020603050405020304" pitchFamily="18" charset="0"/>
                          <a:cs typeface="Times New Roman" panose="02020603050405020304" pitchFamily="18" charset="0"/>
                        </a:rPr>
                        <a:t>Alsahafi</a:t>
                      </a:r>
                      <a:r>
                        <a:rPr lang="en-US" sz="1400" dirty="0">
                          <a:latin typeface="Times New Roman" panose="02020603050405020304" pitchFamily="18" charset="0"/>
                          <a:cs typeface="Times New Roman" panose="02020603050405020304" pitchFamily="18" charset="0"/>
                        </a:rPr>
                        <a:t> et al.</a:t>
                      </a:r>
                    </a:p>
                  </a:txBody>
                  <a:tcPr marL="36476" marR="36476" marT="18238" marB="18238" anchor="ctr"/>
                </a:tc>
                <a:tc>
                  <a:txBody>
                    <a:bodyPr/>
                    <a:lstStyle/>
                    <a:p>
                      <a:pPr>
                        <a:buNone/>
                      </a:pPr>
                      <a:r>
                        <a:rPr lang="en-US" sz="1400" dirty="0">
                          <a:latin typeface="Times New Roman" panose="02020603050405020304" pitchFamily="18" charset="0"/>
                          <a:cs typeface="Times New Roman" panose="02020603050405020304" pitchFamily="18" charset="0"/>
                        </a:rPr>
                        <a:t>2025</a:t>
                      </a:r>
                    </a:p>
                  </a:txBody>
                  <a:tcPr marL="36476" marR="36476" marT="18238" marB="18238" anchor="ctr"/>
                </a:tc>
                <a:tc>
                  <a:txBody>
                    <a:bodyPr/>
                    <a:lstStyle/>
                    <a:p>
                      <a:pPr>
                        <a:buNone/>
                      </a:pPr>
                      <a:r>
                        <a:rPr lang="en-US" sz="1400" dirty="0">
                          <a:latin typeface="Times New Roman" panose="02020603050405020304" pitchFamily="18" charset="0"/>
                          <a:cs typeface="Times New Roman" panose="02020603050405020304" pitchFamily="18" charset="0"/>
                        </a:rPr>
                        <a:t>NLP-Based Location Extraction and Similarity Matching</a:t>
                      </a:r>
                    </a:p>
                  </a:txBody>
                  <a:tcPr marL="36476" marR="36476" marT="18238" marB="18238" anchor="ctr"/>
                </a:tc>
                <a:tc>
                  <a:txBody>
                    <a:bodyPr/>
                    <a:lstStyle/>
                    <a:p>
                      <a:pPr>
                        <a:buNone/>
                      </a:pPr>
                      <a:r>
                        <a:rPr lang="en-US" sz="1400" dirty="0">
                          <a:latin typeface="Times New Roman" panose="02020603050405020304" pitchFamily="18" charset="0"/>
                          <a:cs typeface="Times New Roman" panose="02020603050405020304" pitchFamily="18" charset="0"/>
                        </a:rPr>
                        <a:t>Extracted location names from text queries and recommended similar destinations using text similarity.</a:t>
                      </a:r>
                    </a:p>
                  </a:txBody>
                  <a:tcPr marL="36476" marR="36476" marT="18238" marB="18238" anchor="ctr"/>
                </a:tc>
                <a:tc>
                  <a:txBody>
                    <a:bodyPr/>
                    <a:lstStyle/>
                    <a:p>
                      <a:pPr>
                        <a:buNone/>
                      </a:pPr>
                      <a:r>
                        <a:rPr lang="en-US" sz="1400">
                          <a:latin typeface="Times New Roman" panose="02020603050405020304" pitchFamily="18" charset="0"/>
                          <a:cs typeface="Times New Roman" panose="02020603050405020304" pitchFamily="18" charset="0"/>
                        </a:rPr>
                        <a:t>No visual input support; lacked interactive map visualization; recommendations not context-aware.</a:t>
                      </a:r>
                    </a:p>
                  </a:txBody>
                  <a:tcPr marL="36476" marR="36476" marT="18238" marB="18238" anchor="ctr"/>
                </a:tc>
                <a:extLst>
                  <a:ext uri="{0D108BD9-81ED-4DB2-BD59-A6C34878D82A}">
                    <a16:rowId xmlns:a16="http://schemas.microsoft.com/office/drawing/2014/main" val="1848534865"/>
                  </a:ext>
                </a:extLst>
              </a:tr>
              <a:tr h="1075679">
                <a:tc>
                  <a:txBody>
                    <a:bodyPr/>
                    <a:lstStyle/>
                    <a:p>
                      <a:pPr>
                        <a:buNone/>
                      </a:pPr>
                      <a:r>
                        <a:rPr lang="en-US" sz="1400" dirty="0" err="1">
                          <a:latin typeface="Times New Roman" panose="02020603050405020304" pitchFamily="18" charset="0"/>
                          <a:cs typeface="Times New Roman" panose="02020603050405020304" pitchFamily="18" charset="0"/>
                        </a:rPr>
                        <a:t>Kongpeng</a:t>
                      </a:r>
                      <a:r>
                        <a:rPr lang="en-US" sz="1400" dirty="0">
                          <a:latin typeface="Times New Roman" panose="02020603050405020304" pitchFamily="18" charset="0"/>
                          <a:cs typeface="Times New Roman" panose="02020603050405020304" pitchFamily="18" charset="0"/>
                        </a:rPr>
                        <a:t> et al.</a:t>
                      </a:r>
                    </a:p>
                  </a:txBody>
                  <a:tcPr marL="36476" marR="36476" marT="18238" marB="18238" anchor="ctr"/>
                </a:tc>
                <a:tc>
                  <a:txBody>
                    <a:bodyPr/>
                    <a:lstStyle/>
                    <a:p>
                      <a:pPr>
                        <a:buNone/>
                      </a:pPr>
                      <a:r>
                        <a:rPr lang="en-US" sz="1400" dirty="0">
                          <a:latin typeface="Times New Roman" panose="02020603050405020304" pitchFamily="18" charset="0"/>
                          <a:cs typeface="Times New Roman" panose="02020603050405020304" pitchFamily="18" charset="0"/>
                        </a:rPr>
                        <a:t>2024</a:t>
                      </a:r>
                    </a:p>
                  </a:txBody>
                  <a:tcPr marL="36476" marR="36476" marT="18238" marB="18238" anchor="ctr"/>
                </a:tc>
                <a:tc>
                  <a:txBody>
                    <a:bodyPr/>
                    <a:lstStyle/>
                    <a:p>
                      <a:pPr>
                        <a:buNone/>
                      </a:pPr>
                      <a:r>
                        <a:rPr lang="en-US" sz="1400">
                          <a:latin typeface="Times New Roman" panose="02020603050405020304" pitchFamily="18" charset="0"/>
                          <a:cs typeface="Times New Roman" panose="02020603050405020304" pitchFamily="18" charset="0"/>
                        </a:rPr>
                        <a:t>GIS Mapping + K-Means Spatial Clustering</a:t>
                      </a:r>
                    </a:p>
                  </a:txBody>
                  <a:tcPr marL="36476" marR="36476" marT="18238" marB="18238" anchor="ctr"/>
                </a:tc>
                <a:tc>
                  <a:txBody>
                    <a:bodyPr/>
                    <a:lstStyle/>
                    <a:p>
                      <a:pPr>
                        <a:buNone/>
                      </a:pPr>
                      <a:r>
                        <a:rPr lang="en-US" sz="1400" dirty="0">
                          <a:latin typeface="Times New Roman" panose="02020603050405020304" pitchFamily="18" charset="0"/>
                          <a:cs typeface="Times New Roman" panose="02020603050405020304" pitchFamily="18" charset="0"/>
                        </a:rPr>
                        <a:t>Used spatial clustering to group nearby tourist spots and suggested regions based on distance metrics.</a:t>
                      </a:r>
                    </a:p>
                  </a:txBody>
                  <a:tcPr marL="36476" marR="36476" marT="18238" marB="18238" anchor="ctr"/>
                </a:tc>
                <a:tc>
                  <a:txBody>
                    <a:bodyPr/>
                    <a:lstStyle/>
                    <a:p>
                      <a:pPr>
                        <a:buNone/>
                      </a:pPr>
                      <a:r>
                        <a:rPr lang="en-US" sz="1400" dirty="0">
                          <a:latin typeface="Times New Roman" panose="02020603050405020304" pitchFamily="18" charset="0"/>
                          <a:cs typeface="Times New Roman" panose="02020603050405020304" pitchFamily="18" charset="0"/>
                        </a:rPr>
                        <a:t>Could not analyze user preferences; no AI-based recognition; system depended solely on coordinates.</a:t>
                      </a:r>
                    </a:p>
                  </a:txBody>
                  <a:tcPr marL="36476" marR="36476" marT="18238" marB="18238" anchor="ctr"/>
                </a:tc>
                <a:extLst>
                  <a:ext uri="{0D108BD9-81ED-4DB2-BD59-A6C34878D82A}">
                    <a16:rowId xmlns:a16="http://schemas.microsoft.com/office/drawing/2014/main" val="1793958236"/>
                  </a:ext>
                </a:extLst>
              </a:tr>
              <a:tr h="1245523">
                <a:tc>
                  <a:txBody>
                    <a:bodyPr/>
                    <a:lstStyle/>
                    <a:p>
                      <a:pPr>
                        <a:buNone/>
                      </a:pPr>
                      <a:r>
                        <a:rPr lang="en-US" sz="1400" dirty="0">
                          <a:latin typeface="Times New Roman" panose="02020603050405020304" pitchFamily="18" charset="0"/>
                          <a:cs typeface="Times New Roman" panose="02020603050405020304" pitchFamily="18" charset="0"/>
                        </a:rPr>
                        <a:t>Gupta et al.</a:t>
                      </a:r>
                    </a:p>
                  </a:txBody>
                  <a:tcPr marL="36476" marR="36476" marT="18238" marB="18238" anchor="ctr"/>
                </a:tc>
                <a:tc>
                  <a:txBody>
                    <a:bodyPr/>
                    <a:lstStyle/>
                    <a:p>
                      <a:pPr>
                        <a:buNone/>
                      </a:pPr>
                      <a:r>
                        <a:rPr lang="en-US" sz="1400" dirty="0">
                          <a:latin typeface="Times New Roman" panose="02020603050405020304" pitchFamily="18" charset="0"/>
                          <a:cs typeface="Times New Roman" panose="02020603050405020304" pitchFamily="18" charset="0"/>
                        </a:rPr>
                        <a:t>2024</a:t>
                      </a:r>
                    </a:p>
                  </a:txBody>
                  <a:tcPr marL="36476" marR="36476" marT="18238" marB="18238" anchor="ctr"/>
                </a:tc>
                <a:tc>
                  <a:txBody>
                    <a:bodyPr/>
                    <a:lstStyle/>
                    <a:p>
                      <a:pPr>
                        <a:buNone/>
                      </a:pPr>
                      <a:r>
                        <a:rPr lang="en-US" sz="1400">
                          <a:latin typeface="Times New Roman" panose="02020603050405020304" pitchFamily="18" charset="0"/>
                          <a:cs typeface="Times New Roman" panose="02020603050405020304" pitchFamily="18" charset="0"/>
                        </a:rPr>
                        <a:t>Hybrid Recommendation System (Content + Collaborative Filtering)</a:t>
                      </a:r>
                    </a:p>
                  </a:txBody>
                  <a:tcPr marL="36476" marR="36476" marT="18238" marB="18238" anchor="ctr"/>
                </a:tc>
                <a:tc>
                  <a:txBody>
                    <a:bodyPr/>
                    <a:lstStyle/>
                    <a:p>
                      <a:pPr>
                        <a:buNone/>
                      </a:pPr>
                      <a:r>
                        <a:rPr lang="en-US" sz="1400">
                          <a:latin typeface="Times New Roman" panose="02020603050405020304" pitchFamily="18" charset="0"/>
                          <a:cs typeface="Times New Roman" panose="02020603050405020304" pitchFamily="18" charset="0"/>
                        </a:rPr>
                        <a:t>Provided personalized tourism recommendations using user behavior and destination metadata.</a:t>
                      </a:r>
                    </a:p>
                  </a:txBody>
                  <a:tcPr marL="36476" marR="36476" marT="18238" marB="18238" anchor="ctr"/>
                </a:tc>
                <a:tc>
                  <a:txBody>
                    <a:bodyPr/>
                    <a:lstStyle/>
                    <a:p>
                      <a:pPr>
                        <a:buNone/>
                      </a:pPr>
                      <a:r>
                        <a:rPr lang="en-US" sz="1400" dirty="0">
                          <a:latin typeface="Times New Roman" panose="02020603050405020304" pitchFamily="18" charset="0"/>
                          <a:cs typeface="Times New Roman" panose="02020603050405020304" pitchFamily="18" charset="0"/>
                        </a:rPr>
                        <a:t>Lacked real-time identification of locations; did not integrate geospatial visualization; required large user-history datasets.</a:t>
                      </a:r>
                    </a:p>
                  </a:txBody>
                  <a:tcPr marL="36476" marR="36476" marT="18238" marB="18238" anchor="ctr"/>
                </a:tc>
                <a:extLst>
                  <a:ext uri="{0D108BD9-81ED-4DB2-BD59-A6C34878D82A}">
                    <a16:rowId xmlns:a16="http://schemas.microsoft.com/office/drawing/2014/main" val="1849548467"/>
                  </a:ext>
                </a:extLst>
              </a:tr>
            </a:tbl>
          </a:graphicData>
        </a:graphic>
      </p:graphicFrame>
      <p:sp>
        <p:nvSpPr>
          <p:cNvPr id="8" name="Rectangle 7">
            <a:extLst>
              <a:ext uri="{FF2B5EF4-FFF2-40B4-BE49-F238E27FC236}">
                <a16:creationId xmlns:a16="http://schemas.microsoft.com/office/drawing/2014/main" id="{3566C710-FDF0-3041-BBA8-D0D7FA50AEC1}"/>
              </a:ext>
            </a:extLst>
          </p:cNvPr>
          <p:cNvSpPr/>
          <p:nvPr/>
        </p:nvSpPr>
        <p:spPr>
          <a:xfrm>
            <a:off x="3159890" y="26721"/>
            <a:ext cx="5632632" cy="183238"/>
          </a:xfrm>
          <a:prstGeom prst="rect">
            <a:avLst/>
          </a:prstGeom>
          <a:solidFill>
            <a:srgbClr val="00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i="1">
                <a:solidFill>
                  <a:schemeClr val="bg1"/>
                </a:solidFill>
                <a:latin typeface="Times New Roman" panose="02020603050405020304" pitchFamily="18" charset="0"/>
                <a:cs typeface="Times New Roman" panose="02020603050405020304" pitchFamily="18" charset="0"/>
              </a:rPr>
              <a:t>AI Enhanced Geospatial Tourism Recommendation System</a:t>
            </a:r>
            <a:endParaRPr lang="en-IN" i="1" dirty="0">
              <a:solidFill>
                <a:schemeClr val="bg1"/>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915E6B35-F854-852D-777D-9E3C0BB289E7}"/>
              </a:ext>
            </a:extLst>
          </p:cNvPr>
          <p:cNvSpPr txBox="1"/>
          <p:nvPr/>
        </p:nvSpPr>
        <p:spPr>
          <a:xfrm>
            <a:off x="-2623820" y="6569943"/>
            <a:ext cx="6162040" cy="369332"/>
          </a:xfrm>
          <a:prstGeom prst="rect">
            <a:avLst/>
          </a:prstGeom>
          <a:noFill/>
        </p:spPr>
        <p:txBody>
          <a:bodyPr wrap="square">
            <a:spAutoFit/>
          </a:bodyPr>
          <a:lstStyle/>
          <a:p>
            <a:pPr algn="ctr"/>
            <a:r>
              <a:rPr lang="en-IN" dirty="0">
                <a:solidFill>
                  <a:schemeClr val="bg1"/>
                </a:solidFill>
              </a:rPr>
              <a:t>A9</a:t>
            </a:r>
          </a:p>
        </p:txBody>
      </p:sp>
      <p:sp>
        <p:nvSpPr>
          <p:cNvPr id="20" name="TextBox 19">
            <a:extLst>
              <a:ext uri="{FF2B5EF4-FFF2-40B4-BE49-F238E27FC236}">
                <a16:creationId xmlns:a16="http://schemas.microsoft.com/office/drawing/2014/main" id="{6EFF0479-9075-776D-9FEE-F46194F35617}"/>
              </a:ext>
            </a:extLst>
          </p:cNvPr>
          <p:cNvSpPr txBox="1"/>
          <p:nvPr/>
        </p:nvSpPr>
        <p:spPr>
          <a:xfrm>
            <a:off x="1153180" y="6593026"/>
            <a:ext cx="7406640" cy="323165"/>
          </a:xfrm>
          <a:prstGeom prst="rect">
            <a:avLst/>
          </a:prstGeom>
          <a:noFill/>
        </p:spPr>
        <p:txBody>
          <a:bodyPr wrap="square">
            <a:spAutoFit/>
          </a:bodyPr>
          <a:lstStyle/>
          <a:p>
            <a:r>
              <a:rPr lang="en-IN" sz="1500" dirty="0">
                <a:solidFill>
                  <a:schemeClr val="bg1"/>
                </a:solidFill>
                <a:latin typeface="Times New Roman" panose="02020603050405020304" pitchFamily="18" charset="0"/>
                <a:cs typeface="Times New Roman" panose="02020603050405020304" pitchFamily="18" charset="0"/>
              </a:rPr>
              <a:t>DEPT. OF COMPUTER SCIENCE AND ENGINEERING</a:t>
            </a:r>
          </a:p>
        </p:txBody>
      </p:sp>
      <p:sp>
        <p:nvSpPr>
          <p:cNvPr id="21" name="TextBox 20">
            <a:extLst>
              <a:ext uri="{FF2B5EF4-FFF2-40B4-BE49-F238E27FC236}">
                <a16:creationId xmlns:a16="http://schemas.microsoft.com/office/drawing/2014/main" id="{E9B027B5-C20E-1946-98A6-7E1B4C301226}"/>
              </a:ext>
            </a:extLst>
          </p:cNvPr>
          <p:cNvSpPr txBox="1"/>
          <p:nvPr/>
        </p:nvSpPr>
        <p:spPr>
          <a:xfrm>
            <a:off x="11765280" y="6569942"/>
            <a:ext cx="301686" cy="369332"/>
          </a:xfrm>
          <a:prstGeom prst="rect">
            <a:avLst/>
          </a:prstGeom>
          <a:noFill/>
        </p:spPr>
        <p:txBody>
          <a:bodyPr wrap="none" rtlCol="0">
            <a:spAutoFit/>
          </a:bodyPr>
          <a:lstStyle/>
          <a:p>
            <a:r>
              <a:rPr lang="en-IN" dirty="0"/>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0480" y="-18339"/>
            <a:ext cx="1488440" cy="254000"/>
          </a:xfrm>
          <a:prstGeom prst="rect">
            <a:avLst/>
          </a:prstGeom>
        </p:spPr>
        <p:txBody>
          <a:bodyPr vert="horz" wrap="square" lIns="0" tIns="12700" rIns="0" bIns="0" rtlCol="0">
            <a:spAutoFit/>
          </a:bodyPr>
          <a:lstStyle/>
          <a:p>
            <a:pPr marL="12700">
              <a:lnSpc>
                <a:spcPct val="100000"/>
              </a:lnSpc>
              <a:spcBef>
                <a:spcPts val="100"/>
              </a:spcBef>
            </a:pPr>
            <a:r>
              <a:rPr sz="1500" b="1" i="1" dirty="0">
                <a:solidFill>
                  <a:srgbClr val="FFFFFF"/>
                </a:solidFill>
                <a:latin typeface="Times New Roman"/>
                <a:cs typeface="Times New Roman"/>
              </a:rPr>
              <a:t>Title</a:t>
            </a:r>
            <a:r>
              <a:rPr sz="1500" b="1" i="1" spc="-20" dirty="0">
                <a:solidFill>
                  <a:srgbClr val="FFFFFF"/>
                </a:solidFill>
                <a:latin typeface="Times New Roman"/>
                <a:cs typeface="Times New Roman"/>
              </a:rPr>
              <a:t> </a:t>
            </a:r>
            <a:r>
              <a:rPr sz="1500" b="1" i="1" dirty="0">
                <a:solidFill>
                  <a:srgbClr val="FFFFFF"/>
                </a:solidFill>
                <a:latin typeface="Times New Roman"/>
                <a:cs typeface="Times New Roman"/>
              </a:rPr>
              <a:t>of</a:t>
            </a:r>
            <a:r>
              <a:rPr sz="1500" b="1" i="1" spc="-15" dirty="0">
                <a:solidFill>
                  <a:srgbClr val="FFFFFF"/>
                </a:solidFill>
                <a:latin typeface="Times New Roman"/>
                <a:cs typeface="Times New Roman"/>
              </a:rPr>
              <a:t> </a:t>
            </a:r>
            <a:r>
              <a:rPr sz="1500" b="1" i="1" dirty="0">
                <a:solidFill>
                  <a:srgbClr val="FFFFFF"/>
                </a:solidFill>
                <a:latin typeface="Times New Roman"/>
                <a:cs typeface="Times New Roman"/>
              </a:rPr>
              <a:t>the</a:t>
            </a:r>
            <a:r>
              <a:rPr sz="1500" b="1" i="1" spc="-20" dirty="0">
                <a:solidFill>
                  <a:srgbClr val="FFFFFF"/>
                </a:solidFill>
                <a:latin typeface="Times New Roman"/>
                <a:cs typeface="Times New Roman"/>
              </a:rPr>
              <a:t> </a:t>
            </a:r>
            <a:r>
              <a:rPr sz="1500" b="1" i="1" spc="-10" dirty="0">
                <a:solidFill>
                  <a:srgbClr val="FFFFFF"/>
                </a:solidFill>
                <a:latin typeface="Times New Roman"/>
                <a:cs typeface="Times New Roman"/>
              </a:rPr>
              <a:t>Project</a:t>
            </a:r>
            <a:endParaRPr sz="1500">
              <a:latin typeface="Times New Roman"/>
              <a:cs typeface="Times New Roman"/>
            </a:endParaRPr>
          </a:p>
        </p:txBody>
      </p:sp>
      <p:grpSp>
        <p:nvGrpSpPr>
          <p:cNvPr id="4" name="object 4"/>
          <p:cNvGrpSpPr/>
          <p:nvPr/>
        </p:nvGrpSpPr>
        <p:grpSpPr>
          <a:xfrm>
            <a:off x="0" y="216720"/>
            <a:ext cx="12192000" cy="803275"/>
            <a:chOff x="0" y="216720"/>
            <a:chExt cx="12192000" cy="803275"/>
          </a:xfrm>
        </p:grpSpPr>
        <p:pic>
          <p:nvPicPr>
            <p:cNvPr id="5" name="object 5"/>
            <p:cNvPicPr/>
            <p:nvPr/>
          </p:nvPicPr>
          <p:blipFill>
            <a:blip r:embed="rId2" cstate="print"/>
            <a:stretch>
              <a:fillRect/>
            </a:stretch>
          </p:blipFill>
          <p:spPr>
            <a:xfrm>
              <a:off x="0" y="216720"/>
              <a:ext cx="12192000" cy="803160"/>
            </a:xfrm>
            <a:prstGeom prst="rect">
              <a:avLst/>
            </a:prstGeom>
          </p:spPr>
        </p:pic>
        <p:sp>
          <p:nvSpPr>
            <p:cNvPr id="6" name="object 6"/>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8" name="object 8"/>
          <p:cNvSpPr txBox="1">
            <a:spLocks noGrp="1"/>
          </p:cNvSpPr>
          <p:nvPr>
            <p:ph type="ftr" sz="quarter" idx="5"/>
          </p:nvPr>
        </p:nvSpPr>
        <p:spPr>
          <a:xfrm>
            <a:off x="149031" y="6629427"/>
            <a:ext cx="635000" cy="250825"/>
          </a:xfrm>
          <a:prstGeom prst="rect">
            <a:avLst/>
          </a:prstGeom>
        </p:spPr>
        <p:txBody>
          <a:bodyPr vert="horz" wrap="square" lIns="0" tIns="0" rIns="0" bIns="0" rtlCol="0">
            <a:spAutoFit/>
          </a:bodyPr>
          <a:lstStyle>
            <a:defPPr>
              <a:defRPr kern="0"/>
            </a:defPPr>
            <a:lvl1pPr>
              <a:defRPr sz="1600" b="0" i="0">
                <a:solidFill>
                  <a:schemeClr val="bg1"/>
                </a:solidFill>
                <a:latin typeface="Times New Roman"/>
                <a:cs typeface="Times New Roman"/>
              </a:defRPr>
            </a:lvl1pPr>
          </a:lstStyle>
          <a:p>
            <a:pPr marL="12700">
              <a:lnSpc>
                <a:spcPts val="1845"/>
              </a:lnSpc>
            </a:pPr>
            <a:r>
              <a:rPr lang="en-US" dirty="0"/>
              <a:t>A</a:t>
            </a:r>
            <a:r>
              <a:rPr lang="en-US" spc="-10" dirty="0"/>
              <a:t> </a:t>
            </a:r>
            <a:r>
              <a:rPr lang="en-US" dirty="0"/>
              <a:t>-</a:t>
            </a:r>
            <a:r>
              <a:rPr lang="en-US" spc="-5" dirty="0"/>
              <a:t> </a:t>
            </a:r>
            <a:r>
              <a:rPr lang="en-US" spc="-25" dirty="0"/>
              <a:t>XX</a:t>
            </a:r>
            <a:endParaRPr spc="-25" dirty="0"/>
          </a:p>
        </p:txBody>
      </p:sp>
      <p:sp>
        <p:nvSpPr>
          <p:cNvPr id="12" name="TextBox 11">
            <a:extLst>
              <a:ext uri="{FF2B5EF4-FFF2-40B4-BE49-F238E27FC236}">
                <a16:creationId xmlns:a16="http://schemas.microsoft.com/office/drawing/2014/main" id="{9D0735FF-BBB5-6D8E-47E3-5A04AED2F3BB}"/>
              </a:ext>
            </a:extLst>
          </p:cNvPr>
          <p:cNvSpPr txBox="1"/>
          <p:nvPr/>
        </p:nvSpPr>
        <p:spPr>
          <a:xfrm>
            <a:off x="590938" y="1478874"/>
            <a:ext cx="10798369" cy="3477875"/>
          </a:xfrm>
          <a:prstGeom prst="rect">
            <a:avLst/>
          </a:prstGeom>
          <a:noFill/>
        </p:spPr>
        <p:txBody>
          <a:bodyPr wrap="square">
            <a:spAutoFit/>
          </a:bodyPr>
          <a:lstStyle/>
          <a:p>
            <a:r>
              <a:rPr lang="en-US" sz="2000" dirty="0"/>
              <a:t>Current travel platforms such as tourism websites and booking portals provide basic destination information but lack intelligent recommendation capabilities.</a:t>
            </a:r>
          </a:p>
          <a:p>
            <a:endParaRPr lang="en-US" sz="2000" dirty="0"/>
          </a:p>
          <a:p>
            <a:r>
              <a:rPr lang="en-US" sz="2000" dirty="0"/>
              <a:t>Limitations of existing systems:</a:t>
            </a:r>
          </a:p>
          <a:p>
            <a:r>
              <a:rPr lang="en-US" sz="2000" dirty="0"/>
              <a:t>• No personalized travel recommendations</a:t>
            </a:r>
            <a:br>
              <a:rPr lang="en-US" sz="2000" dirty="0"/>
            </a:br>
            <a:r>
              <a:rPr lang="en-US" sz="2000" dirty="0"/>
              <a:t>• Limited integration of nearby attractions</a:t>
            </a:r>
            <a:br>
              <a:rPr lang="en-US" sz="2000" dirty="0"/>
            </a:br>
            <a:r>
              <a:rPr lang="en-US" sz="2000" dirty="0"/>
              <a:t>• Lack of AI-generated travel guidance</a:t>
            </a:r>
            <a:br>
              <a:rPr lang="en-US" sz="2000" dirty="0"/>
            </a:br>
            <a:r>
              <a:rPr lang="en-US" sz="2000" dirty="0"/>
              <a:t>• Travelers must manually search multiple websites</a:t>
            </a:r>
            <a:br>
              <a:rPr lang="en-US" sz="2000" dirty="0"/>
            </a:br>
            <a:r>
              <a:rPr lang="en-US" sz="2000" dirty="0"/>
              <a:t>• Limited consideration of seasonal travel conditions</a:t>
            </a:r>
          </a:p>
          <a:p>
            <a:endParaRPr lang="en-US" sz="2000" dirty="0"/>
          </a:p>
          <a:p>
            <a:r>
              <a:rPr lang="en-US" sz="2000" dirty="0"/>
              <a:t>These limitations make travel planning time-consuming and inefficient.</a:t>
            </a:r>
          </a:p>
        </p:txBody>
      </p:sp>
      <p:sp>
        <p:nvSpPr>
          <p:cNvPr id="13" name="Rectangle 12">
            <a:extLst>
              <a:ext uri="{FF2B5EF4-FFF2-40B4-BE49-F238E27FC236}">
                <a16:creationId xmlns:a16="http://schemas.microsoft.com/office/drawing/2014/main" id="{8619BFDC-168E-38CD-F99F-2E99AD325C4F}"/>
              </a:ext>
            </a:extLst>
          </p:cNvPr>
          <p:cNvSpPr/>
          <p:nvPr/>
        </p:nvSpPr>
        <p:spPr>
          <a:xfrm>
            <a:off x="3159890" y="26720"/>
            <a:ext cx="5632632" cy="155603"/>
          </a:xfrm>
          <a:prstGeom prst="rect">
            <a:avLst/>
          </a:prstGeom>
          <a:solidFill>
            <a:srgbClr val="00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i="1">
                <a:solidFill>
                  <a:schemeClr val="bg1"/>
                </a:solidFill>
                <a:latin typeface="Times New Roman" panose="02020603050405020304" pitchFamily="18" charset="0"/>
                <a:cs typeface="Times New Roman" panose="02020603050405020304" pitchFamily="18" charset="0"/>
              </a:rPr>
              <a:t>AI Enhanced Geospatial Tourism Recommendation System</a:t>
            </a:r>
            <a:endParaRPr lang="en-IN" i="1" dirty="0">
              <a:solidFill>
                <a:schemeClr val="bg1"/>
              </a:solidFill>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719E3292-1DCB-7DEB-0A10-B226E89CEDCE}"/>
              </a:ext>
            </a:extLst>
          </p:cNvPr>
          <p:cNvSpPr/>
          <p:nvPr/>
        </p:nvSpPr>
        <p:spPr>
          <a:xfrm>
            <a:off x="170155" y="6675677"/>
            <a:ext cx="613876" cy="182323"/>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A9</a:t>
            </a:r>
            <a:endParaRPr lang="en-IN" dirty="0"/>
          </a:p>
        </p:txBody>
      </p:sp>
      <p:sp>
        <p:nvSpPr>
          <p:cNvPr id="16" name="Title 15">
            <a:extLst>
              <a:ext uri="{FF2B5EF4-FFF2-40B4-BE49-F238E27FC236}">
                <a16:creationId xmlns:a16="http://schemas.microsoft.com/office/drawing/2014/main" id="{6DABB4FE-1380-6805-8D10-B9AA3120D6A2}"/>
              </a:ext>
            </a:extLst>
          </p:cNvPr>
          <p:cNvSpPr>
            <a:spLocks noGrp="1"/>
          </p:cNvSpPr>
          <p:nvPr>
            <p:ph type="title"/>
          </p:nvPr>
        </p:nvSpPr>
        <p:spPr/>
        <p:txBody>
          <a:bodyPr/>
          <a:lstStyle/>
          <a:p>
            <a:r>
              <a:rPr lang="en-IN" dirty="0"/>
              <a:t>Existing System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AB45F-D7A5-0696-A051-EF5280504B1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988B8C1-3BBB-E651-CA91-AE874DB18B4E}"/>
              </a:ext>
            </a:extLst>
          </p:cNvPr>
          <p:cNvSpPr txBox="1"/>
          <p:nvPr/>
        </p:nvSpPr>
        <p:spPr>
          <a:xfrm>
            <a:off x="5350480" y="-18339"/>
            <a:ext cx="1488440" cy="254000"/>
          </a:xfrm>
          <a:prstGeom prst="rect">
            <a:avLst/>
          </a:prstGeom>
        </p:spPr>
        <p:txBody>
          <a:bodyPr vert="horz" wrap="square" lIns="0" tIns="12700" rIns="0" bIns="0" rtlCol="0">
            <a:spAutoFit/>
          </a:bodyPr>
          <a:lstStyle/>
          <a:p>
            <a:pPr marL="12700">
              <a:lnSpc>
                <a:spcPct val="100000"/>
              </a:lnSpc>
              <a:spcBef>
                <a:spcPts val="100"/>
              </a:spcBef>
            </a:pPr>
            <a:r>
              <a:rPr sz="1500" b="1" i="1" dirty="0">
                <a:solidFill>
                  <a:srgbClr val="FFFFFF"/>
                </a:solidFill>
                <a:latin typeface="Times New Roman"/>
                <a:cs typeface="Times New Roman"/>
              </a:rPr>
              <a:t>Title</a:t>
            </a:r>
            <a:r>
              <a:rPr sz="1500" b="1" i="1" spc="-20" dirty="0">
                <a:solidFill>
                  <a:srgbClr val="FFFFFF"/>
                </a:solidFill>
                <a:latin typeface="Times New Roman"/>
                <a:cs typeface="Times New Roman"/>
              </a:rPr>
              <a:t> </a:t>
            </a:r>
            <a:r>
              <a:rPr sz="1500" b="1" i="1" dirty="0">
                <a:solidFill>
                  <a:srgbClr val="FFFFFF"/>
                </a:solidFill>
                <a:latin typeface="Times New Roman"/>
                <a:cs typeface="Times New Roman"/>
              </a:rPr>
              <a:t>of</a:t>
            </a:r>
            <a:r>
              <a:rPr sz="1500" b="1" i="1" spc="-15" dirty="0">
                <a:solidFill>
                  <a:srgbClr val="FFFFFF"/>
                </a:solidFill>
                <a:latin typeface="Times New Roman"/>
                <a:cs typeface="Times New Roman"/>
              </a:rPr>
              <a:t> </a:t>
            </a:r>
            <a:r>
              <a:rPr sz="1500" b="1" i="1" dirty="0">
                <a:solidFill>
                  <a:srgbClr val="FFFFFF"/>
                </a:solidFill>
                <a:latin typeface="Times New Roman"/>
                <a:cs typeface="Times New Roman"/>
              </a:rPr>
              <a:t>the</a:t>
            </a:r>
            <a:r>
              <a:rPr sz="1500" b="1" i="1" spc="-20" dirty="0">
                <a:solidFill>
                  <a:srgbClr val="FFFFFF"/>
                </a:solidFill>
                <a:latin typeface="Times New Roman"/>
                <a:cs typeface="Times New Roman"/>
              </a:rPr>
              <a:t> </a:t>
            </a:r>
            <a:r>
              <a:rPr sz="1500" b="1" i="1" spc="-10" dirty="0">
                <a:solidFill>
                  <a:srgbClr val="FFFFFF"/>
                </a:solidFill>
                <a:latin typeface="Times New Roman"/>
                <a:cs typeface="Times New Roman"/>
              </a:rPr>
              <a:t>Project</a:t>
            </a:r>
            <a:endParaRPr sz="1500">
              <a:latin typeface="Times New Roman"/>
              <a:cs typeface="Times New Roman"/>
            </a:endParaRPr>
          </a:p>
        </p:txBody>
      </p:sp>
      <p:grpSp>
        <p:nvGrpSpPr>
          <p:cNvPr id="4" name="object 4">
            <a:extLst>
              <a:ext uri="{FF2B5EF4-FFF2-40B4-BE49-F238E27FC236}">
                <a16:creationId xmlns:a16="http://schemas.microsoft.com/office/drawing/2014/main" id="{C71EA035-597B-7D69-D25D-B6DCC76CCADA}"/>
              </a:ext>
            </a:extLst>
          </p:cNvPr>
          <p:cNvGrpSpPr/>
          <p:nvPr/>
        </p:nvGrpSpPr>
        <p:grpSpPr>
          <a:xfrm>
            <a:off x="0" y="216720"/>
            <a:ext cx="12192000" cy="803275"/>
            <a:chOff x="0" y="216720"/>
            <a:chExt cx="12192000" cy="803275"/>
          </a:xfrm>
        </p:grpSpPr>
        <p:pic>
          <p:nvPicPr>
            <p:cNvPr id="5" name="object 5">
              <a:extLst>
                <a:ext uri="{FF2B5EF4-FFF2-40B4-BE49-F238E27FC236}">
                  <a16:creationId xmlns:a16="http://schemas.microsoft.com/office/drawing/2014/main" id="{CC7E615B-5CB7-4591-BC02-487DDFC1933B}"/>
                </a:ext>
              </a:extLst>
            </p:cNvPr>
            <p:cNvPicPr/>
            <p:nvPr/>
          </p:nvPicPr>
          <p:blipFill>
            <a:blip r:embed="rId2" cstate="print"/>
            <a:stretch>
              <a:fillRect/>
            </a:stretch>
          </p:blipFill>
          <p:spPr>
            <a:xfrm>
              <a:off x="0" y="216720"/>
              <a:ext cx="12192000" cy="803160"/>
            </a:xfrm>
            <a:prstGeom prst="rect">
              <a:avLst/>
            </a:prstGeom>
          </p:spPr>
        </p:pic>
        <p:sp>
          <p:nvSpPr>
            <p:cNvPr id="6" name="object 6">
              <a:extLst>
                <a:ext uri="{FF2B5EF4-FFF2-40B4-BE49-F238E27FC236}">
                  <a16:creationId xmlns:a16="http://schemas.microsoft.com/office/drawing/2014/main" id="{99E27CA6-71BD-4B6B-5B8E-7865B43B8EF2}"/>
                </a:ext>
              </a:extLst>
            </p:cNvPr>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8" name="object 8">
            <a:extLst>
              <a:ext uri="{FF2B5EF4-FFF2-40B4-BE49-F238E27FC236}">
                <a16:creationId xmlns:a16="http://schemas.microsoft.com/office/drawing/2014/main" id="{DBE6AB3C-084C-024B-B5DA-443D7497E7BC}"/>
              </a:ext>
            </a:extLst>
          </p:cNvPr>
          <p:cNvSpPr txBox="1">
            <a:spLocks noGrp="1"/>
          </p:cNvSpPr>
          <p:nvPr>
            <p:ph type="ftr" sz="quarter" idx="5"/>
          </p:nvPr>
        </p:nvSpPr>
        <p:spPr>
          <a:xfrm>
            <a:off x="149031" y="6629427"/>
            <a:ext cx="635000" cy="250825"/>
          </a:xfrm>
          <a:prstGeom prst="rect">
            <a:avLst/>
          </a:prstGeom>
        </p:spPr>
        <p:txBody>
          <a:bodyPr vert="horz" wrap="square" lIns="0" tIns="0" rIns="0" bIns="0" rtlCol="0">
            <a:spAutoFit/>
          </a:bodyPr>
          <a:lstStyle>
            <a:defPPr>
              <a:defRPr kern="0"/>
            </a:defPPr>
            <a:lvl1pPr>
              <a:defRPr sz="1600" b="0" i="0">
                <a:solidFill>
                  <a:schemeClr val="bg1"/>
                </a:solidFill>
                <a:latin typeface="Times New Roman"/>
                <a:cs typeface="Times New Roman"/>
              </a:defRPr>
            </a:lvl1pPr>
          </a:lstStyle>
          <a:p>
            <a:pPr marL="12700">
              <a:lnSpc>
                <a:spcPts val="1845"/>
              </a:lnSpc>
            </a:pPr>
            <a:r>
              <a:rPr lang="en-US"/>
              <a:t>A</a:t>
            </a:r>
            <a:r>
              <a:rPr lang="en-US" spc="-10"/>
              <a:t> </a:t>
            </a:r>
            <a:r>
              <a:rPr lang="en-US"/>
              <a:t>-</a:t>
            </a:r>
            <a:r>
              <a:rPr lang="en-US" spc="-5"/>
              <a:t> </a:t>
            </a:r>
            <a:r>
              <a:rPr lang="en-US" spc="-25"/>
              <a:t>XX</a:t>
            </a:r>
            <a:endParaRPr spc="-25" dirty="0"/>
          </a:p>
        </p:txBody>
      </p:sp>
      <p:sp>
        <p:nvSpPr>
          <p:cNvPr id="12" name="TextBox 11">
            <a:extLst>
              <a:ext uri="{FF2B5EF4-FFF2-40B4-BE49-F238E27FC236}">
                <a16:creationId xmlns:a16="http://schemas.microsoft.com/office/drawing/2014/main" id="{6B1E3A48-8E87-8EB6-44E0-374019EC1AB2}"/>
              </a:ext>
            </a:extLst>
          </p:cNvPr>
          <p:cNvSpPr txBox="1"/>
          <p:nvPr/>
        </p:nvSpPr>
        <p:spPr>
          <a:xfrm>
            <a:off x="609600" y="1469544"/>
            <a:ext cx="10798369" cy="3477875"/>
          </a:xfrm>
          <a:prstGeom prst="rect">
            <a:avLst/>
          </a:prstGeom>
          <a:noFill/>
        </p:spPr>
        <p:txBody>
          <a:bodyPr wrap="square">
            <a:spAutoFit/>
          </a:bodyPr>
          <a:lstStyle/>
          <a:p>
            <a:r>
              <a:rPr lang="en-US" sz="2000" dirty="0"/>
              <a:t>The proposed system provides an intelligent travel planning platform that recommends destinations based on user preferences and travel month.</a:t>
            </a:r>
          </a:p>
          <a:p>
            <a:endParaRPr lang="en-US" sz="2000" dirty="0"/>
          </a:p>
          <a:p>
            <a:r>
              <a:rPr lang="en-US" sz="2000" dirty="0"/>
              <a:t>Key features include:</a:t>
            </a:r>
          </a:p>
          <a:p>
            <a:r>
              <a:rPr lang="en-US" sz="2000" dirty="0"/>
              <a:t>• Destination recommendations based on travel month and interest</a:t>
            </a:r>
            <a:br>
              <a:rPr lang="en-US" sz="2000" dirty="0"/>
            </a:br>
            <a:r>
              <a:rPr lang="en-US" sz="2000" dirty="0"/>
              <a:t>• Geospatial analysis to find nearby attractions</a:t>
            </a:r>
            <a:br>
              <a:rPr lang="en-US" sz="2000" dirty="0"/>
            </a:br>
            <a:r>
              <a:rPr lang="en-US" sz="2000" dirty="0"/>
              <a:t>• AI-generated travel insights and itineraries</a:t>
            </a:r>
            <a:br>
              <a:rPr lang="en-US" sz="2000" dirty="0"/>
            </a:br>
            <a:r>
              <a:rPr lang="en-US" sz="2000" dirty="0"/>
              <a:t>• Accommodation suggestions for budget planning</a:t>
            </a:r>
            <a:br>
              <a:rPr lang="en-US" sz="2000" dirty="0"/>
            </a:br>
            <a:r>
              <a:rPr lang="en-US" sz="2000" dirty="0"/>
              <a:t>• Interactive map visualization of locations</a:t>
            </a:r>
          </a:p>
          <a:p>
            <a:endParaRPr lang="en-US" sz="2000" dirty="0"/>
          </a:p>
          <a:p>
            <a:r>
              <a:rPr lang="en-US" sz="2000" dirty="0"/>
              <a:t>The system improves travel planning by combining </a:t>
            </a:r>
            <a:r>
              <a:rPr lang="en-US" sz="2000" b="1" dirty="0"/>
              <a:t>geospatial technology and artificial intelligence</a:t>
            </a:r>
            <a:r>
              <a:rPr lang="en-US" sz="2000" dirty="0"/>
              <a:t>.</a:t>
            </a:r>
          </a:p>
        </p:txBody>
      </p:sp>
      <p:sp>
        <p:nvSpPr>
          <p:cNvPr id="13" name="Rectangle 12">
            <a:extLst>
              <a:ext uri="{FF2B5EF4-FFF2-40B4-BE49-F238E27FC236}">
                <a16:creationId xmlns:a16="http://schemas.microsoft.com/office/drawing/2014/main" id="{14B0752B-28CF-D674-B754-E12C9A57D4EE}"/>
              </a:ext>
            </a:extLst>
          </p:cNvPr>
          <p:cNvSpPr/>
          <p:nvPr/>
        </p:nvSpPr>
        <p:spPr>
          <a:xfrm>
            <a:off x="3159890" y="26720"/>
            <a:ext cx="5632632" cy="190000"/>
          </a:xfrm>
          <a:prstGeom prst="rect">
            <a:avLst/>
          </a:prstGeom>
          <a:solidFill>
            <a:srgbClr val="00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i="1">
                <a:solidFill>
                  <a:schemeClr val="bg1"/>
                </a:solidFill>
                <a:latin typeface="Times New Roman" panose="02020603050405020304" pitchFamily="18" charset="0"/>
                <a:cs typeface="Times New Roman" panose="02020603050405020304" pitchFamily="18" charset="0"/>
              </a:rPr>
              <a:t>AI Enhanced Geospatial Tourism Recommendation System</a:t>
            </a:r>
            <a:endParaRPr lang="en-IN" i="1" dirty="0">
              <a:solidFill>
                <a:schemeClr val="bg1"/>
              </a:solidFill>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C2C75F9E-FCFC-A09C-54EF-ACF1298F92AF}"/>
              </a:ext>
            </a:extLst>
          </p:cNvPr>
          <p:cNvSpPr/>
          <p:nvPr/>
        </p:nvSpPr>
        <p:spPr>
          <a:xfrm>
            <a:off x="170155" y="6675677"/>
            <a:ext cx="613876" cy="182323"/>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A9</a:t>
            </a:r>
            <a:endParaRPr lang="en-IN" dirty="0"/>
          </a:p>
        </p:txBody>
      </p:sp>
      <p:sp>
        <p:nvSpPr>
          <p:cNvPr id="16" name="Title 15">
            <a:extLst>
              <a:ext uri="{FF2B5EF4-FFF2-40B4-BE49-F238E27FC236}">
                <a16:creationId xmlns:a16="http://schemas.microsoft.com/office/drawing/2014/main" id="{161BDC86-D408-EB25-D644-F3DCBFB4F75F}"/>
              </a:ext>
            </a:extLst>
          </p:cNvPr>
          <p:cNvSpPr>
            <a:spLocks noGrp="1"/>
          </p:cNvSpPr>
          <p:nvPr>
            <p:ph type="title"/>
          </p:nvPr>
        </p:nvSpPr>
        <p:spPr/>
        <p:txBody>
          <a:bodyPr/>
          <a:lstStyle/>
          <a:p>
            <a:r>
              <a:rPr lang="en-IN" spc="-10" dirty="0"/>
              <a:t>Proposed System</a:t>
            </a:r>
            <a:endParaRPr lang="en-IN" dirty="0"/>
          </a:p>
        </p:txBody>
      </p:sp>
    </p:spTree>
    <p:extLst>
      <p:ext uri="{BB962C8B-B14F-4D97-AF65-F5344CB8AC3E}">
        <p14:creationId xmlns:p14="http://schemas.microsoft.com/office/powerpoint/2010/main" val="30261286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ED8EF-278E-6CB0-C130-2C504A45241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8D1DF51-0475-A965-9EF4-05536D697E0B}"/>
              </a:ext>
            </a:extLst>
          </p:cNvPr>
          <p:cNvSpPr txBox="1"/>
          <p:nvPr/>
        </p:nvSpPr>
        <p:spPr>
          <a:xfrm>
            <a:off x="5350480" y="-18339"/>
            <a:ext cx="1488440" cy="254000"/>
          </a:xfrm>
          <a:prstGeom prst="rect">
            <a:avLst/>
          </a:prstGeom>
        </p:spPr>
        <p:txBody>
          <a:bodyPr vert="horz" wrap="square" lIns="0" tIns="12700" rIns="0" bIns="0" rtlCol="0">
            <a:spAutoFit/>
          </a:bodyPr>
          <a:lstStyle/>
          <a:p>
            <a:pPr marL="12700">
              <a:lnSpc>
                <a:spcPct val="100000"/>
              </a:lnSpc>
              <a:spcBef>
                <a:spcPts val="100"/>
              </a:spcBef>
            </a:pPr>
            <a:r>
              <a:rPr sz="1500" b="1" i="1" dirty="0">
                <a:solidFill>
                  <a:srgbClr val="FFFFFF"/>
                </a:solidFill>
                <a:latin typeface="Times New Roman"/>
                <a:cs typeface="Times New Roman"/>
              </a:rPr>
              <a:t>Title</a:t>
            </a:r>
            <a:r>
              <a:rPr sz="1500" b="1" i="1" spc="-20" dirty="0">
                <a:solidFill>
                  <a:srgbClr val="FFFFFF"/>
                </a:solidFill>
                <a:latin typeface="Times New Roman"/>
                <a:cs typeface="Times New Roman"/>
              </a:rPr>
              <a:t> </a:t>
            </a:r>
            <a:r>
              <a:rPr sz="1500" b="1" i="1" dirty="0">
                <a:solidFill>
                  <a:srgbClr val="FFFFFF"/>
                </a:solidFill>
                <a:latin typeface="Times New Roman"/>
                <a:cs typeface="Times New Roman"/>
              </a:rPr>
              <a:t>of</a:t>
            </a:r>
            <a:r>
              <a:rPr sz="1500" b="1" i="1" spc="-15" dirty="0">
                <a:solidFill>
                  <a:srgbClr val="FFFFFF"/>
                </a:solidFill>
                <a:latin typeface="Times New Roman"/>
                <a:cs typeface="Times New Roman"/>
              </a:rPr>
              <a:t> </a:t>
            </a:r>
            <a:r>
              <a:rPr sz="1500" b="1" i="1" dirty="0">
                <a:solidFill>
                  <a:srgbClr val="FFFFFF"/>
                </a:solidFill>
                <a:latin typeface="Times New Roman"/>
                <a:cs typeface="Times New Roman"/>
              </a:rPr>
              <a:t>the</a:t>
            </a:r>
            <a:r>
              <a:rPr sz="1500" b="1" i="1" spc="-20" dirty="0">
                <a:solidFill>
                  <a:srgbClr val="FFFFFF"/>
                </a:solidFill>
                <a:latin typeface="Times New Roman"/>
                <a:cs typeface="Times New Roman"/>
              </a:rPr>
              <a:t> </a:t>
            </a:r>
            <a:r>
              <a:rPr sz="1500" b="1" i="1" spc="-10" dirty="0">
                <a:solidFill>
                  <a:srgbClr val="FFFFFF"/>
                </a:solidFill>
                <a:latin typeface="Times New Roman"/>
                <a:cs typeface="Times New Roman"/>
              </a:rPr>
              <a:t>Project</a:t>
            </a:r>
            <a:endParaRPr sz="1500" dirty="0">
              <a:latin typeface="Times New Roman"/>
              <a:cs typeface="Times New Roman"/>
            </a:endParaRPr>
          </a:p>
        </p:txBody>
      </p:sp>
      <p:grpSp>
        <p:nvGrpSpPr>
          <p:cNvPr id="3" name="object 3">
            <a:extLst>
              <a:ext uri="{FF2B5EF4-FFF2-40B4-BE49-F238E27FC236}">
                <a16:creationId xmlns:a16="http://schemas.microsoft.com/office/drawing/2014/main" id="{D51D2803-0810-593D-EECC-456678213A92}"/>
              </a:ext>
            </a:extLst>
          </p:cNvPr>
          <p:cNvGrpSpPr/>
          <p:nvPr/>
        </p:nvGrpSpPr>
        <p:grpSpPr>
          <a:xfrm>
            <a:off x="0" y="216720"/>
            <a:ext cx="12192000" cy="803275"/>
            <a:chOff x="0" y="216720"/>
            <a:chExt cx="12192000" cy="803275"/>
          </a:xfrm>
        </p:grpSpPr>
        <p:pic>
          <p:nvPicPr>
            <p:cNvPr id="4" name="object 4">
              <a:extLst>
                <a:ext uri="{FF2B5EF4-FFF2-40B4-BE49-F238E27FC236}">
                  <a16:creationId xmlns:a16="http://schemas.microsoft.com/office/drawing/2014/main" id="{10540DED-20A7-C466-445F-1749F5CE933E}"/>
                </a:ext>
              </a:extLst>
            </p:cNvPr>
            <p:cNvPicPr/>
            <p:nvPr/>
          </p:nvPicPr>
          <p:blipFill>
            <a:blip r:embed="rId2" cstate="print"/>
            <a:stretch>
              <a:fillRect/>
            </a:stretch>
          </p:blipFill>
          <p:spPr>
            <a:xfrm>
              <a:off x="0" y="216720"/>
              <a:ext cx="12192000" cy="803160"/>
            </a:xfrm>
            <a:prstGeom prst="rect">
              <a:avLst/>
            </a:prstGeom>
          </p:spPr>
        </p:pic>
        <p:sp>
          <p:nvSpPr>
            <p:cNvPr id="5" name="object 5">
              <a:extLst>
                <a:ext uri="{FF2B5EF4-FFF2-40B4-BE49-F238E27FC236}">
                  <a16:creationId xmlns:a16="http://schemas.microsoft.com/office/drawing/2014/main" id="{D96BA489-369B-AF6C-AB1F-A3E1E5BE325C}"/>
                </a:ext>
              </a:extLst>
            </p:cNvPr>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41AD2DB5-2C01-BB91-99AB-0CB04AD22DED}"/>
              </a:ext>
            </a:extLst>
          </p:cNvPr>
          <p:cNvSpPr txBox="1">
            <a:spLocks noGrp="1"/>
          </p:cNvSpPr>
          <p:nvPr>
            <p:ph type="title"/>
          </p:nvPr>
        </p:nvSpPr>
        <p:spPr>
          <a:prstGeom prst="rect">
            <a:avLst/>
          </a:prstGeom>
        </p:spPr>
        <p:txBody>
          <a:bodyPr vert="horz" wrap="square" lIns="0" tIns="12700" rIns="0" bIns="0" rtlCol="0">
            <a:spAutoFit/>
          </a:bodyPr>
          <a:lstStyle/>
          <a:p>
            <a:pPr marL="152400">
              <a:lnSpc>
                <a:spcPct val="100000"/>
              </a:lnSpc>
              <a:spcBef>
                <a:spcPts val="100"/>
              </a:spcBef>
            </a:pPr>
            <a:r>
              <a:rPr lang="en-US" spc="-10" dirty="0"/>
              <a:t>Planning</a:t>
            </a:r>
            <a:endParaRPr spc="-10" dirty="0"/>
          </a:p>
        </p:txBody>
      </p:sp>
      <p:sp>
        <p:nvSpPr>
          <p:cNvPr id="9" name="object 9">
            <a:extLst>
              <a:ext uri="{FF2B5EF4-FFF2-40B4-BE49-F238E27FC236}">
                <a16:creationId xmlns:a16="http://schemas.microsoft.com/office/drawing/2014/main" id="{C7E665E1-21E5-DDEA-1F90-07E7942A23D0}"/>
              </a:ext>
            </a:extLst>
          </p:cNvPr>
          <p:cNvSpPr txBox="1">
            <a:spLocks noGrp="1"/>
          </p:cNvSpPr>
          <p:nvPr>
            <p:ph type="ftr" sz="quarter" idx="5"/>
          </p:nvPr>
        </p:nvSpPr>
        <p:spPr>
          <a:xfrm>
            <a:off x="149031" y="6629427"/>
            <a:ext cx="635000" cy="250825"/>
          </a:xfrm>
          <a:prstGeom prst="rect">
            <a:avLst/>
          </a:prstGeom>
        </p:spPr>
        <p:txBody>
          <a:bodyPr vert="horz" wrap="square" lIns="0" tIns="0" rIns="0" bIns="0" rtlCol="0">
            <a:spAutoFit/>
          </a:bodyPr>
          <a:lstStyle>
            <a:defPPr>
              <a:defRPr kern="0"/>
            </a:defPPr>
            <a:lvl1pPr>
              <a:defRPr sz="1600" b="0" i="0">
                <a:solidFill>
                  <a:schemeClr val="bg1"/>
                </a:solidFill>
                <a:latin typeface="Times New Roman"/>
                <a:cs typeface="Times New Roman"/>
              </a:defRPr>
            </a:lvl1pPr>
          </a:lstStyle>
          <a:p>
            <a:pPr marL="12700">
              <a:lnSpc>
                <a:spcPts val="1845"/>
              </a:lnSpc>
            </a:pPr>
            <a:r>
              <a:rPr lang="en-US"/>
              <a:t>A</a:t>
            </a:r>
            <a:r>
              <a:rPr lang="en-US" spc="-10"/>
              <a:t> </a:t>
            </a:r>
            <a:r>
              <a:rPr lang="en-US"/>
              <a:t>-</a:t>
            </a:r>
            <a:r>
              <a:rPr lang="en-US" spc="-5"/>
              <a:t> </a:t>
            </a:r>
            <a:r>
              <a:rPr lang="en-US" spc="-25"/>
              <a:t>XX</a:t>
            </a:r>
            <a:endParaRPr spc="-25" dirty="0"/>
          </a:p>
        </p:txBody>
      </p:sp>
      <p:sp>
        <p:nvSpPr>
          <p:cNvPr id="13" name="TextBox 12">
            <a:extLst>
              <a:ext uri="{FF2B5EF4-FFF2-40B4-BE49-F238E27FC236}">
                <a16:creationId xmlns:a16="http://schemas.microsoft.com/office/drawing/2014/main" id="{D5ED9B3F-69BA-C61D-E2B4-AE3D165EB388}"/>
              </a:ext>
            </a:extLst>
          </p:cNvPr>
          <p:cNvSpPr txBox="1"/>
          <p:nvPr/>
        </p:nvSpPr>
        <p:spPr>
          <a:xfrm>
            <a:off x="466531" y="1410242"/>
            <a:ext cx="10798369" cy="3737946"/>
          </a:xfrm>
          <a:prstGeom prst="rect">
            <a:avLst/>
          </a:prstGeom>
          <a:noFill/>
        </p:spPr>
        <p:txBody>
          <a:bodyPr wrap="square">
            <a:spAutoFit/>
          </a:bodyPr>
          <a:lstStyle/>
          <a:p>
            <a:pPr>
              <a:lnSpc>
                <a:spcPct val="150000"/>
              </a:lnSpc>
            </a:pPr>
            <a:r>
              <a:rPr lang="en-US" sz="2000" dirty="0"/>
              <a:t>The development of the system followed these stages:</a:t>
            </a:r>
          </a:p>
          <a:p>
            <a:pPr marL="457200" indent="-457200">
              <a:lnSpc>
                <a:spcPct val="150000"/>
              </a:lnSpc>
              <a:buFont typeface="+mj-lt"/>
              <a:buAutoNum type="arabicPeriod"/>
            </a:pPr>
            <a:r>
              <a:rPr lang="en-US" sz="2000" dirty="0"/>
              <a:t>Problem identification and requirement analysis</a:t>
            </a:r>
          </a:p>
          <a:p>
            <a:pPr marL="457200" indent="-457200">
              <a:lnSpc>
                <a:spcPct val="150000"/>
              </a:lnSpc>
              <a:buFont typeface="+mj-lt"/>
              <a:buAutoNum type="arabicPeriod"/>
            </a:pPr>
            <a:r>
              <a:rPr lang="en-US" sz="2000" dirty="0"/>
              <a:t>Dataset collection of tourism destinations</a:t>
            </a:r>
          </a:p>
          <a:p>
            <a:pPr marL="457200" indent="-457200">
              <a:lnSpc>
                <a:spcPct val="150000"/>
              </a:lnSpc>
              <a:buFont typeface="+mj-lt"/>
              <a:buAutoNum type="arabicPeriod"/>
            </a:pPr>
            <a:r>
              <a:rPr lang="en-US" sz="2000" dirty="0"/>
              <a:t>System design and architecture planning</a:t>
            </a:r>
          </a:p>
          <a:p>
            <a:pPr marL="457200" indent="-457200">
              <a:lnSpc>
                <a:spcPct val="150000"/>
              </a:lnSpc>
              <a:buFont typeface="+mj-lt"/>
              <a:buAutoNum type="arabicPeriod"/>
            </a:pPr>
            <a:r>
              <a:rPr lang="en-US" sz="2000" dirty="0"/>
              <a:t>Development of backend APIs and database</a:t>
            </a:r>
          </a:p>
          <a:p>
            <a:pPr marL="457200" indent="-457200">
              <a:lnSpc>
                <a:spcPct val="150000"/>
              </a:lnSpc>
              <a:buFont typeface="+mj-lt"/>
              <a:buAutoNum type="arabicPeriod"/>
            </a:pPr>
            <a:r>
              <a:rPr lang="en-US" sz="2000" dirty="0"/>
              <a:t>Development of frontend user interface</a:t>
            </a:r>
          </a:p>
          <a:p>
            <a:pPr marL="457200" indent="-457200">
              <a:lnSpc>
                <a:spcPct val="150000"/>
              </a:lnSpc>
              <a:buFont typeface="+mj-lt"/>
              <a:buAutoNum type="arabicPeriod"/>
            </a:pPr>
            <a:r>
              <a:rPr lang="en-US" sz="2000" dirty="0"/>
              <a:t>Integration of geospatial analysis and AI services</a:t>
            </a:r>
          </a:p>
          <a:p>
            <a:pPr marL="457200" indent="-457200">
              <a:lnSpc>
                <a:spcPct val="150000"/>
              </a:lnSpc>
              <a:buFont typeface="+mj-lt"/>
              <a:buAutoNum type="arabicPeriod"/>
            </a:pPr>
            <a:r>
              <a:rPr lang="en-US" sz="2000" dirty="0"/>
              <a:t>Testing and validation of system functionality</a:t>
            </a:r>
          </a:p>
        </p:txBody>
      </p:sp>
      <p:sp>
        <p:nvSpPr>
          <p:cNvPr id="8" name="Rectangle 7">
            <a:extLst>
              <a:ext uri="{FF2B5EF4-FFF2-40B4-BE49-F238E27FC236}">
                <a16:creationId xmlns:a16="http://schemas.microsoft.com/office/drawing/2014/main" id="{598151C4-C2F3-37E0-D47D-AB14467941EA}"/>
              </a:ext>
            </a:extLst>
          </p:cNvPr>
          <p:cNvSpPr/>
          <p:nvPr/>
        </p:nvSpPr>
        <p:spPr>
          <a:xfrm>
            <a:off x="3159890" y="26721"/>
            <a:ext cx="5632632" cy="190000"/>
          </a:xfrm>
          <a:prstGeom prst="rect">
            <a:avLst/>
          </a:prstGeom>
          <a:solidFill>
            <a:srgbClr val="00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i="1">
                <a:solidFill>
                  <a:schemeClr val="bg1"/>
                </a:solidFill>
                <a:latin typeface="Times New Roman" panose="02020603050405020304" pitchFamily="18" charset="0"/>
                <a:cs typeface="Times New Roman" panose="02020603050405020304" pitchFamily="18" charset="0"/>
              </a:rPr>
              <a:t>AI Enhanced Geospatial Tourism Recommendation System</a:t>
            </a:r>
            <a:endParaRPr lang="en-IN" i="1" dirty="0">
              <a:solidFill>
                <a:schemeClr val="bg1"/>
              </a:solidFill>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1AFE77A9-27A5-5286-2E2C-4202A4A99688}"/>
              </a:ext>
            </a:extLst>
          </p:cNvPr>
          <p:cNvSpPr/>
          <p:nvPr/>
        </p:nvSpPr>
        <p:spPr>
          <a:xfrm>
            <a:off x="170155" y="6675677"/>
            <a:ext cx="613876" cy="182323"/>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A9</a:t>
            </a:r>
            <a:endParaRPr lang="en-IN" dirty="0"/>
          </a:p>
        </p:txBody>
      </p:sp>
    </p:spTree>
    <p:extLst>
      <p:ext uri="{BB962C8B-B14F-4D97-AF65-F5344CB8AC3E}">
        <p14:creationId xmlns:p14="http://schemas.microsoft.com/office/powerpoint/2010/main" val="34404493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2E2F2-D984-82F9-A40D-08B2BCCE67B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1C7910A-F3F8-24C3-9C4D-C5C8DDE96746}"/>
              </a:ext>
            </a:extLst>
          </p:cNvPr>
          <p:cNvSpPr txBox="1"/>
          <p:nvPr/>
        </p:nvSpPr>
        <p:spPr>
          <a:xfrm>
            <a:off x="5350480" y="-18339"/>
            <a:ext cx="1488440" cy="254000"/>
          </a:xfrm>
          <a:prstGeom prst="rect">
            <a:avLst/>
          </a:prstGeom>
        </p:spPr>
        <p:txBody>
          <a:bodyPr vert="horz" wrap="square" lIns="0" tIns="12700" rIns="0" bIns="0" rtlCol="0">
            <a:spAutoFit/>
          </a:bodyPr>
          <a:lstStyle/>
          <a:p>
            <a:pPr marL="12700">
              <a:lnSpc>
                <a:spcPct val="100000"/>
              </a:lnSpc>
              <a:spcBef>
                <a:spcPts val="100"/>
              </a:spcBef>
            </a:pPr>
            <a:r>
              <a:rPr sz="1500" b="1" i="1" dirty="0">
                <a:solidFill>
                  <a:srgbClr val="FFFFFF"/>
                </a:solidFill>
                <a:latin typeface="Times New Roman"/>
                <a:cs typeface="Times New Roman"/>
              </a:rPr>
              <a:t>Title</a:t>
            </a:r>
            <a:r>
              <a:rPr sz="1500" b="1" i="1" spc="-20" dirty="0">
                <a:solidFill>
                  <a:srgbClr val="FFFFFF"/>
                </a:solidFill>
                <a:latin typeface="Times New Roman"/>
                <a:cs typeface="Times New Roman"/>
              </a:rPr>
              <a:t> </a:t>
            </a:r>
            <a:r>
              <a:rPr sz="1500" b="1" i="1" dirty="0">
                <a:solidFill>
                  <a:srgbClr val="FFFFFF"/>
                </a:solidFill>
                <a:latin typeface="Times New Roman"/>
                <a:cs typeface="Times New Roman"/>
              </a:rPr>
              <a:t>of</a:t>
            </a:r>
            <a:r>
              <a:rPr sz="1500" b="1" i="1" spc="-15" dirty="0">
                <a:solidFill>
                  <a:srgbClr val="FFFFFF"/>
                </a:solidFill>
                <a:latin typeface="Times New Roman"/>
                <a:cs typeface="Times New Roman"/>
              </a:rPr>
              <a:t> </a:t>
            </a:r>
            <a:r>
              <a:rPr sz="1500" b="1" i="1" dirty="0">
                <a:solidFill>
                  <a:srgbClr val="FFFFFF"/>
                </a:solidFill>
                <a:latin typeface="Times New Roman"/>
                <a:cs typeface="Times New Roman"/>
              </a:rPr>
              <a:t>the</a:t>
            </a:r>
            <a:r>
              <a:rPr sz="1500" b="1" i="1" spc="-20" dirty="0">
                <a:solidFill>
                  <a:srgbClr val="FFFFFF"/>
                </a:solidFill>
                <a:latin typeface="Times New Roman"/>
                <a:cs typeface="Times New Roman"/>
              </a:rPr>
              <a:t> </a:t>
            </a:r>
            <a:r>
              <a:rPr sz="1500" b="1" i="1" spc="-10" dirty="0">
                <a:solidFill>
                  <a:srgbClr val="FFFFFF"/>
                </a:solidFill>
                <a:latin typeface="Times New Roman"/>
                <a:cs typeface="Times New Roman"/>
              </a:rPr>
              <a:t>Project</a:t>
            </a:r>
            <a:endParaRPr sz="1500">
              <a:latin typeface="Times New Roman"/>
              <a:cs typeface="Times New Roman"/>
            </a:endParaRPr>
          </a:p>
        </p:txBody>
      </p:sp>
      <p:grpSp>
        <p:nvGrpSpPr>
          <p:cNvPr id="3" name="object 3">
            <a:extLst>
              <a:ext uri="{FF2B5EF4-FFF2-40B4-BE49-F238E27FC236}">
                <a16:creationId xmlns:a16="http://schemas.microsoft.com/office/drawing/2014/main" id="{05A23276-830F-1A5B-6941-8310DC7FDD37}"/>
              </a:ext>
            </a:extLst>
          </p:cNvPr>
          <p:cNvGrpSpPr/>
          <p:nvPr/>
        </p:nvGrpSpPr>
        <p:grpSpPr>
          <a:xfrm>
            <a:off x="0" y="216720"/>
            <a:ext cx="12192000" cy="803275"/>
            <a:chOff x="0" y="216720"/>
            <a:chExt cx="12192000" cy="803275"/>
          </a:xfrm>
        </p:grpSpPr>
        <p:pic>
          <p:nvPicPr>
            <p:cNvPr id="4" name="object 4">
              <a:extLst>
                <a:ext uri="{FF2B5EF4-FFF2-40B4-BE49-F238E27FC236}">
                  <a16:creationId xmlns:a16="http://schemas.microsoft.com/office/drawing/2014/main" id="{20A12D9A-4984-5257-1830-61FDB34A0E82}"/>
                </a:ext>
              </a:extLst>
            </p:cNvPr>
            <p:cNvPicPr/>
            <p:nvPr/>
          </p:nvPicPr>
          <p:blipFill>
            <a:blip r:embed="rId2" cstate="print"/>
            <a:stretch>
              <a:fillRect/>
            </a:stretch>
          </p:blipFill>
          <p:spPr>
            <a:xfrm>
              <a:off x="0" y="216720"/>
              <a:ext cx="12192000" cy="803160"/>
            </a:xfrm>
            <a:prstGeom prst="rect">
              <a:avLst/>
            </a:prstGeom>
          </p:spPr>
        </p:pic>
        <p:sp>
          <p:nvSpPr>
            <p:cNvPr id="5" name="object 5">
              <a:extLst>
                <a:ext uri="{FF2B5EF4-FFF2-40B4-BE49-F238E27FC236}">
                  <a16:creationId xmlns:a16="http://schemas.microsoft.com/office/drawing/2014/main" id="{9E0EC967-E6D7-EFE9-DF0C-AA423473866E}"/>
                </a:ext>
              </a:extLst>
            </p:cNvPr>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732E981F-75E4-7563-8FCC-FFD12192C9D0}"/>
              </a:ext>
            </a:extLst>
          </p:cNvPr>
          <p:cNvSpPr txBox="1">
            <a:spLocks noGrp="1"/>
          </p:cNvSpPr>
          <p:nvPr>
            <p:ph type="title"/>
          </p:nvPr>
        </p:nvSpPr>
        <p:spPr>
          <a:prstGeom prst="rect">
            <a:avLst/>
          </a:prstGeom>
        </p:spPr>
        <p:txBody>
          <a:bodyPr vert="horz" wrap="square" lIns="0" tIns="12700" rIns="0" bIns="0" rtlCol="0">
            <a:spAutoFit/>
          </a:bodyPr>
          <a:lstStyle/>
          <a:p>
            <a:pPr marL="152400">
              <a:lnSpc>
                <a:spcPct val="100000"/>
              </a:lnSpc>
              <a:spcBef>
                <a:spcPts val="100"/>
              </a:spcBef>
            </a:pPr>
            <a:r>
              <a:rPr lang="en-US" spc="-10" dirty="0"/>
              <a:t>System Architecture</a:t>
            </a:r>
            <a:endParaRPr spc="-10" dirty="0"/>
          </a:p>
        </p:txBody>
      </p:sp>
      <p:sp>
        <p:nvSpPr>
          <p:cNvPr id="9" name="object 9">
            <a:extLst>
              <a:ext uri="{FF2B5EF4-FFF2-40B4-BE49-F238E27FC236}">
                <a16:creationId xmlns:a16="http://schemas.microsoft.com/office/drawing/2014/main" id="{F70D9862-38B6-8B3B-EAB2-C640BC9E4DF7}"/>
              </a:ext>
            </a:extLst>
          </p:cNvPr>
          <p:cNvSpPr txBox="1">
            <a:spLocks noGrp="1"/>
          </p:cNvSpPr>
          <p:nvPr>
            <p:ph type="ftr" sz="quarter" idx="5"/>
          </p:nvPr>
        </p:nvSpPr>
        <p:spPr>
          <a:xfrm>
            <a:off x="149031" y="6629427"/>
            <a:ext cx="635000" cy="250825"/>
          </a:xfrm>
          <a:prstGeom prst="rect">
            <a:avLst/>
          </a:prstGeom>
        </p:spPr>
        <p:txBody>
          <a:bodyPr vert="horz" wrap="square" lIns="0" tIns="0" rIns="0" bIns="0" rtlCol="0">
            <a:spAutoFit/>
          </a:bodyPr>
          <a:lstStyle>
            <a:defPPr>
              <a:defRPr kern="0"/>
            </a:defPPr>
            <a:lvl1pPr>
              <a:defRPr sz="1600" b="0" i="0">
                <a:solidFill>
                  <a:schemeClr val="bg1"/>
                </a:solidFill>
                <a:latin typeface="Times New Roman"/>
                <a:cs typeface="Times New Roman"/>
              </a:defRPr>
            </a:lvl1pPr>
          </a:lstStyle>
          <a:p>
            <a:pPr marL="12700">
              <a:lnSpc>
                <a:spcPts val="1845"/>
              </a:lnSpc>
            </a:pPr>
            <a:r>
              <a:rPr lang="en-US"/>
              <a:t>A</a:t>
            </a:r>
            <a:r>
              <a:rPr lang="en-US" spc="-10"/>
              <a:t> </a:t>
            </a:r>
            <a:r>
              <a:rPr lang="en-US"/>
              <a:t>-</a:t>
            </a:r>
            <a:r>
              <a:rPr lang="en-US" spc="-5"/>
              <a:t> </a:t>
            </a:r>
            <a:r>
              <a:rPr lang="en-US" spc="-25"/>
              <a:t>XX</a:t>
            </a:r>
            <a:endParaRPr spc="-25" dirty="0"/>
          </a:p>
        </p:txBody>
      </p:sp>
      <p:pic>
        <p:nvPicPr>
          <p:cNvPr id="13" name="Picture 12">
            <a:extLst>
              <a:ext uri="{FF2B5EF4-FFF2-40B4-BE49-F238E27FC236}">
                <a16:creationId xmlns:a16="http://schemas.microsoft.com/office/drawing/2014/main" id="{9A6AE8D5-AB58-5A61-2AA2-1E754002D1BF}"/>
              </a:ext>
            </a:extLst>
          </p:cNvPr>
          <p:cNvPicPr>
            <a:picLocks noChangeAspect="1"/>
          </p:cNvPicPr>
          <p:nvPr/>
        </p:nvPicPr>
        <p:blipFill>
          <a:blip r:embed="rId3"/>
          <a:stretch>
            <a:fillRect/>
          </a:stretch>
        </p:blipFill>
        <p:spPr>
          <a:xfrm>
            <a:off x="2267339" y="1324947"/>
            <a:ext cx="6979298" cy="5085184"/>
          </a:xfrm>
          <a:prstGeom prst="rect">
            <a:avLst/>
          </a:prstGeom>
        </p:spPr>
      </p:pic>
      <p:sp>
        <p:nvSpPr>
          <p:cNvPr id="8" name="Rectangle 7">
            <a:extLst>
              <a:ext uri="{FF2B5EF4-FFF2-40B4-BE49-F238E27FC236}">
                <a16:creationId xmlns:a16="http://schemas.microsoft.com/office/drawing/2014/main" id="{54A8B348-48D9-007C-9BF6-A217D6369C21}"/>
              </a:ext>
            </a:extLst>
          </p:cNvPr>
          <p:cNvSpPr/>
          <p:nvPr/>
        </p:nvSpPr>
        <p:spPr>
          <a:xfrm>
            <a:off x="3159890" y="26720"/>
            <a:ext cx="5632632" cy="205759"/>
          </a:xfrm>
          <a:prstGeom prst="rect">
            <a:avLst/>
          </a:prstGeom>
          <a:solidFill>
            <a:srgbClr val="00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i="1">
                <a:solidFill>
                  <a:schemeClr val="bg1"/>
                </a:solidFill>
                <a:latin typeface="Times New Roman" panose="02020603050405020304" pitchFamily="18" charset="0"/>
                <a:cs typeface="Times New Roman" panose="02020603050405020304" pitchFamily="18" charset="0"/>
              </a:rPr>
              <a:t>AI Enhanced Geospatial Tourism Recommendation System</a:t>
            </a:r>
            <a:endParaRPr lang="en-IN" i="1" dirty="0">
              <a:solidFill>
                <a:schemeClr val="bg1"/>
              </a:solidFill>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B4DE531C-03B3-0A56-CFF0-C28C17F99083}"/>
              </a:ext>
            </a:extLst>
          </p:cNvPr>
          <p:cNvSpPr/>
          <p:nvPr/>
        </p:nvSpPr>
        <p:spPr>
          <a:xfrm>
            <a:off x="170155" y="6675677"/>
            <a:ext cx="613876" cy="182323"/>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A9</a:t>
            </a:r>
            <a:endParaRPr lang="en-IN" dirty="0"/>
          </a:p>
        </p:txBody>
      </p:sp>
    </p:spTree>
    <p:extLst>
      <p:ext uri="{BB962C8B-B14F-4D97-AF65-F5344CB8AC3E}">
        <p14:creationId xmlns:p14="http://schemas.microsoft.com/office/powerpoint/2010/main" val="2335829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0EB89-A86F-FC3D-5A6A-2DA06AEE84C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82829E4-B92D-3913-D543-172768989321}"/>
              </a:ext>
            </a:extLst>
          </p:cNvPr>
          <p:cNvSpPr txBox="1"/>
          <p:nvPr/>
        </p:nvSpPr>
        <p:spPr>
          <a:xfrm>
            <a:off x="5350480" y="-18339"/>
            <a:ext cx="1488440" cy="254000"/>
          </a:xfrm>
          <a:prstGeom prst="rect">
            <a:avLst/>
          </a:prstGeom>
        </p:spPr>
        <p:txBody>
          <a:bodyPr vert="horz" wrap="square" lIns="0" tIns="12700" rIns="0" bIns="0" rtlCol="0">
            <a:spAutoFit/>
          </a:bodyPr>
          <a:lstStyle/>
          <a:p>
            <a:pPr marL="12700">
              <a:lnSpc>
                <a:spcPct val="100000"/>
              </a:lnSpc>
              <a:spcBef>
                <a:spcPts val="100"/>
              </a:spcBef>
            </a:pPr>
            <a:r>
              <a:rPr sz="1500" b="1" i="1" dirty="0">
                <a:solidFill>
                  <a:srgbClr val="FFFFFF"/>
                </a:solidFill>
                <a:latin typeface="Times New Roman"/>
                <a:cs typeface="Times New Roman"/>
              </a:rPr>
              <a:t>Title</a:t>
            </a:r>
            <a:r>
              <a:rPr sz="1500" b="1" i="1" spc="-20" dirty="0">
                <a:solidFill>
                  <a:srgbClr val="FFFFFF"/>
                </a:solidFill>
                <a:latin typeface="Times New Roman"/>
                <a:cs typeface="Times New Roman"/>
              </a:rPr>
              <a:t> </a:t>
            </a:r>
            <a:r>
              <a:rPr sz="1500" b="1" i="1" dirty="0">
                <a:solidFill>
                  <a:srgbClr val="FFFFFF"/>
                </a:solidFill>
                <a:latin typeface="Times New Roman"/>
                <a:cs typeface="Times New Roman"/>
              </a:rPr>
              <a:t>of</a:t>
            </a:r>
            <a:r>
              <a:rPr sz="1500" b="1" i="1" spc="-15" dirty="0">
                <a:solidFill>
                  <a:srgbClr val="FFFFFF"/>
                </a:solidFill>
                <a:latin typeface="Times New Roman"/>
                <a:cs typeface="Times New Roman"/>
              </a:rPr>
              <a:t> </a:t>
            </a:r>
            <a:r>
              <a:rPr sz="1500" b="1" i="1" dirty="0">
                <a:solidFill>
                  <a:srgbClr val="FFFFFF"/>
                </a:solidFill>
                <a:latin typeface="Times New Roman"/>
                <a:cs typeface="Times New Roman"/>
              </a:rPr>
              <a:t>the</a:t>
            </a:r>
            <a:r>
              <a:rPr sz="1500" b="1" i="1" spc="-20" dirty="0">
                <a:solidFill>
                  <a:srgbClr val="FFFFFF"/>
                </a:solidFill>
                <a:latin typeface="Times New Roman"/>
                <a:cs typeface="Times New Roman"/>
              </a:rPr>
              <a:t> </a:t>
            </a:r>
            <a:r>
              <a:rPr sz="1500" b="1" i="1" spc="-10" dirty="0">
                <a:solidFill>
                  <a:srgbClr val="FFFFFF"/>
                </a:solidFill>
                <a:latin typeface="Times New Roman"/>
                <a:cs typeface="Times New Roman"/>
              </a:rPr>
              <a:t>Project</a:t>
            </a:r>
            <a:endParaRPr sz="1500" dirty="0">
              <a:latin typeface="Times New Roman"/>
              <a:cs typeface="Times New Roman"/>
            </a:endParaRPr>
          </a:p>
        </p:txBody>
      </p:sp>
      <p:grpSp>
        <p:nvGrpSpPr>
          <p:cNvPr id="3" name="object 3">
            <a:extLst>
              <a:ext uri="{FF2B5EF4-FFF2-40B4-BE49-F238E27FC236}">
                <a16:creationId xmlns:a16="http://schemas.microsoft.com/office/drawing/2014/main" id="{7B786299-24D1-22EF-791E-DD7839ADEF1E}"/>
              </a:ext>
            </a:extLst>
          </p:cNvPr>
          <p:cNvGrpSpPr/>
          <p:nvPr/>
        </p:nvGrpSpPr>
        <p:grpSpPr>
          <a:xfrm>
            <a:off x="0" y="216720"/>
            <a:ext cx="12192000" cy="803275"/>
            <a:chOff x="0" y="216720"/>
            <a:chExt cx="12192000" cy="803275"/>
          </a:xfrm>
        </p:grpSpPr>
        <p:pic>
          <p:nvPicPr>
            <p:cNvPr id="4" name="object 4">
              <a:extLst>
                <a:ext uri="{FF2B5EF4-FFF2-40B4-BE49-F238E27FC236}">
                  <a16:creationId xmlns:a16="http://schemas.microsoft.com/office/drawing/2014/main" id="{F213F7A2-B79E-D452-F8E6-8A6590F3FFFE}"/>
                </a:ext>
              </a:extLst>
            </p:cNvPr>
            <p:cNvPicPr/>
            <p:nvPr/>
          </p:nvPicPr>
          <p:blipFill>
            <a:blip r:embed="rId2" cstate="print"/>
            <a:stretch>
              <a:fillRect/>
            </a:stretch>
          </p:blipFill>
          <p:spPr>
            <a:xfrm>
              <a:off x="0" y="216720"/>
              <a:ext cx="12192000" cy="803160"/>
            </a:xfrm>
            <a:prstGeom prst="rect">
              <a:avLst/>
            </a:prstGeom>
          </p:spPr>
        </p:pic>
        <p:sp>
          <p:nvSpPr>
            <p:cNvPr id="5" name="object 5">
              <a:extLst>
                <a:ext uri="{FF2B5EF4-FFF2-40B4-BE49-F238E27FC236}">
                  <a16:creationId xmlns:a16="http://schemas.microsoft.com/office/drawing/2014/main" id="{5FDC9FEA-FFFB-6779-6C45-97CBA07F5E99}"/>
                </a:ext>
              </a:extLst>
            </p:cNvPr>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6B72DFCA-D55E-9BA9-EC93-A0C2690617DB}"/>
              </a:ext>
            </a:extLst>
          </p:cNvPr>
          <p:cNvSpPr txBox="1">
            <a:spLocks noGrp="1"/>
          </p:cNvSpPr>
          <p:nvPr>
            <p:ph type="title"/>
          </p:nvPr>
        </p:nvSpPr>
        <p:spPr>
          <a:prstGeom prst="rect">
            <a:avLst/>
          </a:prstGeom>
        </p:spPr>
        <p:txBody>
          <a:bodyPr vert="horz" wrap="square" lIns="0" tIns="12700" rIns="0" bIns="0" rtlCol="0">
            <a:spAutoFit/>
          </a:bodyPr>
          <a:lstStyle/>
          <a:p>
            <a:pPr marL="152400">
              <a:lnSpc>
                <a:spcPct val="100000"/>
              </a:lnSpc>
              <a:spcBef>
                <a:spcPts val="100"/>
              </a:spcBef>
            </a:pPr>
            <a:r>
              <a:rPr lang="en-US" spc="-10" dirty="0" err="1"/>
              <a:t>Usecase</a:t>
            </a:r>
            <a:r>
              <a:rPr lang="en-US" spc="-10" dirty="0"/>
              <a:t> Diagram</a:t>
            </a:r>
            <a:endParaRPr spc="-10" dirty="0"/>
          </a:p>
        </p:txBody>
      </p:sp>
      <p:sp>
        <p:nvSpPr>
          <p:cNvPr id="9" name="object 9">
            <a:extLst>
              <a:ext uri="{FF2B5EF4-FFF2-40B4-BE49-F238E27FC236}">
                <a16:creationId xmlns:a16="http://schemas.microsoft.com/office/drawing/2014/main" id="{279981FC-5E69-9D21-B1FC-5959A8B3D39E}"/>
              </a:ext>
            </a:extLst>
          </p:cNvPr>
          <p:cNvSpPr txBox="1">
            <a:spLocks noGrp="1"/>
          </p:cNvSpPr>
          <p:nvPr>
            <p:ph type="ftr" sz="quarter" idx="5"/>
          </p:nvPr>
        </p:nvSpPr>
        <p:spPr>
          <a:xfrm>
            <a:off x="149031" y="6629427"/>
            <a:ext cx="635000" cy="250825"/>
          </a:xfrm>
          <a:prstGeom prst="rect">
            <a:avLst/>
          </a:prstGeom>
        </p:spPr>
        <p:txBody>
          <a:bodyPr vert="horz" wrap="square" lIns="0" tIns="0" rIns="0" bIns="0" rtlCol="0">
            <a:spAutoFit/>
          </a:bodyPr>
          <a:lstStyle>
            <a:defPPr>
              <a:defRPr kern="0"/>
            </a:defPPr>
            <a:lvl1pPr>
              <a:defRPr sz="1600" b="0" i="0">
                <a:solidFill>
                  <a:schemeClr val="bg1"/>
                </a:solidFill>
                <a:latin typeface="Times New Roman"/>
                <a:cs typeface="Times New Roman"/>
              </a:defRPr>
            </a:lvl1pPr>
          </a:lstStyle>
          <a:p>
            <a:pPr marL="12700">
              <a:lnSpc>
                <a:spcPts val="1845"/>
              </a:lnSpc>
            </a:pPr>
            <a:r>
              <a:rPr lang="en-US"/>
              <a:t>A</a:t>
            </a:r>
            <a:r>
              <a:rPr lang="en-US" spc="-10"/>
              <a:t> </a:t>
            </a:r>
            <a:r>
              <a:rPr lang="en-US"/>
              <a:t>-</a:t>
            </a:r>
            <a:r>
              <a:rPr lang="en-US" spc="-5"/>
              <a:t> </a:t>
            </a:r>
            <a:r>
              <a:rPr lang="en-US" spc="-25"/>
              <a:t>XX</a:t>
            </a:r>
            <a:endParaRPr spc="-25" dirty="0"/>
          </a:p>
        </p:txBody>
      </p:sp>
      <p:pic>
        <p:nvPicPr>
          <p:cNvPr id="13" name="Picture 12">
            <a:extLst>
              <a:ext uri="{FF2B5EF4-FFF2-40B4-BE49-F238E27FC236}">
                <a16:creationId xmlns:a16="http://schemas.microsoft.com/office/drawing/2014/main" id="{63AF6FEF-97F1-066F-0324-CC90F029FCA7}"/>
              </a:ext>
            </a:extLst>
          </p:cNvPr>
          <p:cNvPicPr>
            <a:picLocks noChangeAspect="1"/>
          </p:cNvPicPr>
          <p:nvPr/>
        </p:nvPicPr>
        <p:blipFill>
          <a:blip r:embed="rId3"/>
          <a:stretch>
            <a:fillRect/>
          </a:stretch>
        </p:blipFill>
        <p:spPr>
          <a:xfrm>
            <a:off x="3163078" y="1324947"/>
            <a:ext cx="5952929" cy="4795935"/>
          </a:xfrm>
          <a:prstGeom prst="rect">
            <a:avLst/>
          </a:prstGeom>
        </p:spPr>
      </p:pic>
      <p:sp>
        <p:nvSpPr>
          <p:cNvPr id="8" name="Rectangle 7">
            <a:extLst>
              <a:ext uri="{FF2B5EF4-FFF2-40B4-BE49-F238E27FC236}">
                <a16:creationId xmlns:a16="http://schemas.microsoft.com/office/drawing/2014/main" id="{D1BA4036-09EB-6349-6F3C-70938270CABF}"/>
              </a:ext>
            </a:extLst>
          </p:cNvPr>
          <p:cNvSpPr/>
          <p:nvPr/>
        </p:nvSpPr>
        <p:spPr>
          <a:xfrm>
            <a:off x="3159890" y="26720"/>
            <a:ext cx="5632632" cy="206039"/>
          </a:xfrm>
          <a:prstGeom prst="rect">
            <a:avLst/>
          </a:prstGeom>
          <a:solidFill>
            <a:srgbClr val="00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i="1">
                <a:solidFill>
                  <a:schemeClr val="bg1"/>
                </a:solidFill>
                <a:latin typeface="Times New Roman" panose="02020603050405020304" pitchFamily="18" charset="0"/>
                <a:cs typeface="Times New Roman" panose="02020603050405020304" pitchFamily="18" charset="0"/>
              </a:rPr>
              <a:t>AI Enhanced Geospatial Tourism Recommendation System</a:t>
            </a:r>
            <a:endParaRPr lang="en-IN" i="1" dirty="0">
              <a:solidFill>
                <a:schemeClr val="bg1"/>
              </a:solidFill>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7E886298-6EE1-0B7B-4479-47B8D0333129}"/>
              </a:ext>
            </a:extLst>
          </p:cNvPr>
          <p:cNvSpPr/>
          <p:nvPr/>
        </p:nvSpPr>
        <p:spPr>
          <a:xfrm>
            <a:off x="170155" y="6675677"/>
            <a:ext cx="613876" cy="182323"/>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A9</a:t>
            </a:r>
            <a:endParaRPr lang="en-IN" dirty="0"/>
          </a:p>
        </p:txBody>
      </p:sp>
    </p:spTree>
    <p:extLst>
      <p:ext uri="{BB962C8B-B14F-4D97-AF65-F5344CB8AC3E}">
        <p14:creationId xmlns:p14="http://schemas.microsoft.com/office/powerpoint/2010/main" val="2559559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305AD-F00C-7DDD-5391-6FFFF2AD80D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B1339E9-05B9-2685-B46C-282C4D330C98}"/>
              </a:ext>
            </a:extLst>
          </p:cNvPr>
          <p:cNvSpPr txBox="1"/>
          <p:nvPr/>
        </p:nvSpPr>
        <p:spPr>
          <a:xfrm>
            <a:off x="5350480" y="-18339"/>
            <a:ext cx="1488440" cy="254000"/>
          </a:xfrm>
          <a:prstGeom prst="rect">
            <a:avLst/>
          </a:prstGeom>
        </p:spPr>
        <p:txBody>
          <a:bodyPr vert="horz" wrap="square" lIns="0" tIns="12700" rIns="0" bIns="0" rtlCol="0">
            <a:spAutoFit/>
          </a:bodyPr>
          <a:lstStyle/>
          <a:p>
            <a:pPr marL="12700">
              <a:lnSpc>
                <a:spcPct val="100000"/>
              </a:lnSpc>
              <a:spcBef>
                <a:spcPts val="100"/>
              </a:spcBef>
            </a:pPr>
            <a:r>
              <a:rPr sz="1500" b="1" i="1" dirty="0">
                <a:solidFill>
                  <a:srgbClr val="FFFFFF"/>
                </a:solidFill>
                <a:latin typeface="Times New Roman"/>
                <a:cs typeface="Times New Roman"/>
              </a:rPr>
              <a:t>Title</a:t>
            </a:r>
            <a:r>
              <a:rPr sz="1500" b="1" i="1" spc="-20" dirty="0">
                <a:solidFill>
                  <a:srgbClr val="FFFFFF"/>
                </a:solidFill>
                <a:latin typeface="Times New Roman"/>
                <a:cs typeface="Times New Roman"/>
              </a:rPr>
              <a:t> </a:t>
            </a:r>
            <a:r>
              <a:rPr sz="1500" b="1" i="1" dirty="0">
                <a:solidFill>
                  <a:srgbClr val="FFFFFF"/>
                </a:solidFill>
                <a:latin typeface="Times New Roman"/>
                <a:cs typeface="Times New Roman"/>
              </a:rPr>
              <a:t>of</a:t>
            </a:r>
            <a:r>
              <a:rPr sz="1500" b="1" i="1" spc="-15" dirty="0">
                <a:solidFill>
                  <a:srgbClr val="FFFFFF"/>
                </a:solidFill>
                <a:latin typeface="Times New Roman"/>
                <a:cs typeface="Times New Roman"/>
              </a:rPr>
              <a:t> </a:t>
            </a:r>
            <a:r>
              <a:rPr sz="1500" b="1" i="1" dirty="0">
                <a:solidFill>
                  <a:srgbClr val="FFFFFF"/>
                </a:solidFill>
                <a:latin typeface="Times New Roman"/>
                <a:cs typeface="Times New Roman"/>
              </a:rPr>
              <a:t>the</a:t>
            </a:r>
            <a:r>
              <a:rPr sz="1500" b="1" i="1" spc="-20" dirty="0">
                <a:solidFill>
                  <a:srgbClr val="FFFFFF"/>
                </a:solidFill>
                <a:latin typeface="Times New Roman"/>
                <a:cs typeface="Times New Roman"/>
              </a:rPr>
              <a:t> </a:t>
            </a:r>
            <a:r>
              <a:rPr sz="1500" b="1" i="1" spc="-10" dirty="0">
                <a:solidFill>
                  <a:srgbClr val="FFFFFF"/>
                </a:solidFill>
                <a:latin typeface="Times New Roman"/>
                <a:cs typeface="Times New Roman"/>
              </a:rPr>
              <a:t>Project</a:t>
            </a:r>
            <a:endParaRPr sz="1500">
              <a:latin typeface="Times New Roman"/>
              <a:cs typeface="Times New Roman"/>
            </a:endParaRPr>
          </a:p>
        </p:txBody>
      </p:sp>
      <p:grpSp>
        <p:nvGrpSpPr>
          <p:cNvPr id="3" name="object 3">
            <a:extLst>
              <a:ext uri="{FF2B5EF4-FFF2-40B4-BE49-F238E27FC236}">
                <a16:creationId xmlns:a16="http://schemas.microsoft.com/office/drawing/2014/main" id="{1097EABD-6EAA-2596-6CD0-706A126D05E7}"/>
              </a:ext>
            </a:extLst>
          </p:cNvPr>
          <p:cNvGrpSpPr/>
          <p:nvPr/>
        </p:nvGrpSpPr>
        <p:grpSpPr>
          <a:xfrm>
            <a:off x="0" y="216720"/>
            <a:ext cx="12192000" cy="803275"/>
            <a:chOff x="0" y="216720"/>
            <a:chExt cx="12192000" cy="803275"/>
          </a:xfrm>
        </p:grpSpPr>
        <p:pic>
          <p:nvPicPr>
            <p:cNvPr id="4" name="object 4">
              <a:extLst>
                <a:ext uri="{FF2B5EF4-FFF2-40B4-BE49-F238E27FC236}">
                  <a16:creationId xmlns:a16="http://schemas.microsoft.com/office/drawing/2014/main" id="{7EA5261B-12AE-58C9-516C-5F30712C8A48}"/>
                </a:ext>
              </a:extLst>
            </p:cNvPr>
            <p:cNvPicPr/>
            <p:nvPr/>
          </p:nvPicPr>
          <p:blipFill>
            <a:blip r:embed="rId2" cstate="print"/>
            <a:stretch>
              <a:fillRect/>
            </a:stretch>
          </p:blipFill>
          <p:spPr>
            <a:xfrm>
              <a:off x="0" y="216720"/>
              <a:ext cx="12192000" cy="803160"/>
            </a:xfrm>
            <a:prstGeom prst="rect">
              <a:avLst/>
            </a:prstGeom>
          </p:spPr>
        </p:pic>
        <p:sp>
          <p:nvSpPr>
            <p:cNvPr id="5" name="object 5">
              <a:extLst>
                <a:ext uri="{FF2B5EF4-FFF2-40B4-BE49-F238E27FC236}">
                  <a16:creationId xmlns:a16="http://schemas.microsoft.com/office/drawing/2014/main" id="{113DC4E7-9E27-6752-BCDC-4B7B97F39F65}"/>
                </a:ext>
              </a:extLst>
            </p:cNvPr>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FBF9C133-C714-50ED-D7B1-633CF68CE8FB}"/>
              </a:ext>
            </a:extLst>
          </p:cNvPr>
          <p:cNvSpPr txBox="1">
            <a:spLocks noGrp="1"/>
          </p:cNvSpPr>
          <p:nvPr>
            <p:ph type="title"/>
          </p:nvPr>
        </p:nvSpPr>
        <p:spPr>
          <a:prstGeom prst="rect">
            <a:avLst/>
          </a:prstGeom>
        </p:spPr>
        <p:txBody>
          <a:bodyPr vert="horz" wrap="square" lIns="0" tIns="12700" rIns="0" bIns="0" rtlCol="0">
            <a:spAutoFit/>
          </a:bodyPr>
          <a:lstStyle/>
          <a:p>
            <a:pPr marL="152400">
              <a:lnSpc>
                <a:spcPct val="100000"/>
              </a:lnSpc>
              <a:spcBef>
                <a:spcPts val="100"/>
              </a:spcBef>
            </a:pPr>
            <a:r>
              <a:rPr lang="en-US" spc="-10" dirty="0"/>
              <a:t>Sequence Diagram</a:t>
            </a:r>
            <a:endParaRPr spc="-10" dirty="0"/>
          </a:p>
        </p:txBody>
      </p:sp>
      <p:sp>
        <p:nvSpPr>
          <p:cNvPr id="9" name="object 9">
            <a:extLst>
              <a:ext uri="{FF2B5EF4-FFF2-40B4-BE49-F238E27FC236}">
                <a16:creationId xmlns:a16="http://schemas.microsoft.com/office/drawing/2014/main" id="{07BF38AB-D723-04D4-3ACF-A031F66E9A40}"/>
              </a:ext>
            </a:extLst>
          </p:cNvPr>
          <p:cNvSpPr txBox="1">
            <a:spLocks noGrp="1"/>
          </p:cNvSpPr>
          <p:nvPr>
            <p:ph type="ftr" sz="quarter" idx="5"/>
          </p:nvPr>
        </p:nvSpPr>
        <p:spPr>
          <a:xfrm>
            <a:off x="149031" y="6629427"/>
            <a:ext cx="635000" cy="250825"/>
          </a:xfrm>
          <a:prstGeom prst="rect">
            <a:avLst/>
          </a:prstGeom>
        </p:spPr>
        <p:txBody>
          <a:bodyPr vert="horz" wrap="square" lIns="0" tIns="0" rIns="0" bIns="0" rtlCol="0">
            <a:spAutoFit/>
          </a:bodyPr>
          <a:lstStyle>
            <a:defPPr>
              <a:defRPr kern="0"/>
            </a:defPPr>
            <a:lvl1pPr>
              <a:defRPr sz="1600" b="0" i="0">
                <a:solidFill>
                  <a:schemeClr val="bg1"/>
                </a:solidFill>
                <a:latin typeface="Times New Roman"/>
                <a:cs typeface="Times New Roman"/>
              </a:defRPr>
            </a:lvl1pPr>
          </a:lstStyle>
          <a:p>
            <a:pPr marL="12700">
              <a:lnSpc>
                <a:spcPts val="1845"/>
              </a:lnSpc>
            </a:pPr>
            <a:r>
              <a:rPr lang="en-US"/>
              <a:t>A</a:t>
            </a:r>
            <a:r>
              <a:rPr lang="en-US" spc="-10"/>
              <a:t> </a:t>
            </a:r>
            <a:r>
              <a:rPr lang="en-US"/>
              <a:t>-</a:t>
            </a:r>
            <a:r>
              <a:rPr lang="en-US" spc="-5"/>
              <a:t> </a:t>
            </a:r>
            <a:r>
              <a:rPr lang="en-US" spc="-25"/>
              <a:t>XX</a:t>
            </a:r>
            <a:endParaRPr spc="-25" dirty="0"/>
          </a:p>
        </p:txBody>
      </p:sp>
      <p:pic>
        <p:nvPicPr>
          <p:cNvPr id="13" name="Picture 12">
            <a:extLst>
              <a:ext uri="{FF2B5EF4-FFF2-40B4-BE49-F238E27FC236}">
                <a16:creationId xmlns:a16="http://schemas.microsoft.com/office/drawing/2014/main" id="{828CE834-5708-DE05-2C9F-15FB2B4278EA}"/>
              </a:ext>
            </a:extLst>
          </p:cNvPr>
          <p:cNvPicPr>
            <a:picLocks noChangeAspect="1"/>
          </p:cNvPicPr>
          <p:nvPr/>
        </p:nvPicPr>
        <p:blipFill>
          <a:blip r:embed="rId3"/>
          <a:stretch>
            <a:fillRect/>
          </a:stretch>
        </p:blipFill>
        <p:spPr>
          <a:xfrm>
            <a:off x="2752531" y="1483568"/>
            <a:ext cx="6260840" cy="4683968"/>
          </a:xfrm>
          <a:prstGeom prst="rect">
            <a:avLst/>
          </a:prstGeom>
        </p:spPr>
      </p:pic>
      <p:sp>
        <p:nvSpPr>
          <p:cNvPr id="8" name="Rectangle 7">
            <a:extLst>
              <a:ext uri="{FF2B5EF4-FFF2-40B4-BE49-F238E27FC236}">
                <a16:creationId xmlns:a16="http://schemas.microsoft.com/office/drawing/2014/main" id="{4C61E73D-E48A-55C7-0103-871E4BE4370C}"/>
              </a:ext>
            </a:extLst>
          </p:cNvPr>
          <p:cNvSpPr/>
          <p:nvPr/>
        </p:nvSpPr>
        <p:spPr>
          <a:xfrm>
            <a:off x="3159890" y="26721"/>
            <a:ext cx="5632632" cy="205760"/>
          </a:xfrm>
          <a:prstGeom prst="rect">
            <a:avLst/>
          </a:prstGeom>
          <a:solidFill>
            <a:srgbClr val="00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i="1">
                <a:solidFill>
                  <a:schemeClr val="bg1"/>
                </a:solidFill>
                <a:latin typeface="Times New Roman" panose="02020603050405020304" pitchFamily="18" charset="0"/>
                <a:cs typeface="Times New Roman" panose="02020603050405020304" pitchFamily="18" charset="0"/>
              </a:rPr>
              <a:t>AI Enhanced Geospatial Tourism Recommendation System</a:t>
            </a:r>
            <a:endParaRPr lang="en-IN" i="1" dirty="0">
              <a:solidFill>
                <a:schemeClr val="bg1"/>
              </a:solidFill>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5DD3DD24-97C3-C46B-CAEA-5E6F7A5DBE5B}"/>
              </a:ext>
            </a:extLst>
          </p:cNvPr>
          <p:cNvSpPr/>
          <p:nvPr/>
        </p:nvSpPr>
        <p:spPr>
          <a:xfrm>
            <a:off x="170155" y="6675677"/>
            <a:ext cx="613876" cy="182323"/>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A9</a:t>
            </a:r>
            <a:endParaRPr lang="en-IN" dirty="0"/>
          </a:p>
        </p:txBody>
      </p:sp>
    </p:spTree>
    <p:extLst>
      <p:ext uri="{BB962C8B-B14F-4D97-AF65-F5344CB8AC3E}">
        <p14:creationId xmlns:p14="http://schemas.microsoft.com/office/powerpoint/2010/main" val="9044945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253C3-CAA8-103E-827A-AC3D4A92E0B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A8FA237-644D-7EF0-C0DD-1195C30BA9C8}"/>
              </a:ext>
            </a:extLst>
          </p:cNvPr>
          <p:cNvSpPr txBox="1"/>
          <p:nvPr/>
        </p:nvSpPr>
        <p:spPr>
          <a:xfrm>
            <a:off x="5350480" y="-18339"/>
            <a:ext cx="1488440" cy="254000"/>
          </a:xfrm>
          <a:prstGeom prst="rect">
            <a:avLst/>
          </a:prstGeom>
        </p:spPr>
        <p:txBody>
          <a:bodyPr vert="horz" wrap="square" lIns="0" tIns="12700" rIns="0" bIns="0" rtlCol="0">
            <a:spAutoFit/>
          </a:bodyPr>
          <a:lstStyle/>
          <a:p>
            <a:pPr marL="12700">
              <a:lnSpc>
                <a:spcPct val="100000"/>
              </a:lnSpc>
              <a:spcBef>
                <a:spcPts val="100"/>
              </a:spcBef>
            </a:pPr>
            <a:r>
              <a:rPr sz="1500" b="1" i="1" dirty="0">
                <a:solidFill>
                  <a:srgbClr val="FFFFFF"/>
                </a:solidFill>
                <a:latin typeface="Times New Roman"/>
                <a:cs typeface="Times New Roman"/>
              </a:rPr>
              <a:t>Title</a:t>
            </a:r>
            <a:r>
              <a:rPr sz="1500" b="1" i="1" spc="-20" dirty="0">
                <a:solidFill>
                  <a:srgbClr val="FFFFFF"/>
                </a:solidFill>
                <a:latin typeface="Times New Roman"/>
                <a:cs typeface="Times New Roman"/>
              </a:rPr>
              <a:t> </a:t>
            </a:r>
            <a:r>
              <a:rPr sz="1500" b="1" i="1" dirty="0">
                <a:solidFill>
                  <a:srgbClr val="FFFFFF"/>
                </a:solidFill>
                <a:latin typeface="Times New Roman"/>
                <a:cs typeface="Times New Roman"/>
              </a:rPr>
              <a:t>of</a:t>
            </a:r>
            <a:r>
              <a:rPr sz="1500" b="1" i="1" spc="-15" dirty="0">
                <a:solidFill>
                  <a:srgbClr val="FFFFFF"/>
                </a:solidFill>
                <a:latin typeface="Times New Roman"/>
                <a:cs typeface="Times New Roman"/>
              </a:rPr>
              <a:t> </a:t>
            </a:r>
            <a:r>
              <a:rPr sz="1500" b="1" i="1" dirty="0">
                <a:solidFill>
                  <a:srgbClr val="FFFFFF"/>
                </a:solidFill>
                <a:latin typeface="Times New Roman"/>
                <a:cs typeface="Times New Roman"/>
              </a:rPr>
              <a:t>the</a:t>
            </a:r>
            <a:r>
              <a:rPr sz="1500" b="1" i="1" spc="-20" dirty="0">
                <a:solidFill>
                  <a:srgbClr val="FFFFFF"/>
                </a:solidFill>
                <a:latin typeface="Times New Roman"/>
                <a:cs typeface="Times New Roman"/>
              </a:rPr>
              <a:t> </a:t>
            </a:r>
            <a:r>
              <a:rPr sz="1500" b="1" i="1" spc="-10" dirty="0">
                <a:solidFill>
                  <a:srgbClr val="FFFFFF"/>
                </a:solidFill>
                <a:latin typeface="Times New Roman"/>
                <a:cs typeface="Times New Roman"/>
              </a:rPr>
              <a:t>Project</a:t>
            </a:r>
            <a:endParaRPr sz="1500">
              <a:latin typeface="Times New Roman"/>
              <a:cs typeface="Times New Roman"/>
            </a:endParaRPr>
          </a:p>
        </p:txBody>
      </p:sp>
      <p:grpSp>
        <p:nvGrpSpPr>
          <p:cNvPr id="3" name="object 3">
            <a:extLst>
              <a:ext uri="{FF2B5EF4-FFF2-40B4-BE49-F238E27FC236}">
                <a16:creationId xmlns:a16="http://schemas.microsoft.com/office/drawing/2014/main" id="{7179148B-2C39-9A14-7E8A-F2E0E571219F}"/>
              </a:ext>
            </a:extLst>
          </p:cNvPr>
          <p:cNvGrpSpPr/>
          <p:nvPr/>
        </p:nvGrpSpPr>
        <p:grpSpPr>
          <a:xfrm>
            <a:off x="0" y="216720"/>
            <a:ext cx="12192000" cy="803275"/>
            <a:chOff x="0" y="216720"/>
            <a:chExt cx="12192000" cy="803275"/>
          </a:xfrm>
        </p:grpSpPr>
        <p:pic>
          <p:nvPicPr>
            <p:cNvPr id="4" name="object 4">
              <a:extLst>
                <a:ext uri="{FF2B5EF4-FFF2-40B4-BE49-F238E27FC236}">
                  <a16:creationId xmlns:a16="http://schemas.microsoft.com/office/drawing/2014/main" id="{DCE2B080-50DB-330E-DDE4-B10BDF9D2799}"/>
                </a:ext>
              </a:extLst>
            </p:cNvPr>
            <p:cNvPicPr/>
            <p:nvPr/>
          </p:nvPicPr>
          <p:blipFill>
            <a:blip r:embed="rId2" cstate="print"/>
            <a:stretch>
              <a:fillRect/>
            </a:stretch>
          </p:blipFill>
          <p:spPr>
            <a:xfrm>
              <a:off x="0" y="216720"/>
              <a:ext cx="12192000" cy="803160"/>
            </a:xfrm>
            <a:prstGeom prst="rect">
              <a:avLst/>
            </a:prstGeom>
          </p:spPr>
        </p:pic>
        <p:sp>
          <p:nvSpPr>
            <p:cNvPr id="5" name="object 5">
              <a:extLst>
                <a:ext uri="{FF2B5EF4-FFF2-40B4-BE49-F238E27FC236}">
                  <a16:creationId xmlns:a16="http://schemas.microsoft.com/office/drawing/2014/main" id="{8EFC4E3F-BE8A-E96A-06E0-063CF522AB02}"/>
                </a:ext>
              </a:extLst>
            </p:cNvPr>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53709A97-D1F9-8D3A-BF62-4C52E5D8A178}"/>
              </a:ext>
            </a:extLst>
          </p:cNvPr>
          <p:cNvSpPr txBox="1">
            <a:spLocks noGrp="1"/>
          </p:cNvSpPr>
          <p:nvPr>
            <p:ph type="title"/>
          </p:nvPr>
        </p:nvSpPr>
        <p:spPr>
          <a:prstGeom prst="rect">
            <a:avLst/>
          </a:prstGeom>
        </p:spPr>
        <p:txBody>
          <a:bodyPr vert="horz" wrap="square" lIns="0" tIns="12700" rIns="0" bIns="0" rtlCol="0">
            <a:spAutoFit/>
          </a:bodyPr>
          <a:lstStyle/>
          <a:p>
            <a:pPr marL="152400">
              <a:lnSpc>
                <a:spcPct val="100000"/>
              </a:lnSpc>
              <a:spcBef>
                <a:spcPts val="100"/>
              </a:spcBef>
            </a:pPr>
            <a:r>
              <a:rPr lang="en-US" spc="-10" dirty="0"/>
              <a:t>Activity Diagram</a:t>
            </a:r>
            <a:endParaRPr spc="-10" dirty="0"/>
          </a:p>
        </p:txBody>
      </p:sp>
      <p:sp>
        <p:nvSpPr>
          <p:cNvPr id="9" name="object 9">
            <a:extLst>
              <a:ext uri="{FF2B5EF4-FFF2-40B4-BE49-F238E27FC236}">
                <a16:creationId xmlns:a16="http://schemas.microsoft.com/office/drawing/2014/main" id="{A391E1D1-9575-2012-9B63-65EFCCB9E846}"/>
              </a:ext>
            </a:extLst>
          </p:cNvPr>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defPPr>
              <a:defRPr kern="0"/>
            </a:defPPr>
            <a:lvl1pPr>
              <a:defRPr sz="1600" b="0" i="0">
                <a:solidFill>
                  <a:schemeClr val="bg1"/>
                </a:solidFill>
                <a:latin typeface="Times New Roman"/>
                <a:cs typeface="Times New Roman"/>
              </a:defRPr>
            </a:lvl1pPr>
          </a:lstStyle>
          <a:p>
            <a:pPr marL="12700">
              <a:lnSpc>
                <a:spcPts val="1845"/>
              </a:lnSpc>
            </a:pPr>
            <a:r>
              <a:rPr lang="en-US" dirty="0"/>
              <a:t>A</a:t>
            </a:r>
            <a:r>
              <a:rPr lang="en-US" spc="-10" dirty="0"/>
              <a:t> </a:t>
            </a:r>
            <a:r>
              <a:rPr lang="en-US" dirty="0"/>
              <a:t>-AA</a:t>
            </a:r>
            <a:endParaRPr spc="-25" dirty="0"/>
          </a:p>
        </p:txBody>
      </p:sp>
      <p:pic>
        <p:nvPicPr>
          <p:cNvPr id="13" name="Picture 12">
            <a:extLst>
              <a:ext uri="{FF2B5EF4-FFF2-40B4-BE49-F238E27FC236}">
                <a16:creationId xmlns:a16="http://schemas.microsoft.com/office/drawing/2014/main" id="{56C31DF4-BFE2-0A80-BB34-7FD18D334A07}"/>
              </a:ext>
            </a:extLst>
          </p:cNvPr>
          <p:cNvPicPr>
            <a:picLocks noChangeAspect="1"/>
          </p:cNvPicPr>
          <p:nvPr/>
        </p:nvPicPr>
        <p:blipFill>
          <a:blip r:embed="rId3"/>
          <a:stretch>
            <a:fillRect/>
          </a:stretch>
        </p:blipFill>
        <p:spPr>
          <a:xfrm>
            <a:off x="2873829" y="1502229"/>
            <a:ext cx="6260840" cy="4674636"/>
          </a:xfrm>
          <a:prstGeom prst="rect">
            <a:avLst/>
          </a:prstGeom>
        </p:spPr>
      </p:pic>
      <p:sp>
        <p:nvSpPr>
          <p:cNvPr id="8" name="Rectangle 7">
            <a:extLst>
              <a:ext uri="{FF2B5EF4-FFF2-40B4-BE49-F238E27FC236}">
                <a16:creationId xmlns:a16="http://schemas.microsoft.com/office/drawing/2014/main" id="{AE21BA1C-3FCA-709D-3128-92DA1F1BC1F5}"/>
              </a:ext>
            </a:extLst>
          </p:cNvPr>
          <p:cNvSpPr/>
          <p:nvPr/>
        </p:nvSpPr>
        <p:spPr>
          <a:xfrm>
            <a:off x="3159890" y="26720"/>
            <a:ext cx="5632632" cy="225141"/>
          </a:xfrm>
          <a:prstGeom prst="rect">
            <a:avLst/>
          </a:prstGeom>
          <a:solidFill>
            <a:srgbClr val="00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i="1">
                <a:solidFill>
                  <a:schemeClr val="bg1"/>
                </a:solidFill>
                <a:latin typeface="Times New Roman" panose="02020603050405020304" pitchFamily="18" charset="0"/>
                <a:cs typeface="Times New Roman" panose="02020603050405020304" pitchFamily="18" charset="0"/>
              </a:rPr>
              <a:t>AI Enhanced Geospatial Tourism Recommendation System</a:t>
            </a:r>
            <a:endParaRPr lang="en-IN" i="1" dirty="0">
              <a:solidFill>
                <a:schemeClr val="bg1"/>
              </a:solidFill>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EA8FC279-573D-C227-A68A-56779E26E24F}"/>
              </a:ext>
            </a:extLst>
          </p:cNvPr>
          <p:cNvSpPr/>
          <p:nvPr/>
        </p:nvSpPr>
        <p:spPr>
          <a:xfrm>
            <a:off x="159593" y="6653681"/>
            <a:ext cx="613876" cy="182323"/>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433918C1-8E09-88C1-FDB7-354B5338949E}"/>
              </a:ext>
            </a:extLst>
          </p:cNvPr>
          <p:cNvSpPr txBox="1"/>
          <p:nvPr/>
        </p:nvSpPr>
        <p:spPr>
          <a:xfrm>
            <a:off x="-2721246" y="6569943"/>
            <a:ext cx="6273800" cy="369332"/>
          </a:xfrm>
          <a:prstGeom prst="rect">
            <a:avLst/>
          </a:prstGeom>
          <a:noFill/>
        </p:spPr>
        <p:txBody>
          <a:bodyPr wrap="square">
            <a:spAutoFit/>
          </a:bodyPr>
          <a:lstStyle/>
          <a:p>
            <a:pPr algn="ctr"/>
            <a:r>
              <a:rPr lang="en-IN" dirty="0">
                <a:solidFill>
                  <a:schemeClr val="bg1"/>
                </a:solidFill>
              </a:rPr>
              <a:t>A9</a:t>
            </a:r>
          </a:p>
        </p:txBody>
      </p:sp>
    </p:spTree>
    <p:extLst>
      <p:ext uri="{BB962C8B-B14F-4D97-AF65-F5344CB8AC3E}">
        <p14:creationId xmlns:p14="http://schemas.microsoft.com/office/powerpoint/2010/main" val="27005559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5937A-196E-4648-388A-0AC9F39299E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2823BBE-8EF1-2409-6FE4-55FF0E797C5B}"/>
              </a:ext>
            </a:extLst>
          </p:cNvPr>
          <p:cNvSpPr txBox="1"/>
          <p:nvPr/>
        </p:nvSpPr>
        <p:spPr>
          <a:xfrm>
            <a:off x="5350480" y="-18339"/>
            <a:ext cx="1488440" cy="254000"/>
          </a:xfrm>
          <a:prstGeom prst="rect">
            <a:avLst/>
          </a:prstGeom>
        </p:spPr>
        <p:txBody>
          <a:bodyPr vert="horz" wrap="square" lIns="0" tIns="12700" rIns="0" bIns="0" rtlCol="0">
            <a:spAutoFit/>
          </a:bodyPr>
          <a:lstStyle/>
          <a:p>
            <a:pPr marL="12700">
              <a:lnSpc>
                <a:spcPct val="100000"/>
              </a:lnSpc>
              <a:spcBef>
                <a:spcPts val="100"/>
              </a:spcBef>
            </a:pPr>
            <a:r>
              <a:rPr sz="1500" b="1" i="1" dirty="0">
                <a:solidFill>
                  <a:srgbClr val="FFFFFF"/>
                </a:solidFill>
                <a:latin typeface="Times New Roman"/>
                <a:cs typeface="Times New Roman"/>
              </a:rPr>
              <a:t>Title</a:t>
            </a:r>
            <a:r>
              <a:rPr sz="1500" b="1" i="1" spc="-20" dirty="0">
                <a:solidFill>
                  <a:srgbClr val="FFFFFF"/>
                </a:solidFill>
                <a:latin typeface="Times New Roman"/>
                <a:cs typeface="Times New Roman"/>
              </a:rPr>
              <a:t> </a:t>
            </a:r>
            <a:r>
              <a:rPr sz="1500" b="1" i="1" dirty="0">
                <a:solidFill>
                  <a:srgbClr val="FFFFFF"/>
                </a:solidFill>
                <a:latin typeface="Times New Roman"/>
                <a:cs typeface="Times New Roman"/>
              </a:rPr>
              <a:t>of</a:t>
            </a:r>
            <a:r>
              <a:rPr sz="1500" b="1" i="1" spc="-15" dirty="0">
                <a:solidFill>
                  <a:srgbClr val="FFFFFF"/>
                </a:solidFill>
                <a:latin typeface="Times New Roman"/>
                <a:cs typeface="Times New Roman"/>
              </a:rPr>
              <a:t> </a:t>
            </a:r>
            <a:r>
              <a:rPr sz="1500" b="1" i="1" dirty="0">
                <a:solidFill>
                  <a:srgbClr val="FFFFFF"/>
                </a:solidFill>
                <a:latin typeface="Times New Roman"/>
                <a:cs typeface="Times New Roman"/>
              </a:rPr>
              <a:t>the</a:t>
            </a:r>
            <a:r>
              <a:rPr sz="1500" b="1" i="1" spc="-20" dirty="0">
                <a:solidFill>
                  <a:srgbClr val="FFFFFF"/>
                </a:solidFill>
                <a:latin typeface="Times New Roman"/>
                <a:cs typeface="Times New Roman"/>
              </a:rPr>
              <a:t> </a:t>
            </a:r>
            <a:r>
              <a:rPr sz="1500" b="1" i="1" spc="-10" dirty="0">
                <a:solidFill>
                  <a:srgbClr val="FFFFFF"/>
                </a:solidFill>
                <a:latin typeface="Times New Roman"/>
                <a:cs typeface="Times New Roman"/>
              </a:rPr>
              <a:t>Project</a:t>
            </a:r>
            <a:endParaRPr sz="1500">
              <a:latin typeface="Times New Roman"/>
              <a:cs typeface="Times New Roman"/>
            </a:endParaRPr>
          </a:p>
        </p:txBody>
      </p:sp>
      <p:grpSp>
        <p:nvGrpSpPr>
          <p:cNvPr id="3" name="object 3">
            <a:extLst>
              <a:ext uri="{FF2B5EF4-FFF2-40B4-BE49-F238E27FC236}">
                <a16:creationId xmlns:a16="http://schemas.microsoft.com/office/drawing/2014/main" id="{1C8CE68C-F5D7-6811-838B-7DABFFB0AB00}"/>
              </a:ext>
            </a:extLst>
          </p:cNvPr>
          <p:cNvGrpSpPr/>
          <p:nvPr/>
        </p:nvGrpSpPr>
        <p:grpSpPr>
          <a:xfrm>
            <a:off x="0" y="216720"/>
            <a:ext cx="12192000" cy="803275"/>
            <a:chOff x="0" y="216720"/>
            <a:chExt cx="12192000" cy="803275"/>
          </a:xfrm>
        </p:grpSpPr>
        <p:pic>
          <p:nvPicPr>
            <p:cNvPr id="4" name="object 4">
              <a:extLst>
                <a:ext uri="{FF2B5EF4-FFF2-40B4-BE49-F238E27FC236}">
                  <a16:creationId xmlns:a16="http://schemas.microsoft.com/office/drawing/2014/main" id="{43ACB978-3ADF-7665-3C2F-F91DD86434C8}"/>
                </a:ext>
              </a:extLst>
            </p:cNvPr>
            <p:cNvPicPr/>
            <p:nvPr/>
          </p:nvPicPr>
          <p:blipFill>
            <a:blip r:embed="rId2" cstate="print"/>
            <a:stretch>
              <a:fillRect/>
            </a:stretch>
          </p:blipFill>
          <p:spPr>
            <a:xfrm>
              <a:off x="0" y="216720"/>
              <a:ext cx="12192000" cy="803160"/>
            </a:xfrm>
            <a:prstGeom prst="rect">
              <a:avLst/>
            </a:prstGeom>
          </p:spPr>
        </p:pic>
        <p:sp>
          <p:nvSpPr>
            <p:cNvPr id="5" name="object 5">
              <a:extLst>
                <a:ext uri="{FF2B5EF4-FFF2-40B4-BE49-F238E27FC236}">
                  <a16:creationId xmlns:a16="http://schemas.microsoft.com/office/drawing/2014/main" id="{50509735-1BD2-0CCB-DC89-7EB6FEACA8C5}"/>
                </a:ext>
              </a:extLst>
            </p:cNvPr>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A409E99F-9181-1C41-7B1A-6AF086ED210E}"/>
              </a:ext>
            </a:extLst>
          </p:cNvPr>
          <p:cNvSpPr txBox="1">
            <a:spLocks noGrp="1"/>
          </p:cNvSpPr>
          <p:nvPr>
            <p:ph type="title"/>
          </p:nvPr>
        </p:nvSpPr>
        <p:spPr>
          <a:prstGeom prst="rect">
            <a:avLst/>
          </a:prstGeom>
        </p:spPr>
        <p:txBody>
          <a:bodyPr vert="horz" wrap="square" lIns="0" tIns="12700" rIns="0" bIns="0" rtlCol="0">
            <a:spAutoFit/>
          </a:bodyPr>
          <a:lstStyle/>
          <a:p>
            <a:pPr marL="152400">
              <a:lnSpc>
                <a:spcPct val="100000"/>
              </a:lnSpc>
              <a:spcBef>
                <a:spcPts val="100"/>
              </a:spcBef>
            </a:pPr>
            <a:r>
              <a:rPr lang="en-US" spc="-10" dirty="0"/>
              <a:t>Technology Stack</a:t>
            </a:r>
            <a:endParaRPr spc="-10" dirty="0"/>
          </a:p>
        </p:txBody>
      </p:sp>
      <p:sp>
        <p:nvSpPr>
          <p:cNvPr id="9" name="object 9">
            <a:extLst>
              <a:ext uri="{FF2B5EF4-FFF2-40B4-BE49-F238E27FC236}">
                <a16:creationId xmlns:a16="http://schemas.microsoft.com/office/drawing/2014/main" id="{76B941B8-5BFD-EEAE-E3C5-1468FE4C736E}"/>
              </a:ext>
            </a:extLst>
          </p:cNvPr>
          <p:cNvSpPr txBox="1">
            <a:spLocks noGrp="1"/>
          </p:cNvSpPr>
          <p:nvPr>
            <p:ph type="ftr" sz="quarter" idx="5"/>
          </p:nvPr>
        </p:nvSpPr>
        <p:spPr>
          <a:xfrm>
            <a:off x="149031" y="6629427"/>
            <a:ext cx="635000" cy="250825"/>
          </a:xfrm>
          <a:prstGeom prst="rect">
            <a:avLst/>
          </a:prstGeom>
        </p:spPr>
        <p:txBody>
          <a:bodyPr vert="horz" wrap="square" lIns="0" tIns="0" rIns="0" bIns="0" rtlCol="0">
            <a:spAutoFit/>
          </a:bodyPr>
          <a:lstStyle>
            <a:defPPr>
              <a:defRPr kern="0"/>
            </a:defPPr>
            <a:lvl1pPr>
              <a:defRPr sz="1600" b="0" i="0">
                <a:solidFill>
                  <a:schemeClr val="bg1"/>
                </a:solidFill>
                <a:latin typeface="Times New Roman"/>
                <a:cs typeface="Times New Roman"/>
              </a:defRPr>
            </a:lvl1pPr>
          </a:lstStyle>
          <a:p>
            <a:pPr marL="12700">
              <a:lnSpc>
                <a:spcPts val="1845"/>
              </a:lnSpc>
            </a:pPr>
            <a:r>
              <a:rPr lang="en-US"/>
              <a:t>A</a:t>
            </a:r>
            <a:r>
              <a:rPr lang="en-US" spc="-10"/>
              <a:t> </a:t>
            </a:r>
            <a:r>
              <a:rPr lang="en-US"/>
              <a:t>-</a:t>
            </a:r>
            <a:r>
              <a:rPr lang="en-US" spc="-5"/>
              <a:t> </a:t>
            </a:r>
            <a:r>
              <a:rPr lang="en-US" spc="-25"/>
              <a:t>XX</a:t>
            </a:r>
            <a:endParaRPr spc="-25" dirty="0"/>
          </a:p>
        </p:txBody>
      </p:sp>
      <p:sp>
        <p:nvSpPr>
          <p:cNvPr id="19" name="TextBox 18">
            <a:extLst>
              <a:ext uri="{FF2B5EF4-FFF2-40B4-BE49-F238E27FC236}">
                <a16:creationId xmlns:a16="http://schemas.microsoft.com/office/drawing/2014/main" id="{52029FF6-A708-5519-1CD8-293F532B89E7}"/>
              </a:ext>
            </a:extLst>
          </p:cNvPr>
          <p:cNvSpPr txBox="1"/>
          <p:nvPr/>
        </p:nvSpPr>
        <p:spPr>
          <a:xfrm>
            <a:off x="372113" y="1035919"/>
            <a:ext cx="11043920" cy="5139869"/>
          </a:xfrm>
          <a:prstGeom prst="rect">
            <a:avLst/>
          </a:prstGeom>
          <a:noFill/>
        </p:spPr>
        <p:txBody>
          <a:bodyPr wrap="square">
            <a:spAutoFit/>
          </a:bodyPr>
          <a:lstStyle/>
          <a:p>
            <a:pPr>
              <a:buNone/>
            </a:pPr>
            <a:r>
              <a:rPr lang="en-IN" sz="1300" b="1" dirty="0"/>
              <a:t>Frontend</a:t>
            </a:r>
          </a:p>
          <a:p>
            <a:pPr marL="171450" indent="-171450">
              <a:buFont typeface="Wingdings" panose="05000000000000000000" pitchFamily="2" charset="2"/>
              <a:buChar char="Ø"/>
            </a:pPr>
            <a:r>
              <a:rPr lang="en-IN" sz="1200" b="1" dirty="0"/>
              <a:t>React.js (TypeScript)</a:t>
            </a:r>
            <a:r>
              <a:rPr lang="en-IN" sz="1200" dirty="0"/>
              <a:t> – Used to build an interactive and responsive user interface</a:t>
            </a:r>
          </a:p>
          <a:p>
            <a:pPr marL="171450" indent="-171450">
              <a:buFont typeface="Wingdings" panose="05000000000000000000" pitchFamily="2" charset="2"/>
              <a:buChar char="Ø"/>
            </a:pPr>
            <a:r>
              <a:rPr lang="en-IN" sz="1200" b="1" dirty="0"/>
              <a:t>Tailwind CSS</a:t>
            </a:r>
            <a:r>
              <a:rPr lang="en-IN" sz="1200" dirty="0"/>
              <a:t> – Used for modern UI styling and responsive design</a:t>
            </a:r>
          </a:p>
          <a:p>
            <a:pPr marL="171450" indent="-171450">
              <a:buFont typeface="Wingdings" panose="05000000000000000000" pitchFamily="2" charset="2"/>
              <a:buChar char="Ø"/>
            </a:pPr>
            <a:r>
              <a:rPr lang="en-IN" sz="1200" b="1" dirty="0"/>
              <a:t>React Router</a:t>
            </a:r>
            <a:r>
              <a:rPr lang="en-IN" sz="1200" dirty="0"/>
              <a:t> – Handles navigation between pages such as planner, destination, and accommodations</a:t>
            </a:r>
          </a:p>
          <a:p>
            <a:pPr marL="171450" indent="-171450">
              <a:buFont typeface="Wingdings" panose="05000000000000000000" pitchFamily="2" charset="2"/>
              <a:buChar char="Ø"/>
            </a:pPr>
            <a:r>
              <a:rPr lang="en-IN" sz="1200" b="1" dirty="0"/>
              <a:t>Leaflet.js</a:t>
            </a:r>
            <a:r>
              <a:rPr lang="en-IN" sz="1200" dirty="0"/>
              <a:t> – Used for map visualization of tourist locations</a:t>
            </a:r>
          </a:p>
          <a:p>
            <a:endParaRPr lang="en-IN" sz="1200" dirty="0"/>
          </a:p>
          <a:p>
            <a:pPr>
              <a:buNone/>
            </a:pPr>
            <a:r>
              <a:rPr lang="en-IN" sz="1300" b="1" dirty="0"/>
              <a:t>Backend</a:t>
            </a:r>
          </a:p>
          <a:p>
            <a:pPr marL="171450" indent="-171450">
              <a:buFont typeface="Wingdings" panose="05000000000000000000" pitchFamily="2" charset="2"/>
              <a:buChar char="Ø"/>
            </a:pPr>
            <a:r>
              <a:rPr lang="en-IN" sz="1200" b="1" dirty="0"/>
              <a:t>Node.js</a:t>
            </a:r>
            <a:r>
              <a:rPr lang="en-IN" sz="1200" dirty="0"/>
              <a:t> – Server-side runtime environment</a:t>
            </a:r>
          </a:p>
          <a:p>
            <a:pPr marL="171450" indent="-171450">
              <a:buFont typeface="Wingdings" panose="05000000000000000000" pitchFamily="2" charset="2"/>
              <a:buChar char="Ø"/>
            </a:pPr>
            <a:r>
              <a:rPr lang="en-IN" sz="1200" b="1" dirty="0"/>
              <a:t>Express.js</a:t>
            </a:r>
            <a:r>
              <a:rPr lang="en-IN" sz="1200" dirty="0"/>
              <a:t> – Handles API routes and backend logic</a:t>
            </a:r>
          </a:p>
          <a:p>
            <a:pPr marL="171450" indent="-171450">
              <a:buFont typeface="Wingdings" panose="05000000000000000000" pitchFamily="2" charset="2"/>
              <a:buChar char="Ø"/>
            </a:pPr>
            <a:r>
              <a:rPr lang="en-IN" sz="1200" b="1" dirty="0"/>
              <a:t>TypeScript</a:t>
            </a:r>
            <a:r>
              <a:rPr lang="en-IN" sz="1200" dirty="0"/>
              <a:t> – Ensures better code structure and type safety</a:t>
            </a:r>
          </a:p>
          <a:p>
            <a:endParaRPr lang="en-IN" sz="1200" dirty="0"/>
          </a:p>
          <a:p>
            <a:pPr>
              <a:buNone/>
            </a:pPr>
            <a:r>
              <a:rPr lang="en-IN" sz="1300" b="1" dirty="0"/>
              <a:t>Database</a:t>
            </a:r>
          </a:p>
          <a:p>
            <a:pPr marL="171450" indent="-171450">
              <a:buFont typeface="Wingdings" panose="05000000000000000000" pitchFamily="2" charset="2"/>
              <a:buChar char="Ø"/>
            </a:pPr>
            <a:r>
              <a:rPr lang="en-IN" sz="1200" b="1" dirty="0"/>
              <a:t>SQLite Database</a:t>
            </a:r>
            <a:r>
              <a:rPr lang="en-IN" sz="1200" dirty="0"/>
              <a:t> – Lightweight relational database used to store:</a:t>
            </a:r>
          </a:p>
          <a:p>
            <a:pPr marL="628650" lvl="1" indent="-171450">
              <a:buFont typeface="Wingdings" panose="05000000000000000000" pitchFamily="2" charset="2"/>
              <a:buChar char="Ø"/>
            </a:pPr>
            <a:r>
              <a:rPr lang="en-IN" sz="1200" dirty="0"/>
              <a:t>User accounts</a:t>
            </a:r>
          </a:p>
          <a:p>
            <a:pPr marL="628650" lvl="1" indent="-171450">
              <a:buFont typeface="Wingdings" panose="05000000000000000000" pitchFamily="2" charset="2"/>
              <a:buChar char="Ø"/>
            </a:pPr>
            <a:r>
              <a:rPr lang="en-IN" sz="1200" dirty="0"/>
              <a:t>Tourist destinations</a:t>
            </a:r>
          </a:p>
          <a:p>
            <a:pPr marL="628650" lvl="1" indent="-171450">
              <a:buFont typeface="Wingdings" panose="05000000000000000000" pitchFamily="2" charset="2"/>
              <a:buChar char="Ø"/>
            </a:pPr>
            <a:r>
              <a:rPr lang="en-IN" sz="1200" dirty="0"/>
              <a:t>Travel history</a:t>
            </a:r>
          </a:p>
          <a:p>
            <a:pPr marL="628650" lvl="1" indent="-171450">
              <a:buFont typeface="Wingdings" panose="05000000000000000000" pitchFamily="2" charset="2"/>
              <a:buChar char="Ø"/>
            </a:pPr>
            <a:r>
              <a:rPr lang="en-IN" sz="1200" dirty="0"/>
              <a:t>Accommodation details</a:t>
            </a:r>
          </a:p>
          <a:p>
            <a:pPr lvl="1"/>
            <a:endParaRPr lang="en-IN" sz="1200" dirty="0"/>
          </a:p>
          <a:p>
            <a:pPr>
              <a:buNone/>
            </a:pPr>
            <a:r>
              <a:rPr lang="en-IN" sz="1300" b="1" dirty="0"/>
              <a:t>AI Integration</a:t>
            </a:r>
          </a:p>
          <a:p>
            <a:pPr marL="171450" indent="-171450">
              <a:buFont typeface="Wingdings" panose="05000000000000000000" pitchFamily="2" charset="2"/>
              <a:buChar char="Ø"/>
            </a:pPr>
            <a:r>
              <a:rPr lang="en-IN" sz="1200" b="1" dirty="0"/>
              <a:t>Google Gemini API</a:t>
            </a:r>
            <a:r>
              <a:rPr lang="en-IN" sz="1200" dirty="0"/>
              <a:t> – Generates AI-based travel insights including:</a:t>
            </a:r>
          </a:p>
          <a:p>
            <a:pPr marL="628650" lvl="1" indent="-171450">
              <a:buFont typeface="Wingdings" panose="05000000000000000000" pitchFamily="2" charset="2"/>
              <a:buChar char="Ø"/>
            </a:pPr>
            <a:r>
              <a:rPr lang="en-IN" sz="1200" dirty="0"/>
              <a:t>Recommended travel duration</a:t>
            </a:r>
          </a:p>
          <a:p>
            <a:pPr marL="628650" lvl="1" indent="-171450">
              <a:buFont typeface="Wingdings" panose="05000000000000000000" pitchFamily="2" charset="2"/>
              <a:buChar char="Ø"/>
            </a:pPr>
            <a:r>
              <a:rPr lang="en-IN" sz="1200" dirty="0"/>
              <a:t>Best activities</a:t>
            </a:r>
          </a:p>
          <a:p>
            <a:pPr marL="628650" lvl="1" indent="-171450">
              <a:buFont typeface="Wingdings" panose="05000000000000000000" pitchFamily="2" charset="2"/>
              <a:buChar char="Ø"/>
            </a:pPr>
            <a:r>
              <a:rPr lang="en-IN" sz="1200" dirty="0"/>
              <a:t>Travel tips</a:t>
            </a:r>
          </a:p>
          <a:p>
            <a:pPr marL="628650" lvl="1" indent="-171450">
              <a:buFont typeface="Wingdings" panose="05000000000000000000" pitchFamily="2" charset="2"/>
              <a:buChar char="Ø"/>
            </a:pPr>
            <a:r>
              <a:rPr lang="en-IN" sz="1200" dirty="0"/>
              <a:t>Travel itinerary suggestions</a:t>
            </a:r>
          </a:p>
          <a:p>
            <a:pPr lvl="1"/>
            <a:endParaRPr lang="en-IN" sz="1200" dirty="0"/>
          </a:p>
          <a:p>
            <a:pPr>
              <a:buNone/>
            </a:pPr>
            <a:r>
              <a:rPr lang="en-IN" sz="1300" b="1" dirty="0"/>
              <a:t>Geospatial Analysis</a:t>
            </a:r>
          </a:p>
          <a:p>
            <a:pPr marL="171450" indent="-171450">
              <a:buFont typeface="Wingdings" panose="05000000000000000000" pitchFamily="2" charset="2"/>
              <a:buChar char="Ø"/>
            </a:pPr>
            <a:r>
              <a:rPr lang="en-IN" sz="1200" b="1" dirty="0"/>
              <a:t>Haversine Formula Algorithm</a:t>
            </a:r>
            <a:r>
              <a:rPr lang="en-IN" sz="1200" dirty="0"/>
              <a:t> – Calculates geographical distance between tourist locations using latitude and longitude coordinates.</a:t>
            </a:r>
          </a:p>
        </p:txBody>
      </p:sp>
      <p:sp>
        <p:nvSpPr>
          <p:cNvPr id="8" name="Rectangle 7">
            <a:extLst>
              <a:ext uri="{FF2B5EF4-FFF2-40B4-BE49-F238E27FC236}">
                <a16:creationId xmlns:a16="http://schemas.microsoft.com/office/drawing/2014/main" id="{9EE121E4-2DE7-21F3-9D83-645C7C8EBA43}"/>
              </a:ext>
            </a:extLst>
          </p:cNvPr>
          <p:cNvSpPr/>
          <p:nvPr/>
        </p:nvSpPr>
        <p:spPr>
          <a:xfrm>
            <a:off x="3159890" y="26720"/>
            <a:ext cx="5632632" cy="173961"/>
          </a:xfrm>
          <a:prstGeom prst="rect">
            <a:avLst/>
          </a:prstGeom>
          <a:solidFill>
            <a:srgbClr val="00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i="1">
                <a:solidFill>
                  <a:schemeClr val="bg1"/>
                </a:solidFill>
                <a:latin typeface="Times New Roman" panose="02020603050405020304" pitchFamily="18" charset="0"/>
                <a:cs typeface="Times New Roman" panose="02020603050405020304" pitchFamily="18" charset="0"/>
              </a:rPr>
              <a:t>AI Enhanced Geospatial Tourism Recommendation System</a:t>
            </a:r>
            <a:endParaRPr lang="en-IN" i="1" dirty="0">
              <a:solidFill>
                <a:schemeClr val="bg1"/>
              </a:solidFill>
              <a:latin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3022EE72-6F9B-3134-BD12-A9AB8940DDB1}"/>
              </a:ext>
            </a:extLst>
          </p:cNvPr>
          <p:cNvSpPr/>
          <p:nvPr/>
        </p:nvSpPr>
        <p:spPr>
          <a:xfrm>
            <a:off x="170155" y="6675677"/>
            <a:ext cx="613876" cy="182323"/>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A9</a:t>
            </a:r>
            <a:endParaRPr lang="en-IN" dirty="0"/>
          </a:p>
        </p:txBody>
      </p:sp>
    </p:spTree>
    <p:extLst>
      <p:ext uri="{BB962C8B-B14F-4D97-AF65-F5344CB8AC3E}">
        <p14:creationId xmlns:p14="http://schemas.microsoft.com/office/powerpoint/2010/main" val="30342128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6C07A-95DE-0416-6287-09EB32E515B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8086162-4B4E-7405-A83C-4D0BA23413A5}"/>
              </a:ext>
            </a:extLst>
          </p:cNvPr>
          <p:cNvSpPr txBox="1"/>
          <p:nvPr/>
        </p:nvSpPr>
        <p:spPr>
          <a:xfrm>
            <a:off x="5350480" y="-18339"/>
            <a:ext cx="1488440" cy="254000"/>
          </a:xfrm>
          <a:prstGeom prst="rect">
            <a:avLst/>
          </a:prstGeom>
        </p:spPr>
        <p:txBody>
          <a:bodyPr vert="horz" wrap="square" lIns="0" tIns="12700" rIns="0" bIns="0" rtlCol="0">
            <a:spAutoFit/>
          </a:bodyPr>
          <a:lstStyle/>
          <a:p>
            <a:pPr marL="12700">
              <a:lnSpc>
                <a:spcPct val="100000"/>
              </a:lnSpc>
              <a:spcBef>
                <a:spcPts val="100"/>
              </a:spcBef>
            </a:pPr>
            <a:r>
              <a:rPr sz="1500" b="1" i="1" dirty="0">
                <a:solidFill>
                  <a:srgbClr val="FFFFFF"/>
                </a:solidFill>
                <a:latin typeface="Times New Roman"/>
                <a:cs typeface="Times New Roman"/>
              </a:rPr>
              <a:t>Title</a:t>
            </a:r>
            <a:r>
              <a:rPr sz="1500" b="1" i="1" spc="-20" dirty="0">
                <a:solidFill>
                  <a:srgbClr val="FFFFFF"/>
                </a:solidFill>
                <a:latin typeface="Times New Roman"/>
                <a:cs typeface="Times New Roman"/>
              </a:rPr>
              <a:t> </a:t>
            </a:r>
            <a:r>
              <a:rPr sz="1500" b="1" i="1" dirty="0">
                <a:solidFill>
                  <a:srgbClr val="FFFFFF"/>
                </a:solidFill>
                <a:latin typeface="Times New Roman"/>
                <a:cs typeface="Times New Roman"/>
              </a:rPr>
              <a:t>of</a:t>
            </a:r>
            <a:r>
              <a:rPr sz="1500" b="1" i="1" spc="-15" dirty="0">
                <a:solidFill>
                  <a:srgbClr val="FFFFFF"/>
                </a:solidFill>
                <a:latin typeface="Times New Roman"/>
                <a:cs typeface="Times New Roman"/>
              </a:rPr>
              <a:t> </a:t>
            </a:r>
            <a:r>
              <a:rPr sz="1500" b="1" i="1" dirty="0">
                <a:solidFill>
                  <a:srgbClr val="FFFFFF"/>
                </a:solidFill>
                <a:latin typeface="Times New Roman"/>
                <a:cs typeface="Times New Roman"/>
              </a:rPr>
              <a:t>the</a:t>
            </a:r>
            <a:r>
              <a:rPr sz="1500" b="1" i="1" spc="-20" dirty="0">
                <a:solidFill>
                  <a:srgbClr val="FFFFFF"/>
                </a:solidFill>
                <a:latin typeface="Times New Roman"/>
                <a:cs typeface="Times New Roman"/>
              </a:rPr>
              <a:t> </a:t>
            </a:r>
            <a:r>
              <a:rPr sz="1500" b="1" i="1" spc="-10" dirty="0">
                <a:solidFill>
                  <a:srgbClr val="FFFFFF"/>
                </a:solidFill>
                <a:latin typeface="Times New Roman"/>
                <a:cs typeface="Times New Roman"/>
              </a:rPr>
              <a:t>Project</a:t>
            </a:r>
            <a:endParaRPr sz="1500">
              <a:latin typeface="Times New Roman"/>
              <a:cs typeface="Times New Roman"/>
            </a:endParaRPr>
          </a:p>
        </p:txBody>
      </p:sp>
      <p:grpSp>
        <p:nvGrpSpPr>
          <p:cNvPr id="3" name="object 3">
            <a:extLst>
              <a:ext uri="{FF2B5EF4-FFF2-40B4-BE49-F238E27FC236}">
                <a16:creationId xmlns:a16="http://schemas.microsoft.com/office/drawing/2014/main" id="{AECA76F2-3202-02E3-AB04-C7A128695D82}"/>
              </a:ext>
            </a:extLst>
          </p:cNvPr>
          <p:cNvGrpSpPr/>
          <p:nvPr/>
        </p:nvGrpSpPr>
        <p:grpSpPr>
          <a:xfrm>
            <a:off x="0" y="216720"/>
            <a:ext cx="12192000" cy="803275"/>
            <a:chOff x="0" y="216720"/>
            <a:chExt cx="12192000" cy="803275"/>
          </a:xfrm>
        </p:grpSpPr>
        <p:pic>
          <p:nvPicPr>
            <p:cNvPr id="4" name="object 4">
              <a:extLst>
                <a:ext uri="{FF2B5EF4-FFF2-40B4-BE49-F238E27FC236}">
                  <a16:creationId xmlns:a16="http://schemas.microsoft.com/office/drawing/2014/main" id="{CB2D05A7-829E-ACD7-1944-EE90027E6774}"/>
                </a:ext>
              </a:extLst>
            </p:cNvPr>
            <p:cNvPicPr/>
            <p:nvPr/>
          </p:nvPicPr>
          <p:blipFill>
            <a:blip r:embed="rId2" cstate="print"/>
            <a:stretch>
              <a:fillRect/>
            </a:stretch>
          </p:blipFill>
          <p:spPr>
            <a:xfrm>
              <a:off x="0" y="216720"/>
              <a:ext cx="12192000" cy="803160"/>
            </a:xfrm>
            <a:prstGeom prst="rect">
              <a:avLst/>
            </a:prstGeom>
          </p:spPr>
        </p:pic>
        <p:sp>
          <p:nvSpPr>
            <p:cNvPr id="5" name="object 5">
              <a:extLst>
                <a:ext uri="{FF2B5EF4-FFF2-40B4-BE49-F238E27FC236}">
                  <a16:creationId xmlns:a16="http://schemas.microsoft.com/office/drawing/2014/main" id="{0B9988D1-D844-781A-438E-9F64B28E8F60}"/>
                </a:ext>
              </a:extLst>
            </p:cNvPr>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412B203C-89DE-F19C-F0A3-9A1564550714}"/>
              </a:ext>
            </a:extLst>
          </p:cNvPr>
          <p:cNvSpPr txBox="1">
            <a:spLocks noGrp="1"/>
          </p:cNvSpPr>
          <p:nvPr>
            <p:ph type="title"/>
          </p:nvPr>
        </p:nvSpPr>
        <p:spPr>
          <a:prstGeom prst="rect">
            <a:avLst/>
          </a:prstGeom>
        </p:spPr>
        <p:txBody>
          <a:bodyPr vert="horz" wrap="square" lIns="0" tIns="12700" rIns="0" bIns="0" rtlCol="0">
            <a:spAutoFit/>
          </a:bodyPr>
          <a:lstStyle/>
          <a:p>
            <a:pPr marL="152400">
              <a:lnSpc>
                <a:spcPct val="100000"/>
              </a:lnSpc>
              <a:spcBef>
                <a:spcPts val="100"/>
              </a:spcBef>
            </a:pPr>
            <a:r>
              <a:rPr lang="en-US" spc="-10" dirty="0"/>
              <a:t>Implementation</a:t>
            </a:r>
            <a:endParaRPr spc="-10" dirty="0"/>
          </a:p>
        </p:txBody>
      </p:sp>
      <p:sp>
        <p:nvSpPr>
          <p:cNvPr id="9" name="object 9">
            <a:extLst>
              <a:ext uri="{FF2B5EF4-FFF2-40B4-BE49-F238E27FC236}">
                <a16:creationId xmlns:a16="http://schemas.microsoft.com/office/drawing/2014/main" id="{E986A583-B916-271F-EDE9-B55420424DED}"/>
              </a:ext>
            </a:extLst>
          </p:cNvPr>
          <p:cNvSpPr txBox="1">
            <a:spLocks noGrp="1"/>
          </p:cNvSpPr>
          <p:nvPr>
            <p:ph type="ftr" sz="quarter" idx="5"/>
          </p:nvPr>
        </p:nvSpPr>
        <p:spPr>
          <a:xfrm>
            <a:off x="149031" y="6629427"/>
            <a:ext cx="635000" cy="250825"/>
          </a:xfrm>
          <a:prstGeom prst="rect">
            <a:avLst/>
          </a:prstGeom>
        </p:spPr>
        <p:txBody>
          <a:bodyPr vert="horz" wrap="square" lIns="0" tIns="0" rIns="0" bIns="0" rtlCol="0">
            <a:spAutoFit/>
          </a:bodyPr>
          <a:lstStyle>
            <a:defPPr>
              <a:defRPr kern="0"/>
            </a:defPPr>
            <a:lvl1pPr>
              <a:defRPr sz="1600" b="0" i="0">
                <a:solidFill>
                  <a:schemeClr val="bg1"/>
                </a:solidFill>
                <a:latin typeface="Times New Roman"/>
                <a:cs typeface="Times New Roman"/>
              </a:defRPr>
            </a:lvl1pPr>
          </a:lstStyle>
          <a:p>
            <a:pPr marL="12700">
              <a:lnSpc>
                <a:spcPts val="1845"/>
              </a:lnSpc>
            </a:pPr>
            <a:r>
              <a:rPr lang="en-US"/>
              <a:t>A</a:t>
            </a:r>
            <a:r>
              <a:rPr lang="en-US" spc="-10"/>
              <a:t> </a:t>
            </a:r>
            <a:r>
              <a:rPr lang="en-US"/>
              <a:t>-</a:t>
            </a:r>
            <a:r>
              <a:rPr lang="en-US" spc="-5"/>
              <a:t> </a:t>
            </a:r>
            <a:r>
              <a:rPr lang="en-US" spc="-25"/>
              <a:t>XX</a:t>
            </a:r>
            <a:endParaRPr spc="-25" dirty="0"/>
          </a:p>
        </p:txBody>
      </p:sp>
      <p:pic>
        <p:nvPicPr>
          <p:cNvPr id="13" name="Picture 12">
            <a:extLst>
              <a:ext uri="{FF2B5EF4-FFF2-40B4-BE49-F238E27FC236}">
                <a16:creationId xmlns:a16="http://schemas.microsoft.com/office/drawing/2014/main" id="{6E7E98D6-7108-52A6-6117-39AC2CF1F552}"/>
              </a:ext>
            </a:extLst>
          </p:cNvPr>
          <p:cNvPicPr>
            <a:picLocks noChangeAspect="1"/>
          </p:cNvPicPr>
          <p:nvPr/>
        </p:nvPicPr>
        <p:blipFill>
          <a:blip r:embed="rId3"/>
          <a:stretch>
            <a:fillRect/>
          </a:stretch>
        </p:blipFill>
        <p:spPr>
          <a:xfrm>
            <a:off x="2920483" y="1254939"/>
            <a:ext cx="6501210" cy="4208134"/>
          </a:xfrm>
          <a:prstGeom prst="rect">
            <a:avLst/>
          </a:prstGeom>
        </p:spPr>
      </p:pic>
      <p:sp>
        <p:nvSpPr>
          <p:cNvPr id="15" name="TextBox 14">
            <a:extLst>
              <a:ext uri="{FF2B5EF4-FFF2-40B4-BE49-F238E27FC236}">
                <a16:creationId xmlns:a16="http://schemas.microsoft.com/office/drawing/2014/main" id="{8B901C82-78C2-83C9-0576-0E4CF90B02A1}"/>
              </a:ext>
            </a:extLst>
          </p:cNvPr>
          <p:cNvSpPr txBox="1"/>
          <p:nvPr/>
        </p:nvSpPr>
        <p:spPr>
          <a:xfrm>
            <a:off x="4077934" y="5653454"/>
            <a:ext cx="6288504" cy="369332"/>
          </a:xfrm>
          <a:prstGeom prst="rect">
            <a:avLst/>
          </a:prstGeom>
          <a:noFill/>
        </p:spPr>
        <p:txBody>
          <a:bodyPr wrap="square">
            <a:spAutoFit/>
          </a:bodyPr>
          <a:lstStyle/>
          <a:p>
            <a:r>
              <a:rPr lang="en-IN" dirty="0"/>
              <a:t>Destination Recommendation Algorithm</a:t>
            </a:r>
          </a:p>
        </p:txBody>
      </p:sp>
      <p:sp>
        <p:nvSpPr>
          <p:cNvPr id="8" name="Rectangle 7">
            <a:extLst>
              <a:ext uri="{FF2B5EF4-FFF2-40B4-BE49-F238E27FC236}">
                <a16:creationId xmlns:a16="http://schemas.microsoft.com/office/drawing/2014/main" id="{F500637F-BC71-A45E-919C-CDD769ED0A23}"/>
              </a:ext>
            </a:extLst>
          </p:cNvPr>
          <p:cNvSpPr/>
          <p:nvPr/>
        </p:nvSpPr>
        <p:spPr>
          <a:xfrm>
            <a:off x="3159890" y="26721"/>
            <a:ext cx="5632632" cy="190000"/>
          </a:xfrm>
          <a:prstGeom prst="rect">
            <a:avLst/>
          </a:prstGeom>
          <a:solidFill>
            <a:srgbClr val="00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i="1">
                <a:solidFill>
                  <a:schemeClr val="bg1"/>
                </a:solidFill>
                <a:latin typeface="Times New Roman" panose="02020603050405020304" pitchFamily="18" charset="0"/>
                <a:cs typeface="Times New Roman" panose="02020603050405020304" pitchFamily="18" charset="0"/>
              </a:rPr>
              <a:t>AI Enhanced Geospatial Tourism Recommendation System</a:t>
            </a:r>
            <a:endParaRPr lang="en-IN" i="1" dirty="0">
              <a:solidFill>
                <a:schemeClr val="bg1"/>
              </a:solidFill>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3FA069BF-E57E-0352-4A19-2F2C261454C5}"/>
              </a:ext>
            </a:extLst>
          </p:cNvPr>
          <p:cNvSpPr/>
          <p:nvPr/>
        </p:nvSpPr>
        <p:spPr>
          <a:xfrm>
            <a:off x="170155" y="6675677"/>
            <a:ext cx="613876" cy="182323"/>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A9</a:t>
            </a:r>
            <a:endParaRPr lang="en-IN" dirty="0"/>
          </a:p>
        </p:txBody>
      </p:sp>
    </p:spTree>
    <p:extLst>
      <p:ext uri="{BB962C8B-B14F-4D97-AF65-F5344CB8AC3E}">
        <p14:creationId xmlns:p14="http://schemas.microsoft.com/office/powerpoint/2010/main" val="19382537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C19D2-FFEE-C653-C993-D636B4DAD40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CF73830-102B-BBFE-E82E-295B296EFD09}"/>
              </a:ext>
            </a:extLst>
          </p:cNvPr>
          <p:cNvSpPr txBox="1"/>
          <p:nvPr/>
        </p:nvSpPr>
        <p:spPr>
          <a:xfrm>
            <a:off x="5350480" y="-18339"/>
            <a:ext cx="1488440" cy="254000"/>
          </a:xfrm>
          <a:prstGeom prst="rect">
            <a:avLst/>
          </a:prstGeom>
        </p:spPr>
        <p:txBody>
          <a:bodyPr vert="horz" wrap="square" lIns="0" tIns="12700" rIns="0" bIns="0" rtlCol="0">
            <a:spAutoFit/>
          </a:bodyPr>
          <a:lstStyle/>
          <a:p>
            <a:pPr marL="12700">
              <a:lnSpc>
                <a:spcPct val="100000"/>
              </a:lnSpc>
              <a:spcBef>
                <a:spcPts val="100"/>
              </a:spcBef>
            </a:pPr>
            <a:r>
              <a:rPr sz="1500" b="1" i="1" dirty="0">
                <a:solidFill>
                  <a:srgbClr val="FFFFFF"/>
                </a:solidFill>
                <a:latin typeface="Times New Roman"/>
                <a:cs typeface="Times New Roman"/>
              </a:rPr>
              <a:t>Title</a:t>
            </a:r>
            <a:r>
              <a:rPr sz="1500" b="1" i="1" spc="-20" dirty="0">
                <a:solidFill>
                  <a:srgbClr val="FFFFFF"/>
                </a:solidFill>
                <a:latin typeface="Times New Roman"/>
                <a:cs typeface="Times New Roman"/>
              </a:rPr>
              <a:t> </a:t>
            </a:r>
            <a:r>
              <a:rPr sz="1500" b="1" i="1" dirty="0">
                <a:solidFill>
                  <a:srgbClr val="FFFFFF"/>
                </a:solidFill>
                <a:latin typeface="Times New Roman"/>
                <a:cs typeface="Times New Roman"/>
              </a:rPr>
              <a:t>of</a:t>
            </a:r>
            <a:r>
              <a:rPr sz="1500" b="1" i="1" spc="-15" dirty="0">
                <a:solidFill>
                  <a:srgbClr val="FFFFFF"/>
                </a:solidFill>
                <a:latin typeface="Times New Roman"/>
                <a:cs typeface="Times New Roman"/>
              </a:rPr>
              <a:t> </a:t>
            </a:r>
            <a:r>
              <a:rPr sz="1500" b="1" i="1" dirty="0">
                <a:solidFill>
                  <a:srgbClr val="FFFFFF"/>
                </a:solidFill>
                <a:latin typeface="Times New Roman"/>
                <a:cs typeface="Times New Roman"/>
              </a:rPr>
              <a:t>the</a:t>
            </a:r>
            <a:r>
              <a:rPr sz="1500" b="1" i="1" spc="-20" dirty="0">
                <a:solidFill>
                  <a:srgbClr val="FFFFFF"/>
                </a:solidFill>
                <a:latin typeface="Times New Roman"/>
                <a:cs typeface="Times New Roman"/>
              </a:rPr>
              <a:t> </a:t>
            </a:r>
            <a:r>
              <a:rPr sz="1500" b="1" i="1" spc="-10" dirty="0">
                <a:solidFill>
                  <a:srgbClr val="FFFFFF"/>
                </a:solidFill>
                <a:latin typeface="Times New Roman"/>
                <a:cs typeface="Times New Roman"/>
              </a:rPr>
              <a:t>Project</a:t>
            </a:r>
            <a:endParaRPr sz="1500">
              <a:latin typeface="Times New Roman"/>
              <a:cs typeface="Times New Roman"/>
            </a:endParaRPr>
          </a:p>
        </p:txBody>
      </p:sp>
      <p:grpSp>
        <p:nvGrpSpPr>
          <p:cNvPr id="3" name="object 3">
            <a:extLst>
              <a:ext uri="{FF2B5EF4-FFF2-40B4-BE49-F238E27FC236}">
                <a16:creationId xmlns:a16="http://schemas.microsoft.com/office/drawing/2014/main" id="{AAA35E23-31F0-3EC4-4046-B72829ED964D}"/>
              </a:ext>
            </a:extLst>
          </p:cNvPr>
          <p:cNvGrpSpPr/>
          <p:nvPr/>
        </p:nvGrpSpPr>
        <p:grpSpPr>
          <a:xfrm>
            <a:off x="0" y="216720"/>
            <a:ext cx="12192000" cy="803275"/>
            <a:chOff x="0" y="216720"/>
            <a:chExt cx="12192000" cy="803275"/>
          </a:xfrm>
        </p:grpSpPr>
        <p:pic>
          <p:nvPicPr>
            <p:cNvPr id="4" name="object 4">
              <a:extLst>
                <a:ext uri="{FF2B5EF4-FFF2-40B4-BE49-F238E27FC236}">
                  <a16:creationId xmlns:a16="http://schemas.microsoft.com/office/drawing/2014/main" id="{4C8FD41B-6D2D-C86C-986C-BB620E218BD1}"/>
                </a:ext>
              </a:extLst>
            </p:cNvPr>
            <p:cNvPicPr/>
            <p:nvPr/>
          </p:nvPicPr>
          <p:blipFill>
            <a:blip r:embed="rId2" cstate="print"/>
            <a:stretch>
              <a:fillRect/>
            </a:stretch>
          </p:blipFill>
          <p:spPr>
            <a:xfrm>
              <a:off x="0" y="216720"/>
              <a:ext cx="12192000" cy="803160"/>
            </a:xfrm>
            <a:prstGeom prst="rect">
              <a:avLst/>
            </a:prstGeom>
          </p:spPr>
        </p:pic>
        <p:sp>
          <p:nvSpPr>
            <p:cNvPr id="5" name="object 5">
              <a:extLst>
                <a:ext uri="{FF2B5EF4-FFF2-40B4-BE49-F238E27FC236}">
                  <a16:creationId xmlns:a16="http://schemas.microsoft.com/office/drawing/2014/main" id="{6CFAFD87-E77D-56BE-59A5-33C7D5F32DA1}"/>
                </a:ext>
              </a:extLst>
            </p:cNvPr>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DFD9AC78-8AEB-D35E-4D58-2E223AE325A7}"/>
              </a:ext>
            </a:extLst>
          </p:cNvPr>
          <p:cNvSpPr txBox="1">
            <a:spLocks noGrp="1"/>
          </p:cNvSpPr>
          <p:nvPr>
            <p:ph type="title"/>
          </p:nvPr>
        </p:nvSpPr>
        <p:spPr>
          <a:prstGeom prst="rect">
            <a:avLst/>
          </a:prstGeom>
        </p:spPr>
        <p:txBody>
          <a:bodyPr vert="horz" wrap="square" lIns="0" tIns="12700" rIns="0" bIns="0" rtlCol="0">
            <a:spAutoFit/>
          </a:bodyPr>
          <a:lstStyle/>
          <a:p>
            <a:pPr marL="152400">
              <a:lnSpc>
                <a:spcPct val="100000"/>
              </a:lnSpc>
              <a:spcBef>
                <a:spcPts val="100"/>
              </a:spcBef>
            </a:pPr>
            <a:r>
              <a:rPr lang="en-US" spc="-10" dirty="0"/>
              <a:t>Implementation</a:t>
            </a:r>
            <a:endParaRPr spc="-10" dirty="0"/>
          </a:p>
        </p:txBody>
      </p:sp>
      <p:sp>
        <p:nvSpPr>
          <p:cNvPr id="9" name="object 9">
            <a:extLst>
              <a:ext uri="{FF2B5EF4-FFF2-40B4-BE49-F238E27FC236}">
                <a16:creationId xmlns:a16="http://schemas.microsoft.com/office/drawing/2014/main" id="{BA91AD64-775B-DB72-0971-7E656C785F0E}"/>
              </a:ext>
            </a:extLst>
          </p:cNvPr>
          <p:cNvSpPr txBox="1">
            <a:spLocks noGrp="1"/>
          </p:cNvSpPr>
          <p:nvPr>
            <p:ph type="ftr" sz="quarter" idx="5"/>
          </p:nvPr>
        </p:nvSpPr>
        <p:spPr>
          <a:xfrm>
            <a:off x="149031" y="6629427"/>
            <a:ext cx="635000" cy="250825"/>
          </a:xfrm>
          <a:prstGeom prst="rect">
            <a:avLst/>
          </a:prstGeom>
        </p:spPr>
        <p:txBody>
          <a:bodyPr vert="horz" wrap="square" lIns="0" tIns="0" rIns="0" bIns="0" rtlCol="0">
            <a:spAutoFit/>
          </a:bodyPr>
          <a:lstStyle>
            <a:defPPr>
              <a:defRPr kern="0"/>
            </a:defPPr>
            <a:lvl1pPr>
              <a:defRPr sz="1600" b="0" i="0">
                <a:solidFill>
                  <a:schemeClr val="bg1"/>
                </a:solidFill>
                <a:latin typeface="Times New Roman"/>
                <a:cs typeface="Times New Roman"/>
              </a:defRPr>
            </a:lvl1pPr>
          </a:lstStyle>
          <a:p>
            <a:pPr marL="12700">
              <a:lnSpc>
                <a:spcPts val="1845"/>
              </a:lnSpc>
            </a:pPr>
            <a:r>
              <a:rPr lang="en-US"/>
              <a:t>A</a:t>
            </a:r>
            <a:r>
              <a:rPr lang="en-US" spc="-10"/>
              <a:t> </a:t>
            </a:r>
            <a:r>
              <a:rPr lang="en-US"/>
              <a:t>-</a:t>
            </a:r>
            <a:r>
              <a:rPr lang="en-US" spc="-5"/>
              <a:t> </a:t>
            </a:r>
            <a:r>
              <a:rPr lang="en-US" spc="-25"/>
              <a:t>XX</a:t>
            </a:r>
            <a:endParaRPr spc="-25" dirty="0"/>
          </a:p>
        </p:txBody>
      </p:sp>
      <p:pic>
        <p:nvPicPr>
          <p:cNvPr id="8" name="Picture 7">
            <a:extLst>
              <a:ext uri="{FF2B5EF4-FFF2-40B4-BE49-F238E27FC236}">
                <a16:creationId xmlns:a16="http://schemas.microsoft.com/office/drawing/2014/main" id="{08AD16FE-E7F4-5B41-C554-667C6B363856}"/>
              </a:ext>
            </a:extLst>
          </p:cNvPr>
          <p:cNvPicPr>
            <a:picLocks noChangeAspect="1"/>
          </p:cNvPicPr>
          <p:nvPr/>
        </p:nvPicPr>
        <p:blipFill>
          <a:blip r:embed="rId3"/>
          <a:stretch>
            <a:fillRect/>
          </a:stretch>
        </p:blipFill>
        <p:spPr>
          <a:xfrm>
            <a:off x="2961745" y="1539551"/>
            <a:ext cx="6620794" cy="3377682"/>
          </a:xfrm>
          <a:prstGeom prst="rect">
            <a:avLst/>
          </a:prstGeom>
        </p:spPr>
      </p:pic>
      <p:sp>
        <p:nvSpPr>
          <p:cNvPr id="16" name="TextBox 15">
            <a:extLst>
              <a:ext uri="{FF2B5EF4-FFF2-40B4-BE49-F238E27FC236}">
                <a16:creationId xmlns:a16="http://schemas.microsoft.com/office/drawing/2014/main" id="{CD81B879-766A-8089-9704-AF627E03529B}"/>
              </a:ext>
            </a:extLst>
          </p:cNvPr>
          <p:cNvSpPr txBox="1"/>
          <p:nvPr/>
        </p:nvSpPr>
        <p:spPr>
          <a:xfrm>
            <a:off x="3694668" y="5403703"/>
            <a:ext cx="6288504" cy="369332"/>
          </a:xfrm>
          <a:prstGeom prst="rect">
            <a:avLst/>
          </a:prstGeom>
          <a:noFill/>
        </p:spPr>
        <p:txBody>
          <a:bodyPr wrap="square">
            <a:spAutoFit/>
          </a:bodyPr>
          <a:lstStyle/>
          <a:p>
            <a:r>
              <a:rPr lang="en-IN" dirty="0"/>
              <a:t>Geospatial Distance Calculation (Haversine Formula)</a:t>
            </a:r>
          </a:p>
        </p:txBody>
      </p:sp>
      <p:sp>
        <p:nvSpPr>
          <p:cNvPr id="13" name="Rectangle 12">
            <a:extLst>
              <a:ext uri="{FF2B5EF4-FFF2-40B4-BE49-F238E27FC236}">
                <a16:creationId xmlns:a16="http://schemas.microsoft.com/office/drawing/2014/main" id="{A1A58A56-D817-5C04-8B5D-8CBDED05B5DA}"/>
              </a:ext>
            </a:extLst>
          </p:cNvPr>
          <p:cNvSpPr/>
          <p:nvPr/>
        </p:nvSpPr>
        <p:spPr>
          <a:xfrm>
            <a:off x="3159890" y="26721"/>
            <a:ext cx="5632632" cy="190000"/>
          </a:xfrm>
          <a:prstGeom prst="rect">
            <a:avLst/>
          </a:prstGeom>
          <a:solidFill>
            <a:srgbClr val="00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i="1">
                <a:solidFill>
                  <a:schemeClr val="bg1"/>
                </a:solidFill>
                <a:latin typeface="Times New Roman" panose="02020603050405020304" pitchFamily="18" charset="0"/>
                <a:cs typeface="Times New Roman" panose="02020603050405020304" pitchFamily="18" charset="0"/>
              </a:rPr>
              <a:t>AI Enhanced Geospatial Tourism Recommendation System</a:t>
            </a:r>
            <a:endParaRPr lang="en-IN" i="1" dirty="0">
              <a:solidFill>
                <a:schemeClr val="bg1"/>
              </a:solidFill>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3039F28E-BD08-F006-165B-3B95AB6DDC26}"/>
              </a:ext>
            </a:extLst>
          </p:cNvPr>
          <p:cNvSpPr/>
          <p:nvPr/>
        </p:nvSpPr>
        <p:spPr>
          <a:xfrm>
            <a:off x="170155" y="6675677"/>
            <a:ext cx="613876" cy="182323"/>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A9</a:t>
            </a:r>
            <a:endParaRPr lang="en-IN" dirty="0"/>
          </a:p>
        </p:txBody>
      </p:sp>
    </p:spTree>
    <p:extLst>
      <p:ext uri="{BB962C8B-B14F-4D97-AF65-F5344CB8AC3E}">
        <p14:creationId xmlns:p14="http://schemas.microsoft.com/office/powerpoint/2010/main" val="39832018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9D201-1369-5E9B-189A-00FC7E5C4E8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02D2AF2-3C59-5707-AD6A-37C6A4831B3F}"/>
              </a:ext>
            </a:extLst>
          </p:cNvPr>
          <p:cNvSpPr txBox="1"/>
          <p:nvPr/>
        </p:nvSpPr>
        <p:spPr>
          <a:xfrm>
            <a:off x="5350480" y="-18339"/>
            <a:ext cx="1488440" cy="254000"/>
          </a:xfrm>
          <a:prstGeom prst="rect">
            <a:avLst/>
          </a:prstGeom>
        </p:spPr>
        <p:txBody>
          <a:bodyPr vert="horz" wrap="square" lIns="0" tIns="12700" rIns="0" bIns="0" rtlCol="0">
            <a:spAutoFit/>
          </a:bodyPr>
          <a:lstStyle/>
          <a:p>
            <a:pPr marL="12700">
              <a:lnSpc>
                <a:spcPct val="100000"/>
              </a:lnSpc>
              <a:spcBef>
                <a:spcPts val="100"/>
              </a:spcBef>
            </a:pPr>
            <a:r>
              <a:rPr sz="1500" b="1" i="1" dirty="0">
                <a:solidFill>
                  <a:srgbClr val="FFFFFF"/>
                </a:solidFill>
                <a:latin typeface="Times New Roman"/>
                <a:cs typeface="Times New Roman"/>
              </a:rPr>
              <a:t>Title</a:t>
            </a:r>
            <a:r>
              <a:rPr sz="1500" b="1" i="1" spc="-20" dirty="0">
                <a:solidFill>
                  <a:srgbClr val="FFFFFF"/>
                </a:solidFill>
                <a:latin typeface="Times New Roman"/>
                <a:cs typeface="Times New Roman"/>
              </a:rPr>
              <a:t> </a:t>
            </a:r>
            <a:r>
              <a:rPr sz="1500" b="1" i="1" dirty="0">
                <a:solidFill>
                  <a:srgbClr val="FFFFFF"/>
                </a:solidFill>
                <a:latin typeface="Times New Roman"/>
                <a:cs typeface="Times New Roman"/>
              </a:rPr>
              <a:t>of</a:t>
            </a:r>
            <a:r>
              <a:rPr sz="1500" b="1" i="1" spc="-15" dirty="0">
                <a:solidFill>
                  <a:srgbClr val="FFFFFF"/>
                </a:solidFill>
                <a:latin typeface="Times New Roman"/>
                <a:cs typeface="Times New Roman"/>
              </a:rPr>
              <a:t> </a:t>
            </a:r>
            <a:r>
              <a:rPr sz="1500" b="1" i="1" dirty="0">
                <a:solidFill>
                  <a:srgbClr val="FFFFFF"/>
                </a:solidFill>
                <a:latin typeface="Times New Roman"/>
                <a:cs typeface="Times New Roman"/>
              </a:rPr>
              <a:t>the</a:t>
            </a:r>
            <a:r>
              <a:rPr sz="1500" b="1" i="1" spc="-20" dirty="0">
                <a:solidFill>
                  <a:srgbClr val="FFFFFF"/>
                </a:solidFill>
                <a:latin typeface="Times New Roman"/>
                <a:cs typeface="Times New Roman"/>
              </a:rPr>
              <a:t> </a:t>
            </a:r>
            <a:r>
              <a:rPr sz="1500" b="1" i="1" spc="-10" dirty="0">
                <a:solidFill>
                  <a:srgbClr val="FFFFFF"/>
                </a:solidFill>
                <a:latin typeface="Times New Roman"/>
                <a:cs typeface="Times New Roman"/>
              </a:rPr>
              <a:t>Project</a:t>
            </a:r>
            <a:endParaRPr sz="1500">
              <a:latin typeface="Times New Roman"/>
              <a:cs typeface="Times New Roman"/>
            </a:endParaRPr>
          </a:p>
        </p:txBody>
      </p:sp>
      <p:grpSp>
        <p:nvGrpSpPr>
          <p:cNvPr id="3" name="object 3">
            <a:extLst>
              <a:ext uri="{FF2B5EF4-FFF2-40B4-BE49-F238E27FC236}">
                <a16:creationId xmlns:a16="http://schemas.microsoft.com/office/drawing/2014/main" id="{BBBA5F87-A3D7-6BB4-EE9D-BFADDFD888EA}"/>
              </a:ext>
            </a:extLst>
          </p:cNvPr>
          <p:cNvGrpSpPr/>
          <p:nvPr/>
        </p:nvGrpSpPr>
        <p:grpSpPr>
          <a:xfrm>
            <a:off x="0" y="216720"/>
            <a:ext cx="12192000" cy="803275"/>
            <a:chOff x="0" y="216720"/>
            <a:chExt cx="12192000" cy="803275"/>
          </a:xfrm>
        </p:grpSpPr>
        <p:pic>
          <p:nvPicPr>
            <p:cNvPr id="4" name="object 4">
              <a:extLst>
                <a:ext uri="{FF2B5EF4-FFF2-40B4-BE49-F238E27FC236}">
                  <a16:creationId xmlns:a16="http://schemas.microsoft.com/office/drawing/2014/main" id="{C2D1B6AB-5D5A-DF95-EBC4-14245CBAF537}"/>
                </a:ext>
              </a:extLst>
            </p:cNvPr>
            <p:cNvPicPr/>
            <p:nvPr/>
          </p:nvPicPr>
          <p:blipFill>
            <a:blip r:embed="rId2" cstate="print"/>
            <a:stretch>
              <a:fillRect/>
            </a:stretch>
          </p:blipFill>
          <p:spPr>
            <a:xfrm>
              <a:off x="0" y="216720"/>
              <a:ext cx="12192000" cy="803160"/>
            </a:xfrm>
            <a:prstGeom prst="rect">
              <a:avLst/>
            </a:prstGeom>
          </p:spPr>
        </p:pic>
        <p:sp>
          <p:nvSpPr>
            <p:cNvPr id="5" name="object 5">
              <a:extLst>
                <a:ext uri="{FF2B5EF4-FFF2-40B4-BE49-F238E27FC236}">
                  <a16:creationId xmlns:a16="http://schemas.microsoft.com/office/drawing/2014/main" id="{D09F0D9C-A237-B8C9-DAEE-018D4256CEDA}"/>
                </a:ext>
              </a:extLst>
            </p:cNvPr>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43C49332-BE00-834D-FBA7-A3483EA55CD9}"/>
              </a:ext>
            </a:extLst>
          </p:cNvPr>
          <p:cNvSpPr txBox="1">
            <a:spLocks noGrp="1"/>
          </p:cNvSpPr>
          <p:nvPr>
            <p:ph type="title"/>
          </p:nvPr>
        </p:nvSpPr>
        <p:spPr>
          <a:prstGeom prst="rect">
            <a:avLst/>
          </a:prstGeom>
        </p:spPr>
        <p:txBody>
          <a:bodyPr vert="horz" wrap="square" lIns="0" tIns="12700" rIns="0" bIns="0" rtlCol="0">
            <a:spAutoFit/>
          </a:bodyPr>
          <a:lstStyle/>
          <a:p>
            <a:pPr marL="152400">
              <a:lnSpc>
                <a:spcPct val="100000"/>
              </a:lnSpc>
              <a:spcBef>
                <a:spcPts val="100"/>
              </a:spcBef>
            </a:pPr>
            <a:r>
              <a:rPr lang="en-US" spc="-10" dirty="0"/>
              <a:t>Implementation</a:t>
            </a:r>
            <a:endParaRPr spc="-10" dirty="0"/>
          </a:p>
        </p:txBody>
      </p:sp>
      <p:sp>
        <p:nvSpPr>
          <p:cNvPr id="9" name="object 9">
            <a:extLst>
              <a:ext uri="{FF2B5EF4-FFF2-40B4-BE49-F238E27FC236}">
                <a16:creationId xmlns:a16="http://schemas.microsoft.com/office/drawing/2014/main" id="{2F8EA05F-A803-B54D-0C63-D64F68BB3AC8}"/>
              </a:ext>
            </a:extLst>
          </p:cNvPr>
          <p:cNvSpPr txBox="1">
            <a:spLocks noGrp="1"/>
          </p:cNvSpPr>
          <p:nvPr>
            <p:ph type="ftr" sz="quarter" idx="5"/>
          </p:nvPr>
        </p:nvSpPr>
        <p:spPr>
          <a:xfrm>
            <a:off x="149031" y="6629427"/>
            <a:ext cx="635000" cy="250825"/>
          </a:xfrm>
          <a:prstGeom prst="rect">
            <a:avLst/>
          </a:prstGeom>
        </p:spPr>
        <p:txBody>
          <a:bodyPr vert="horz" wrap="square" lIns="0" tIns="0" rIns="0" bIns="0" rtlCol="0">
            <a:spAutoFit/>
          </a:bodyPr>
          <a:lstStyle>
            <a:defPPr>
              <a:defRPr kern="0"/>
            </a:defPPr>
            <a:lvl1pPr>
              <a:defRPr sz="1600" b="0" i="0">
                <a:solidFill>
                  <a:schemeClr val="bg1"/>
                </a:solidFill>
                <a:latin typeface="Times New Roman"/>
                <a:cs typeface="Times New Roman"/>
              </a:defRPr>
            </a:lvl1pPr>
          </a:lstStyle>
          <a:p>
            <a:pPr marL="12700">
              <a:lnSpc>
                <a:spcPts val="1845"/>
              </a:lnSpc>
            </a:pPr>
            <a:r>
              <a:rPr lang="en-US"/>
              <a:t>A</a:t>
            </a:r>
            <a:r>
              <a:rPr lang="en-US" spc="-10"/>
              <a:t> </a:t>
            </a:r>
            <a:r>
              <a:rPr lang="en-US"/>
              <a:t>-</a:t>
            </a:r>
            <a:r>
              <a:rPr lang="en-US" spc="-5"/>
              <a:t> </a:t>
            </a:r>
            <a:r>
              <a:rPr lang="en-US" spc="-25"/>
              <a:t>XX</a:t>
            </a:r>
            <a:endParaRPr spc="-25" dirty="0"/>
          </a:p>
        </p:txBody>
      </p:sp>
      <p:pic>
        <p:nvPicPr>
          <p:cNvPr id="13" name="Picture 12">
            <a:extLst>
              <a:ext uri="{FF2B5EF4-FFF2-40B4-BE49-F238E27FC236}">
                <a16:creationId xmlns:a16="http://schemas.microsoft.com/office/drawing/2014/main" id="{B2B5F403-9E71-29E2-26B3-F4ACED7F4A8E}"/>
              </a:ext>
            </a:extLst>
          </p:cNvPr>
          <p:cNvPicPr>
            <a:picLocks noChangeAspect="1"/>
          </p:cNvPicPr>
          <p:nvPr/>
        </p:nvPicPr>
        <p:blipFill>
          <a:blip r:embed="rId3"/>
          <a:stretch>
            <a:fillRect/>
          </a:stretch>
        </p:blipFill>
        <p:spPr>
          <a:xfrm>
            <a:off x="5963424" y="1048544"/>
            <a:ext cx="5075395" cy="2456438"/>
          </a:xfrm>
          <a:prstGeom prst="rect">
            <a:avLst/>
          </a:prstGeom>
        </p:spPr>
      </p:pic>
      <p:pic>
        <p:nvPicPr>
          <p:cNvPr id="15" name="Picture 14">
            <a:extLst>
              <a:ext uri="{FF2B5EF4-FFF2-40B4-BE49-F238E27FC236}">
                <a16:creationId xmlns:a16="http://schemas.microsoft.com/office/drawing/2014/main" id="{20D6C6B0-A5B8-E79A-1074-A496E50CD9E4}"/>
              </a:ext>
            </a:extLst>
          </p:cNvPr>
          <p:cNvPicPr>
            <a:picLocks noChangeAspect="1"/>
          </p:cNvPicPr>
          <p:nvPr/>
        </p:nvPicPr>
        <p:blipFill>
          <a:blip r:embed="rId4"/>
          <a:stretch>
            <a:fillRect/>
          </a:stretch>
        </p:blipFill>
        <p:spPr>
          <a:xfrm>
            <a:off x="644705" y="3814003"/>
            <a:ext cx="5121866" cy="2456437"/>
          </a:xfrm>
          <a:prstGeom prst="rect">
            <a:avLst/>
          </a:prstGeom>
        </p:spPr>
      </p:pic>
      <p:pic>
        <p:nvPicPr>
          <p:cNvPr id="18" name="Picture 17">
            <a:extLst>
              <a:ext uri="{FF2B5EF4-FFF2-40B4-BE49-F238E27FC236}">
                <a16:creationId xmlns:a16="http://schemas.microsoft.com/office/drawing/2014/main" id="{12418F1C-02CA-480F-7C4E-893078F8DC47}"/>
              </a:ext>
            </a:extLst>
          </p:cNvPr>
          <p:cNvPicPr>
            <a:picLocks noChangeAspect="1"/>
          </p:cNvPicPr>
          <p:nvPr/>
        </p:nvPicPr>
        <p:blipFill>
          <a:blip r:embed="rId5"/>
          <a:stretch>
            <a:fillRect/>
          </a:stretch>
        </p:blipFill>
        <p:spPr>
          <a:xfrm>
            <a:off x="5979119" y="3778926"/>
            <a:ext cx="5228146" cy="2491302"/>
          </a:xfrm>
          <a:prstGeom prst="rect">
            <a:avLst/>
          </a:prstGeom>
        </p:spPr>
      </p:pic>
      <p:pic>
        <p:nvPicPr>
          <p:cNvPr id="20" name="Picture 19">
            <a:extLst>
              <a:ext uri="{FF2B5EF4-FFF2-40B4-BE49-F238E27FC236}">
                <a16:creationId xmlns:a16="http://schemas.microsoft.com/office/drawing/2014/main" id="{52ECDC5A-B1C8-655F-5DE8-816A800B280E}"/>
              </a:ext>
            </a:extLst>
          </p:cNvPr>
          <p:cNvPicPr>
            <a:picLocks noChangeAspect="1"/>
          </p:cNvPicPr>
          <p:nvPr/>
        </p:nvPicPr>
        <p:blipFill>
          <a:blip r:embed="rId6"/>
          <a:stretch>
            <a:fillRect/>
          </a:stretch>
        </p:blipFill>
        <p:spPr>
          <a:xfrm>
            <a:off x="660400" y="1048544"/>
            <a:ext cx="5106171" cy="2456438"/>
          </a:xfrm>
          <a:prstGeom prst="rect">
            <a:avLst/>
          </a:prstGeom>
        </p:spPr>
      </p:pic>
      <p:sp>
        <p:nvSpPr>
          <p:cNvPr id="7" name="Rectangle 6">
            <a:extLst>
              <a:ext uri="{FF2B5EF4-FFF2-40B4-BE49-F238E27FC236}">
                <a16:creationId xmlns:a16="http://schemas.microsoft.com/office/drawing/2014/main" id="{641EE83F-8188-BD4F-81C4-3678281E5160}"/>
              </a:ext>
            </a:extLst>
          </p:cNvPr>
          <p:cNvSpPr/>
          <p:nvPr/>
        </p:nvSpPr>
        <p:spPr>
          <a:xfrm>
            <a:off x="660400" y="1048544"/>
            <a:ext cx="5121866" cy="245643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B947C37B-913C-AA6F-533D-194DB66EC3C3}"/>
              </a:ext>
            </a:extLst>
          </p:cNvPr>
          <p:cNvSpPr/>
          <p:nvPr/>
        </p:nvSpPr>
        <p:spPr>
          <a:xfrm>
            <a:off x="5963424" y="1048544"/>
            <a:ext cx="5075395" cy="245643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368BE120-01FD-2B35-FC0B-DA6478E4F73A}"/>
              </a:ext>
            </a:extLst>
          </p:cNvPr>
          <p:cNvSpPr/>
          <p:nvPr/>
        </p:nvSpPr>
        <p:spPr>
          <a:xfrm>
            <a:off x="660400" y="3816220"/>
            <a:ext cx="5121866" cy="249130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BDDB98ED-C84B-F001-04F1-34A82957B220}"/>
              </a:ext>
            </a:extLst>
          </p:cNvPr>
          <p:cNvSpPr/>
          <p:nvPr/>
        </p:nvSpPr>
        <p:spPr>
          <a:xfrm>
            <a:off x="5979119" y="3813791"/>
            <a:ext cx="5228146" cy="245643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0160D026-EEBA-E945-7051-F190F292D43C}"/>
              </a:ext>
            </a:extLst>
          </p:cNvPr>
          <p:cNvSpPr/>
          <p:nvPr/>
        </p:nvSpPr>
        <p:spPr>
          <a:xfrm>
            <a:off x="3159890" y="26721"/>
            <a:ext cx="5632632" cy="205760"/>
          </a:xfrm>
          <a:prstGeom prst="rect">
            <a:avLst/>
          </a:prstGeom>
          <a:solidFill>
            <a:srgbClr val="00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i="1">
                <a:solidFill>
                  <a:schemeClr val="bg1"/>
                </a:solidFill>
                <a:latin typeface="Times New Roman" panose="02020603050405020304" pitchFamily="18" charset="0"/>
                <a:cs typeface="Times New Roman" panose="02020603050405020304" pitchFamily="18" charset="0"/>
              </a:rPr>
              <a:t>AI Enhanced Geospatial Tourism Recommendation System</a:t>
            </a:r>
            <a:endParaRPr lang="en-IN" i="1" dirty="0">
              <a:solidFill>
                <a:schemeClr val="bg1"/>
              </a:solidFill>
              <a:latin typeface="Times New Roman" panose="02020603050405020304" pitchFamily="18" charset="0"/>
              <a:cs typeface="Times New Roman" panose="02020603050405020304" pitchFamily="18" charset="0"/>
            </a:endParaRPr>
          </a:p>
        </p:txBody>
      </p:sp>
      <p:sp>
        <p:nvSpPr>
          <p:cNvPr id="21" name="Rectangle 20">
            <a:extLst>
              <a:ext uri="{FF2B5EF4-FFF2-40B4-BE49-F238E27FC236}">
                <a16:creationId xmlns:a16="http://schemas.microsoft.com/office/drawing/2014/main" id="{866968B5-F5C9-B5AC-2DD3-65AB9764F2A2}"/>
              </a:ext>
            </a:extLst>
          </p:cNvPr>
          <p:cNvSpPr/>
          <p:nvPr/>
        </p:nvSpPr>
        <p:spPr>
          <a:xfrm>
            <a:off x="170155" y="6675677"/>
            <a:ext cx="613876" cy="182323"/>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A9</a:t>
            </a:r>
            <a:endParaRPr lang="en-IN" dirty="0"/>
          </a:p>
        </p:txBody>
      </p:sp>
    </p:spTree>
    <p:extLst>
      <p:ext uri="{BB962C8B-B14F-4D97-AF65-F5344CB8AC3E}">
        <p14:creationId xmlns:p14="http://schemas.microsoft.com/office/powerpoint/2010/main" val="1219214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4FB11-EB66-6EEF-4741-65317A097DF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D7CD75E-A9D0-4B7D-3DC6-D4F1034E71E5}"/>
              </a:ext>
            </a:extLst>
          </p:cNvPr>
          <p:cNvSpPr txBox="1"/>
          <p:nvPr/>
        </p:nvSpPr>
        <p:spPr>
          <a:xfrm>
            <a:off x="5350480" y="-18339"/>
            <a:ext cx="1488440" cy="254000"/>
          </a:xfrm>
          <a:prstGeom prst="rect">
            <a:avLst/>
          </a:prstGeom>
        </p:spPr>
        <p:txBody>
          <a:bodyPr vert="horz" wrap="square" lIns="0" tIns="12700" rIns="0" bIns="0" rtlCol="0">
            <a:spAutoFit/>
          </a:bodyPr>
          <a:lstStyle/>
          <a:p>
            <a:pPr marL="12700">
              <a:lnSpc>
                <a:spcPct val="100000"/>
              </a:lnSpc>
              <a:spcBef>
                <a:spcPts val="100"/>
              </a:spcBef>
            </a:pPr>
            <a:r>
              <a:rPr sz="1500" b="1" i="1" dirty="0">
                <a:solidFill>
                  <a:srgbClr val="FFFFFF"/>
                </a:solidFill>
                <a:latin typeface="Times New Roman"/>
                <a:cs typeface="Times New Roman"/>
              </a:rPr>
              <a:t>Title</a:t>
            </a:r>
            <a:r>
              <a:rPr sz="1500" b="1" i="1" spc="-20" dirty="0">
                <a:solidFill>
                  <a:srgbClr val="FFFFFF"/>
                </a:solidFill>
                <a:latin typeface="Times New Roman"/>
                <a:cs typeface="Times New Roman"/>
              </a:rPr>
              <a:t> </a:t>
            </a:r>
            <a:r>
              <a:rPr sz="1500" b="1" i="1" dirty="0">
                <a:solidFill>
                  <a:srgbClr val="FFFFFF"/>
                </a:solidFill>
                <a:latin typeface="Times New Roman"/>
                <a:cs typeface="Times New Roman"/>
              </a:rPr>
              <a:t>of</a:t>
            </a:r>
            <a:r>
              <a:rPr sz="1500" b="1" i="1" spc="-15" dirty="0">
                <a:solidFill>
                  <a:srgbClr val="FFFFFF"/>
                </a:solidFill>
                <a:latin typeface="Times New Roman"/>
                <a:cs typeface="Times New Roman"/>
              </a:rPr>
              <a:t> </a:t>
            </a:r>
            <a:r>
              <a:rPr sz="1500" b="1" i="1" dirty="0">
                <a:solidFill>
                  <a:srgbClr val="FFFFFF"/>
                </a:solidFill>
                <a:latin typeface="Times New Roman"/>
                <a:cs typeface="Times New Roman"/>
              </a:rPr>
              <a:t>the</a:t>
            </a:r>
            <a:r>
              <a:rPr sz="1500" b="1" i="1" spc="-20" dirty="0">
                <a:solidFill>
                  <a:srgbClr val="FFFFFF"/>
                </a:solidFill>
                <a:latin typeface="Times New Roman"/>
                <a:cs typeface="Times New Roman"/>
              </a:rPr>
              <a:t> </a:t>
            </a:r>
            <a:r>
              <a:rPr sz="1500" b="1" i="1" spc="-10" dirty="0">
                <a:solidFill>
                  <a:srgbClr val="FFFFFF"/>
                </a:solidFill>
                <a:latin typeface="Times New Roman"/>
                <a:cs typeface="Times New Roman"/>
              </a:rPr>
              <a:t>Project</a:t>
            </a:r>
            <a:endParaRPr sz="1500">
              <a:latin typeface="Times New Roman"/>
              <a:cs typeface="Times New Roman"/>
            </a:endParaRPr>
          </a:p>
        </p:txBody>
      </p:sp>
      <p:grpSp>
        <p:nvGrpSpPr>
          <p:cNvPr id="3" name="object 3">
            <a:extLst>
              <a:ext uri="{FF2B5EF4-FFF2-40B4-BE49-F238E27FC236}">
                <a16:creationId xmlns:a16="http://schemas.microsoft.com/office/drawing/2014/main" id="{9B1938A5-2F15-7AAA-DBEB-E7505E393ED2}"/>
              </a:ext>
            </a:extLst>
          </p:cNvPr>
          <p:cNvGrpSpPr/>
          <p:nvPr/>
        </p:nvGrpSpPr>
        <p:grpSpPr>
          <a:xfrm>
            <a:off x="0" y="216720"/>
            <a:ext cx="12192000" cy="803275"/>
            <a:chOff x="0" y="216720"/>
            <a:chExt cx="12192000" cy="803275"/>
          </a:xfrm>
        </p:grpSpPr>
        <p:pic>
          <p:nvPicPr>
            <p:cNvPr id="4" name="object 4">
              <a:extLst>
                <a:ext uri="{FF2B5EF4-FFF2-40B4-BE49-F238E27FC236}">
                  <a16:creationId xmlns:a16="http://schemas.microsoft.com/office/drawing/2014/main" id="{DE1E05D8-A79B-4740-A10A-0CCACFBA1ABB}"/>
                </a:ext>
              </a:extLst>
            </p:cNvPr>
            <p:cNvPicPr/>
            <p:nvPr/>
          </p:nvPicPr>
          <p:blipFill>
            <a:blip r:embed="rId2" cstate="print"/>
            <a:stretch>
              <a:fillRect/>
            </a:stretch>
          </p:blipFill>
          <p:spPr>
            <a:xfrm>
              <a:off x="0" y="216720"/>
              <a:ext cx="12192000" cy="803160"/>
            </a:xfrm>
            <a:prstGeom prst="rect">
              <a:avLst/>
            </a:prstGeom>
          </p:spPr>
        </p:pic>
        <p:sp>
          <p:nvSpPr>
            <p:cNvPr id="5" name="object 5">
              <a:extLst>
                <a:ext uri="{FF2B5EF4-FFF2-40B4-BE49-F238E27FC236}">
                  <a16:creationId xmlns:a16="http://schemas.microsoft.com/office/drawing/2014/main" id="{2D5FD9F1-AF9D-1E22-ADD4-844AA4280EFA}"/>
                </a:ext>
              </a:extLst>
            </p:cNvPr>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2DEC9E68-87A8-4990-902F-BB985637C228}"/>
              </a:ext>
            </a:extLst>
          </p:cNvPr>
          <p:cNvSpPr txBox="1">
            <a:spLocks noGrp="1"/>
          </p:cNvSpPr>
          <p:nvPr>
            <p:ph type="title"/>
          </p:nvPr>
        </p:nvSpPr>
        <p:spPr>
          <a:prstGeom prst="rect">
            <a:avLst/>
          </a:prstGeom>
        </p:spPr>
        <p:txBody>
          <a:bodyPr vert="horz" wrap="square" lIns="0" tIns="12700" rIns="0" bIns="0" rtlCol="0">
            <a:spAutoFit/>
          </a:bodyPr>
          <a:lstStyle/>
          <a:p>
            <a:pPr marL="152400">
              <a:lnSpc>
                <a:spcPct val="100000"/>
              </a:lnSpc>
              <a:spcBef>
                <a:spcPts val="100"/>
              </a:spcBef>
            </a:pPr>
            <a:r>
              <a:rPr lang="en-US" spc="-10" dirty="0"/>
              <a:t>Research Paper</a:t>
            </a:r>
            <a:endParaRPr spc="-10" dirty="0"/>
          </a:p>
        </p:txBody>
      </p:sp>
      <p:sp>
        <p:nvSpPr>
          <p:cNvPr id="9" name="object 9">
            <a:extLst>
              <a:ext uri="{FF2B5EF4-FFF2-40B4-BE49-F238E27FC236}">
                <a16:creationId xmlns:a16="http://schemas.microsoft.com/office/drawing/2014/main" id="{044AB9B7-4E27-849F-911B-D269844E348D}"/>
              </a:ext>
            </a:extLst>
          </p:cNvPr>
          <p:cNvSpPr txBox="1">
            <a:spLocks noGrp="1"/>
          </p:cNvSpPr>
          <p:nvPr>
            <p:ph type="ftr" sz="quarter" idx="5"/>
          </p:nvPr>
        </p:nvSpPr>
        <p:spPr>
          <a:xfrm>
            <a:off x="149031" y="6629427"/>
            <a:ext cx="635000" cy="250825"/>
          </a:xfrm>
          <a:prstGeom prst="rect">
            <a:avLst/>
          </a:prstGeom>
        </p:spPr>
        <p:txBody>
          <a:bodyPr vert="horz" wrap="square" lIns="0" tIns="0" rIns="0" bIns="0" rtlCol="0">
            <a:spAutoFit/>
          </a:bodyPr>
          <a:lstStyle>
            <a:defPPr>
              <a:defRPr kern="0"/>
            </a:defPPr>
            <a:lvl1pPr>
              <a:defRPr sz="1600" b="0" i="0">
                <a:solidFill>
                  <a:schemeClr val="bg1"/>
                </a:solidFill>
                <a:latin typeface="Times New Roman"/>
                <a:cs typeface="Times New Roman"/>
              </a:defRPr>
            </a:lvl1pPr>
          </a:lstStyle>
          <a:p>
            <a:pPr marL="12700">
              <a:lnSpc>
                <a:spcPts val="1845"/>
              </a:lnSpc>
            </a:pPr>
            <a:r>
              <a:rPr lang="en-US"/>
              <a:t>A</a:t>
            </a:r>
            <a:r>
              <a:rPr lang="en-US" spc="-10"/>
              <a:t> </a:t>
            </a:r>
            <a:r>
              <a:rPr lang="en-US"/>
              <a:t>-</a:t>
            </a:r>
            <a:r>
              <a:rPr lang="en-US" spc="-5"/>
              <a:t> </a:t>
            </a:r>
            <a:r>
              <a:rPr lang="en-US" spc="-25"/>
              <a:t>XX</a:t>
            </a:r>
            <a:endParaRPr spc="-25" dirty="0"/>
          </a:p>
        </p:txBody>
      </p:sp>
      <p:pic>
        <p:nvPicPr>
          <p:cNvPr id="13" name="Picture 12">
            <a:extLst>
              <a:ext uri="{FF2B5EF4-FFF2-40B4-BE49-F238E27FC236}">
                <a16:creationId xmlns:a16="http://schemas.microsoft.com/office/drawing/2014/main" id="{CEB0D25C-73D0-3CEF-2D80-A69F42BAFEE2}"/>
              </a:ext>
            </a:extLst>
          </p:cNvPr>
          <p:cNvPicPr>
            <a:picLocks noChangeAspect="1"/>
          </p:cNvPicPr>
          <p:nvPr/>
        </p:nvPicPr>
        <p:blipFill>
          <a:blip r:embed="rId3"/>
          <a:stretch>
            <a:fillRect/>
          </a:stretch>
        </p:blipFill>
        <p:spPr>
          <a:xfrm>
            <a:off x="1461795" y="1219859"/>
            <a:ext cx="9441998" cy="5405221"/>
          </a:xfrm>
          <a:prstGeom prst="rect">
            <a:avLst/>
          </a:prstGeom>
        </p:spPr>
      </p:pic>
      <p:sp>
        <p:nvSpPr>
          <p:cNvPr id="8" name="Rectangle 7">
            <a:extLst>
              <a:ext uri="{FF2B5EF4-FFF2-40B4-BE49-F238E27FC236}">
                <a16:creationId xmlns:a16="http://schemas.microsoft.com/office/drawing/2014/main" id="{DD0F7B8F-2155-D522-AE07-E9F7D5B506E2}"/>
              </a:ext>
            </a:extLst>
          </p:cNvPr>
          <p:cNvSpPr/>
          <p:nvPr/>
        </p:nvSpPr>
        <p:spPr>
          <a:xfrm>
            <a:off x="3159890" y="26720"/>
            <a:ext cx="5632632" cy="201561"/>
          </a:xfrm>
          <a:prstGeom prst="rect">
            <a:avLst/>
          </a:prstGeom>
          <a:solidFill>
            <a:srgbClr val="00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i="1">
                <a:solidFill>
                  <a:schemeClr val="bg1"/>
                </a:solidFill>
                <a:latin typeface="Times New Roman" panose="02020603050405020304" pitchFamily="18" charset="0"/>
                <a:cs typeface="Times New Roman" panose="02020603050405020304" pitchFamily="18" charset="0"/>
              </a:rPr>
              <a:t>AI Enhanced Geospatial Tourism Recommendation System</a:t>
            </a:r>
            <a:endParaRPr lang="en-IN" i="1" dirty="0">
              <a:solidFill>
                <a:schemeClr val="bg1"/>
              </a:solidFill>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E6B84C91-1EC7-656E-6192-8C40014D38B9}"/>
              </a:ext>
            </a:extLst>
          </p:cNvPr>
          <p:cNvSpPr/>
          <p:nvPr/>
        </p:nvSpPr>
        <p:spPr>
          <a:xfrm>
            <a:off x="170155" y="6675677"/>
            <a:ext cx="613876" cy="182323"/>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A9</a:t>
            </a:r>
            <a:endParaRPr lang="en-IN" dirty="0"/>
          </a:p>
        </p:txBody>
      </p:sp>
    </p:spTree>
    <p:extLst>
      <p:ext uri="{BB962C8B-B14F-4D97-AF65-F5344CB8AC3E}">
        <p14:creationId xmlns:p14="http://schemas.microsoft.com/office/powerpoint/2010/main" val="21993429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0480" y="-18339"/>
            <a:ext cx="1488440" cy="254000"/>
          </a:xfrm>
          <a:prstGeom prst="rect">
            <a:avLst/>
          </a:prstGeom>
        </p:spPr>
        <p:txBody>
          <a:bodyPr vert="horz" wrap="square" lIns="0" tIns="12700" rIns="0" bIns="0" rtlCol="0">
            <a:spAutoFit/>
          </a:bodyPr>
          <a:lstStyle/>
          <a:p>
            <a:pPr marL="12700">
              <a:lnSpc>
                <a:spcPct val="100000"/>
              </a:lnSpc>
              <a:spcBef>
                <a:spcPts val="100"/>
              </a:spcBef>
            </a:pPr>
            <a:r>
              <a:rPr sz="1500" b="1" i="1" dirty="0">
                <a:solidFill>
                  <a:srgbClr val="FFFFFF"/>
                </a:solidFill>
                <a:latin typeface="Times New Roman"/>
                <a:cs typeface="Times New Roman"/>
              </a:rPr>
              <a:t>Title</a:t>
            </a:r>
            <a:r>
              <a:rPr sz="1500" b="1" i="1" spc="-20" dirty="0">
                <a:solidFill>
                  <a:srgbClr val="FFFFFF"/>
                </a:solidFill>
                <a:latin typeface="Times New Roman"/>
                <a:cs typeface="Times New Roman"/>
              </a:rPr>
              <a:t> </a:t>
            </a:r>
            <a:r>
              <a:rPr sz="1500" b="1" i="1" dirty="0">
                <a:solidFill>
                  <a:srgbClr val="FFFFFF"/>
                </a:solidFill>
                <a:latin typeface="Times New Roman"/>
                <a:cs typeface="Times New Roman"/>
              </a:rPr>
              <a:t>of</a:t>
            </a:r>
            <a:r>
              <a:rPr sz="1500" b="1" i="1" spc="-15" dirty="0">
                <a:solidFill>
                  <a:srgbClr val="FFFFFF"/>
                </a:solidFill>
                <a:latin typeface="Times New Roman"/>
                <a:cs typeface="Times New Roman"/>
              </a:rPr>
              <a:t> </a:t>
            </a:r>
            <a:r>
              <a:rPr sz="1500" b="1" i="1" dirty="0">
                <a:solidFill>
                  <a:srgbClr val="FFFFFF"/>
                </a:solidFill>
                <a:latin typeface="Times New Roman"/>
                <a:cs typeface="Times New Roman"/>
              </a:rPr>
              <a:t>the</a:t>
            </a:r>
            <a:r>
              <a:rPr sz="1500" b="1" i="1" spc="-20" dirty="0">
                <a:solidFill>
                  <a:srgbClr val="FFFFFF"/>
                </a:solidFill>
                <a:latin typeface="Times New Roman"/>
                <a:cs typeface="Times New Roman"/>
              </a:rPr>
              <a:t> </a:t>
            </a:r>
            <a:r>
              <a:rPr sz="1500" b="1" i="1" spc="-10" dirty="0">
                <a:solidFill>
                  <a:srgbClr val="FFFFFF"/>
                </a:solidFill>
                <a:latin typeface="Times New Roman"/>
                <a:cs typeface="Times New Roman"/>
              </a:rPr>
              <a:t>Project</a:t>
            </a:r>
            <a:endParaRPr sz="1500">
              <a:latin typeface="Times New Roman"/>
              <a:cs typeface="Times New Roman"/>
            </a:endParaRP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52400">
              <a:lnSpc>
                <a:spcPct val="100000"/>
              </a:lnSpc>
              <a:spcBef>
                <a:spcPts val="100"/>
              </a:spcBef>
            </a:pPr>
            <a:r>
              <a:rPr spc="-10" dirty="0"/>
              <a:t>References</a:t>
            </a:r>
          </a:p>
        </p:txBody>
      </p:sp>
      <p:sp>
        <p:nvSpPr>
          <p:cNvPr id="9" name="object 9"/>
          <p:cNvSpPr txBox="1">
            <a:spLocks noGrp="1"/>
          </p:cNvSpPr>
          <p:nvPr>
            <p:ph type="ftr" sz="quarter" idx="5"/>
          </p:nvPr>
        </p:nvSpPr>
        <p:spPr>
          <a:xfrm>
            <a:off x="149031" y="6629427"/>
            <a:ext cx="635000" cy="250825"/>
          </a:xfrm>
          <a:prstGeom prst="rect">
            <a:avLst/>
          </a:prstGeom>
        </p:spPr>
        <p:txBody>
          <a:bodyPr vert="horz" wrap="square" lIns="0" tIns="0" rIns="0" bIns="0" rtlCol="0">
            <a:spAutoFit/>
          </a:bodyPr>
          <a:lstStyle>
            <a:defPPr>
              <a:defRPr kern="0"/>
            </a:defPPr>
            <a:lvl1pPr>
              <a:defRPr sz="1600" b="0" i="0">
                <a:solidFill>
                  <a:schemeClr val="bg1"/>
                </a:solidFill>
                <a:latin typeface="Times New Roman"/>
                <a:cs typeface="Times New Roman"/>
              </a:defRPr>
            </a:lvl1pPr>
          </a:lstStyle>
          <a:p>
            <a:pPr marL="12700">
              <a:lnSpc>
                <a:spcPts val="1845"/>
              </a:lnSpc>
            </a:pPr>
            <a:r>
              <a:rPr lang="en-US"/>
              <a:t>A</a:t>
            </a:r>
            <a:r>
              <a:rPr lang="en-US" spc="-10"/>
              <a:t> </a:t>
            </a:r>
            <a:r>
              <a:rPr lang="en-US"/>
              <a:t>-</a:t>
            </a:r>
            <a:r>
              <a:rPr lang="en-US" spc="-5"/>
              <a:t> </a:t>
            </a:r>
            <a:r>
              <a:rPr lang="en-US" spc="-25"/>
              <a:t>XX</a:t>
            </a:r>
            <a:endParaRPr spc="-25" dirty="0"/>
          </a:p>
        </p:txBody>
      </p:sp>
      <p:sp>
        <p:nvSpPr>
          <p:cNvPr id="13" name="TextBox 12">
            <a:extLst>
              <a:ext uri="{FF2B5EF4-FFF2-40B4-BE49-F238E27FC236}">
                <a16:creationId xmlns:a16="http://schemas.microsoft.com/office/drawing/2014/main" id="{2B534EE4-7247-A472-54E8-BF10F79F09CB}"/>
              </a:ext>
            </a:extLst>
          </p:cNvPr>
          <p:cNvSpPr txBox="1"/>
          <p:nvPr/>
        </p:nvSpPr>
        <p:spPr>
          <a:xfrm>
            <a:off x="784031" y="1524000"/>
            <a:ext cx="10798369" cy="3782061"/>
          </a:xfrm>
          <a:prstGeom prst="rect">
            <a:avLst/>
          </a:prstGeom>
          <a:noFill/>
        </p:spPr>
        <p:txBody>
          <a:bodyPr wrap="square">
            <a:spAutoFit/>
          </a:bodyPr>
          <a:lstStyle/>
          <a:p>
            <a:pPr marL="342900" indent="-34290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Shrestha, </a:t>
            </a:r>
            <a:r>
              <a:rPr lang="en-US" dirty="0" err="1">
                <a:latin typeface="Times New Roman" panose="02020603050405020304" pitchFamily="18" charset="0"/>
                <a:cs typeface="Times New Roman" panose="02020603050405020304" pitchFamily="18" charset="0"/>
              </a:rPr>
              <a:t>Deepanjal</a:t>
            </a:r>
            <a:r>
              <a:rPr lang="en-US" dirty="0">
                <a:latin typeface="Times New Roman" panose="02020603050405020304" pitchFamily="18" charset="0"/>
                <a:cs typeface="Times New Roman" panose="02020603050405020304" pitchFamily="18" charset="0"/>
              </a:rPr>
              <a:t>, et al. "Personalized Tourist recommender system: a data-driven and machine-learning approach." Computation 12.3 (2024): 59.</a:t>
            </a:r>
          </a:p>
          <a:p>
            <a:pPr marL="342900" indent="-342900" algn="just">
              <a:lnSpc>
                <a:spcPct val="150000"/>
              </a:lnSpc>
              <a:buFont typeface="+mj-lt"/>
              <a:buAutoNum type="arabicPeriod"/>
            </a:pPr>
            <a:r>
              <a:rPr lang="en-US" dirty="0" err="1">
                <a:latin typeface="Times New Roman" panose="02020603050405020304" pitchFamily="18" charset="0"/>
                <a:cs typeface="Times New Roman" panose="02020603050405020304" pitchFamily="18" charset="0"/>
              </a:rPr>
              <a:t>Alsahafi</a:t>
            </a:r>
            <a:r>
              <a:rPr lang="en-US" dirty="0">
                <a:latin typeface="Times New Roman" panose="02020603050405020304" pitchFamily="18" charset="0"/>
                <a:cs typeface="Times New Roman" panose="02020603050405020304" pitchFamily="18" charset="0"/>
              </a:rPr>
              <a:t>, Raniah, Rashid Mehmood, and Saad </a:t>
            </a:r>
            <a:r>
              <a:rPr lang="en-US" dirty="0" err="1">
                <a:latin typeface="Times New Roman" panose="02020603050405020304" pitchFamily="18" charset="0"/>
                <a:cs typeface="Times New Roman" panose="02020603050405020304" pitchFamily="18" charset="0"/>
              </a:rPr>
              <a:t>Alqahtany</a:t>
            </a:r>
            <a:r>
              <a:rPr lang="en-US" dirty="0">
                <a:latin typeface="Times New Roman" panose="02020603050405020304" pitchFamily="18" charset="0"/>
                <a:cs typeface="Times New Roman" panose="02020603050405020304" pitchFamily="18" charset="0"/>
              </a:rPr>
              <a:t>. "A Machine Learning-Based Analysis of Tourism Recommendation Systems: Holistic Parameter Discovery and Insights." International Journal of Advanced Computer Science &amp; Applications 16.1 (2025).</a:t>
            </a:r>
          </a:p>
          <a:p>
            <a:pPr marL="342900" indent="-342900" algn="just">
              <a:lnSpc>
                <a:spcPct val="150000"/>
              </a:lnSpc>
              <a:buFont typeface="+mj-lt"/>
              <a:buAutoNum type="arabicPeriod"/>
            </a:pPr>
            <a:r>
              <a:rPr lang="en-US" dirty="0" err="1">
                <a:latin typeface="Times New Roman" panose="02020603050405020304" pitchFamily="18" charset="0"/>
                <a:cs typeface="Times New Roman" panose="02020603050405020304" pitchFamily="18" charset="0"/>
              </a:rPr>
              <a:t>Kongpeng</a:t>
            </a:r>
            <a:r>
              <a:rPr lang="en-US" dirty="0">
                <a:latin typeface="Times New Roman" panose="02020603050405020304" pitchFamily="18" charset="0"/>
                <a:cs typeface="Times New Roman" panose="02020603050405020304" pitchFamily="18" charset="0"/>
              </a:rPr>
              <a:t>, Sumitra, and </a:t>
            </a:r>
            <a:r>
              <a:rPr lang="en-US" dirty="0" err="1">
                <a:latin typeface="Times New Roman" panose="02020603050405020304" pitchFamily="18" charset="0"/>
                <a:cs typeface="Times New Roman" panose="02020603050405020304" pitchFamily="18" charset="0"/>
              </a:rPr>
              <a:t>Anantaporn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Hanskunatai</a:t>
            </a:r>
            <a:r>
              <a:rPr lang="en-US" dirty="0">
                <a:latin typeface="Times New Roman" panose="02020603050405020304" pitchFamily="18" charset="0"/>
                <a:cs typeface="Times New Roman" panose="02020603050405020304" pitchFamily="18" charset="0"/>
              </a:rPr>
              <a:t>. "Tourist Destination Recommendation System based on Machine Learning." Proceedings of the 2024 9th International Conference on Big Data and Computing. 2024.</a:t>
            </a:r>
          </a:p>
          <a:p>
            <a:pPr marL="342900" indent="-34290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Gupta, Keshav, et al. "Deep Learning Classifier to Recommend the Tourist Attraction in Smart Cities." 2024 2nd International Conference on Disruptive Technologies (ICDT). IEEE, 2024.</a:t>
            </a:r>
          </a:p>
        </p:txBody>
      </p:sp>
      <p:sp>
        <p:nvSpPr>
          <p:cNvPr id="8" name="Rectangle 7">
            <a:extLst>
              <a:ext uri="{FF2B5EF4-FFF2-40B4-BE49-F238E27FC236}">
                <a16:creationId xmlns:a16="http://schemas.microsoft.com/office/drawing/2014/main" id="{2B2C2176-7B52-8241-53FA-9C26802DFF82}"/>
              </a:ext>
            </a:extLst>
          </p:cNvPr>
          <p:cNvSpPr/>
          <p:nvPr/>
        </p:nvSpPr>
        <p:spPr>
          <a:xfrm>
            <a:off x="3159890" y="26720"/>
            <a:ext cx="5632632" cy="173783"/>
          </a:xfrm>
          <a:prstGeom prst="rect">
            <a:avLst/>
          </a:prstGeom>
          <a:solidFill>
            <a:srgbClr val="00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i="1">
                <a:solidFill>
                  <a:schemeClr val="bg1"/>
                </a:solidFill>
                <a:latin typeface="Times New Roman" panose="02020603050405020304" pitchFamily="18" charset="0"/>
                <a:cs typeface="Times New Roman" panose="02020603050405020304" pitchFamily="18" charset="0"/>
              </a:rPr>
              <a:t>AI Enhanced Geospatial Tourism Recommendation System</a:t>
            </a:r>
            <a:endParaRPr lang="en-IN" i="1" dirty="0">
              <a:solidFill>
                <a:schemeClr val="bg1"/>
              </a:solidFill>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1D0DA799-86D9-7535-93A7-4E745DC2A5AF}"/>
              </a:ext>
            </a:extLst>
          </p:cNvPr>
          <p:cNvSpPr/>
          <p:nvPr/>
        </p:nvSpPr>
        <p:spPr>
          <a:xfrm>
            <a:off x="170155" y="6675677"/>
            <a:ext cx="613876" cy="182323"/>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A9</a:t>
            </a:r>
            <a:endParaRPr lang="en-I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E9AEE-5273-EF45-475A-7E0C5A90514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A40700A-E8E1-C29E-75DC-3487F63BD230}"/>
              </a:ext>
            </a:extLst>
          </p:cNvPr>
          <p:cNvSpPr txBox="1"/>
          <p:nvPr/>
        </p:nvSpPr>
        <p:spPr>
          <a:xfrm>
            <a:off x="5350480" y="-18339"/>
            <a:ext cx="1488440" cy="254000"/>
          </a:xfrm>
          <a:prstGeom prst="rect">
            <a:avLst/>
          </a:prstGeom>
        </p:spPr>
        <p:txBody>
          <a:bodyPr vert="horz" wrap="square" lIns="0" tIns="12700" rIns="0" bIns="0" rtlCol="0">
            <a:spAutoFit/>
          </a:bodyPr>
          <a:lstStyle/>
          <a:p>
            <a:pPr marL="12700">
              <a:lnSpc>
                <a:spcPct val="100000"/>
              </a:lnSpc>
              <a:spcBef>
                <a:spcPts val="100"/>
              </a:spcBef>
            </a:pPr>
            <a:r>
              <a:rPr sz="1500" b="1" i="1" dirty="0">
                <a:solidFill>
                  <a:srgbClr val="FFFFFF"/>
                </a:solidFill>
                <a:latin typeface="Times New Roman"/>
                <a:cs typeface="Times New Roman"/>
              </a:rPr>
              <a:t>Title</a:t>
            </a:r>
            <a:r>
              <a:rPr sz="1500" b="1" i="1" spc="-20" dirty="0">
                <a:solidFill>
                  <a:srgbClr val="FFFFFF"/>
                </a:solidFill>
                <a:latin typeface="Times New Roman"/>
                <a:cs typeface="Times New Roman"/>
              </a:rPr>
              <a:t> </a:t>
            </a:r>
            <a:r>
              <a:rPr sz="1500" b="1" i="1" dirty="0">
                <a:solidFill>
                  <a:srgbClr val="FFFFFF"/>
                </a:solidFill>
                <a:latin typeface="Times New Roman"/>
                <a:cs typeface="Times New Roman"/>
              </a:rPr>
              <a:t>of</a:t>
            </a:r>
            <a:r>
              <a:rPr sz="1500" b="1" i="1" spc="-15" dirty="0">
                <a:solidFill>
                  <a:srgbClr val="FFFFFF"/>
                </a:solidFill>
                <a:latin typeface="Times New Roman"/>
                <a:cs typeface="Times New Roman"/>
              </a:rPr>
              <a:t> </a:t>
            </a:r>
            <a:r>
              <a:rPr sz="1500" b="1" i="1" dirty="0">
                <a:solidFill>
                  <a:srgbClr val="FFFFFF"/>
                </a:solidFill>
                <a:latin typeface="Times New Roman"/>
                <a:cs typeface="Times New Roman"/>
              </a:rPr>
              <a:t>the</a:t>
            </a:r>
            <a:r>
              <a:rPr sz="1500" b="1" i="1" spc="-20" dirty="0">
                <a:solidFill>
                  <a:srgbClr val="FFFFFF"/>
                </a:solidFill>
                <a:latin typeface="Times New Roman"/>
                <a:cs typeface="Times New Roman"/>
              </a:rPr>
              <a:t> </a:t>
            </a:r>
            <a:r>
              <a:rPr sz="1500" b="1" i="1" spc="-10" dirty="0">
                <a:solidFill>
                  <a:srgbClr val="FFFFFF"/>
                </a:solidFill>
                <a:latin typeface="Times New Roman"/>
                <a:cs typeface="Times New Roman"/>
              </a:rPr>
              <a:t>Project</a:t>
            </a:r>
            <a:endParaRPr sz="1500">
              <a:latin typeface="Times New Roman"/>
              <a:cs typeface="Times New Roman"/>
            </a:endParaRPr>
          </a:p>
        </p:txBody>
      </p:sp>
      <p:grpSp>
        <p:nvGrpSpPr>
          <p:cNvPr id="3" name="object 3">
            <a:extLst>
              <a:ext uri="{FF2B5EF4-FFF2-40B4-BE49-F238E27FC236}">
                <a16:creationId xmlns:a16="http://schemas.microsoft.com/office/drawing/2014/main" id="{21A4160E-0D9D-9376-FC44-4790DEEF6508}"/>
              </a:ext>
            </a:extLst>
          </p:cNvPr>
          <p:cNvGrpSpPr/>
          <p:nvPr/>
        </p:nvGrpSpPr>
        <p:grpSpPr>
          <a:xfrm>
            <a:off x="0" y="216720"/>
            <a:ext cx="12192000" cy="803275"/>
            <a:chOff x="0" y="216720"/>
            <a:chExt cx="12192000" cy="803275"/>
          </a:xfrm>
        </p:grpSpPr>
        <p:pic>
          <p:nvPicPr>
            <p:cNvPr id="4" name="object 4">
              <a:extLst>
                <a:ext uri="{FF2B5EF4-FFF2-40B4-BE49-F238E27FC236}">
                  <a16:creationId xmlns:a16="http://schemas.microsoft.com/office/drawing/2014/main" id="{7302BDFD-3B63-C3A3-B492-036C38F49D8B}"/>
                </a:ext>
              </a:extLst>
            </p:cNvPr>
            <p:cNvPicPr/>
            <p:nvPr/>
          </p:nvPicPr>
          <p:blipFill>
            <a:blip r:embed="rId2" cstate="print"/>
            <a:stretch>
              <a:fillRect/>
            </a:stretch>
          </p:blipFill>
          <p:spPr>
            <a:xfrm>
              <a:off x="0" y="216720"/>
              <a:ext cx="12192000" cy="803160"/>
            </a:xfrm>
            <a:prstGeom prst="rect">
              <a:avLst/>
            </a:prstGeom>
          </p:spPr>
        </p:pic>
        <p:sp>
          <p:nvSpPr>
            <p:cNvPr id="5" name="object 5">
              <a:extLst>
                <a:ext uri="{FF2B5EF4-FFF2-40B4-BE49-F238E27FC236}">
                  <a16:creationId xmlns:a16="http://schemas.microsoft.com/office/drawing/2014/main" id="{A870A116-C1E8-2C63-FE33-6670FF169397}"/>
                </a:ext>
              </a:extLst>
            </p:cNvPr>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46EFB926-7821-0F12-F8B7-B41E11CC2388}"/>
              </a:ext>
            </a:extLst>
          </p:cNvPr>
          <p:cNvSpPr txBox="1">
            <a:spLocks noGrp="1"/>
          </p:cNvSpPr>
          <p:nvPr>
            <p:ph type="title"/>
          </p:nvPr>
        </p:nvSpPr>
        <p:spPr>
          <a:prstGeom prst="rect">
            <a:avLst/>
          </a:prstGeom>
        </p:spPr>
        <p:txBody>
          <a:bodyPr vert="horz" wrap="square" lIns="0" tIns="12700" rIns="0" bIns="0" rtlCol="0">
            <a:spAutoFit/>
          </a:bodyPr>
          <a:lstStyle/>
          <a:p>
            <a:pPr marL="152400">
              <a:lnSpc>
                <a:spcPct val="100000"/>
              </a:lnSpc>
              <a:spcBef>
                <a:spcPts val="100"/>
              </a:spcBef>
            </a:pPr>
            <a:r>
              <a:rPr lang="en-US" spc="-10" dirty="0" err="1"/>
              <a:t>Github</a:t>
            </a:r>
            <a:r>
              <a:rPr lang="en-US" spc="-10" dirty="0"/>
              <a:t> Link</a:t>
            </a:r>
            <a:endParaRPr spc="-10" dirty="0"/>
          </a:p>
        </p:txBody>
      </p:sp>
      <p:sp>
        <p:nvSpPr>
          <p:cNvPr id="9" name="object 9">
            <a:extLst>
              <a:ext uri="{FF2B5EF4-FFF2-40B4-BE49-F238E27FC236}">
                <a16:creationId xmlns:a16="http://schemas.microsoft.com/office/drawing/2014/main" id="{2435CE2D-017F-BB14-8C71-6456A8F5A553}"/>
              </a:ext>
            </a:extLst>
          </p:cNvPr>
          <p:cNvSpPr txBox="1">
            <a:spLocks noGrp="1"/>
          </p:cNvSpPr>
          <p:nvPr>
            <p:ph type="ftr" sz="quarter" idx="5"/>
          </p:nvPr>
        </p:nvSpPr>
        <p:spPr>
          <a:xfrm>
            <a:off x="149031" y="6629427"/>
            <a:ext cx="635000" cy="250825"/>
          </a:xfrm>
          <a:prstGeom prst="rect">
            <a:avLst/>
          </a:prstGeom>
        </p:spPr>
        <p:txBody>
          <a:bodyPr vert="horz" wrap="square" lIns="0" tIns="0" rIns="0" bIns="0" rtlCol="0">
            <a:spAutoFit/>
          </a:bodyPr>
          <a:lstStyle>
            <a:defPPr>
              <a:defRPr kern="0"/>
            </a:defPPr>
            <a:lvl1pPr>
              <a:defRPr sz="1600" b="0" i="0">
                <a:solidFill>
                  <a:schemeClr val="bg1"/>
                </a:solidFill>
                <a:latin typeface="Times New Roman"/>
                <a:cs typeface="Times New Roman"/>
              </a:defRPr>
            </a:lvl1pPr>
          </a:lstStyle>
          <a:p>
            <a:pPr marL="12700">
              <a:lnSpc>
                <a:spcPts val="1845"/>
              </a:lnSpc>
            </a:pPr>
            <a:r>
              <a:rPr lang="en-US"/>
              <a:t>A</a:t>
            </a:r>
            <a:r>
              <a:rPr lang="en-US" spc="-10"/>
              <a:t> </a:t>
            </a:r>
            <a:r>
              <a:rPr lang="en-US"/>
              <a:t>-</a:t>
            </a:r>
            <a:r>
              <a:rPr lang="en-US" spc="-5"/>
              <a:t> </a:t>
            </a:r>
            <a:r>
              <a:rPr lang="en-US" spc="-25"/>
              <a:t>XX</a:t>
            </a:r>
            <a:endParaRPr spc="-25" dirty="0"/>
          </a:p>
        </p:txBody>
      </p:sp>
      <p:sp>
        <p:nvSpPr>
          <p:cNvPr id="13" name="TextBox 12">
            <a:extLst>
              <a:ext uri="{FF2B5EF4-FFF2-40B4-BE49-F238E27FC236}">
                <a16:creationId xmlns:a16="http://schemas.microsoft.com/office/drawing/2014/main" id="{808C0287-4B71-CB62-186F-AA0C626184D5}"/>
              </a:ext>
            </a:extLst>
          </p:cNvPr>
          <p:cNvSpPr txBox="1"/>
          <p:nvPr/>
        </p:nvSpPr>
        <p:spPr>
          <a:xfrm>
            <a:off x="784031" y="1524000"/>
            <a:ext cx="10798369" cy="458074"/>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Link: </a:t>
            </a:r>
            <a:r>
              <a:rPr lang="en-US" dirty="0">
                <a:latin typeface="Times New Roman" panose="02020603050405020304" pitchFamily="18" charset="0"/>
                <a:cs typeface="Times New Roman" panose="02020603050405020304" pitchFamily="18" charset="0"/>
                <a:hlinkClick r:id="rId3"/>
              </a:rPr>
              <a:t>github.com/mani-chandrika549/CSE-2022-2026-Batch-A9</a:t>
            </a:r>
            <a:endParaRPr lang="en-US"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16AA0FC3-2F0B-A266-0F35-6611FA39B318}"/>
              </a:ext>
            </a:extLst>
          </p:cNvPr>
          <p:cNvSpPr/>
          <p:nvPr/>
        </p:nvSpPr>
        <p:spPr>
          <a:xfrm>
            <a:off x="3159890" y="26720"/>
            <a:ext cx="5632632" cy="189721"/>
          </a:xfrm>
          <a:prstGeom prst="rect">
            <a:avLst/>
          </a:prstGeom>
          <a:solidFill>
            <a:srgbClr val="00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i="1">
                <a:solidFill>
                  <a:schemeClr val="bg1"/>
                </a:solidFill>
                <a:latin typeface="Times New Roman" panose="02020603050405020304" pitchFamily="18" charset="0"/>
                <a:cs typeface="Times New Roman" panose="02020603050405020304" pitchFamily="18" charset="0"/>
              </a:rPr>
              <a:t>AI Enhanced Geospatial Tourism Recommendation System</a:t>
            </a:r>
            <a:endParaRPr lang="en-IN" i="1" dirty="0">
              <a:solidFill>
                <a:schemeClr val="bg1"/>
              </a:solidFill>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5A9B37F3-2498-BC50-D863-C91ECD7DE4CC}"/>
              </a:ext>
            </a:extLst>
          </p:cNvPr>
          <p:cNvSpPr/>
          <p:nvPr/>
        </p:nvSpPr>
        <p:spPr>
          <a:xfrm>
            <a:off x="170155" y="6675677"/>
            <a:ext cx="613876" cy="182323"/>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A9</a:t>
            </a:r>
            <a:endParaRPr lang="en-IN" dirty="0"/>
          </a:p>
        </p:txBody>
      </p:sp>
    </p:spTree>
    <p:extLst>
      <p:ext uri="{BB962C8B-B14F-4D97-AF65-F5344CB8AC3E}">
        <p14:creationId xmlns:p14="http://schemas.microsoft.com/office/powerpoint/2010/main" val="12255460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53613" y="2375670"/>
            <a:ext cx="6603859" cy="1595117"/>
          </a:xfrm>
          <a:prstGeom prst="rect">
            <a:avLst/>
          </a:prstGeom>
        </p:spPr>
        <p:txBody>
          <a:bodyPr wrap="none">
            <a:spAutoFit/>
          </a:bodyPr>
          <a:lstStyle/>
          <a:p>
            <a:pPr>
              <a:lnSpc>
                <a:spcPct val="107000"/>
              </a:lnSpc>
              <a:spcAft>
                <a:spcPts val="800"/>
              </a:spcAft>
            </a:pPr>
            <a:r>
              <a:rPr lang="en-US" sz="9600" i="1" dirty="0">
                <a:ln w="0"/>
                <a:solidFill>
                  <a:srgbClr val="FF6600"/>
                </a:solidFill>
                <a:effectLst>
                  <a:outerShdw blurRad="38100" dist="25400" dir="5400000" algn="ctr" rotWithShape="0">
                    <a:srgbClr val="6E747A">
                      <a:alpha val="43000"/>
                    </a:srgbClr>
                  </a:outerShdw>
                </a:effectLst>
                <a:latin typeface="Times New Roman" panose="02020603050405020304" pitchFamily="18" charset="0"/>
                <a:ea typeface="Calibri" panose="020F0502020204030204" pitchFamily="34" charset="0"/>
                <a:cs typeface="Times New Roman" panose="02020603050405020304" pitchFamily="18" charset="0"/>
              </a:rPr>
              <a:t>Thank You!!!</a:t>
            </a:r>
            <a:endParaRPr lang="en-IN" sz="9600" dirty="0">
              <a:ln w="0"/>
              <a:solidFill>
                <a:srgbClr val="FF6600"/>
              </a:solidFill>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5AF14B7A-B46C-9A27-15C6-93AC2E48E268}"/>
              </a:ext>
            </a:extLst>
          </p:cNvPr>
          <p:cNvSpPr/>
          <p:nvPr/>
        </p:nvSpPr>
        <p:spPr>
          <a:xfrm>
            <a:off x="3159890" y="26721"/>
            <a:ext cx="5632632" cy="204773"/>
          </a:xfrm>
          <a:prstGeom prst="rect">
            <a:avLst/>
          </a:prstGeom>
          <a:solidFill>
            <a:srgbClr val="00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i="1">
                <a:solidFill>
                  <a:schemeClr val="bg1"/>
                </a:solidFill>
                <a:latin typeface="Times New Roman" panose="02020603050405020304" pitchFamily="18" charset="0"/>
                <a:cs typeface="Times New Roman" panose="02020603050405020304" pitchFamily="18" charset="0"/>
              </a:rPr>
              <a:t>AI Enhanced Geospatial Tourism Recommendation System</a:t>
            </a:r>
            <a:endParaRPr lang="en-IN" i="1" dirty="0">
              <a:solidFill>
                <a:schemeClr val="bg1"/>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4623574B-862B-1C55-C07A-7642ACE6FDF8}"/>
              </a:ext>
            </a:extLst>
          </p:cNvPr>
          <p:cNvSpPr/>
          <p:nvPr/>
        </p:nvSpPr>
        <p:spPr>
          <a:xfrm>
            <a:off x="170155" y="6675677"/>
            <a:ext cx="613876" cy="182323"/>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A9</a:t>
            </a:r>
            <a:endParaRPr lang="en-I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53613" y="2375670"/>
            <a:ext cx="6099747" cy="1595117"/>
          </a:xfrm>
          <a:prstGeom prst="rect">
            <a:avLst/>
          </a:prstGeom>
        </p:spPr>
        <p:txBody>
          <a:bodyPr wrap="none">
            <a:spAutoFit/>
          </a:bodyPr>
          <a:lstStyle/>
          <a:p>
            <a:pPr>
              <a:lnSpc>
                <a:spcPct val="107000"/>
              </a:lnSpc>
              <a:spcAft>
                <a:spcPts val="800"/>
              </a:spcAft>
            </a:pPr>
            <a:r>
              <a:rPr lang="en-US" sz="9600" i="1" dirty="0">
                <a:ln w="0"/>
                <a:solidFill>
                  <a:srgbClr val="FF6600"/>
                </a:solidFill>
                <a:effectLst>
                  <a:outerShdw blurRad="38100" dist="25400" dir="5400000" algn="ctr" rotWithShape="0">
                    <a:srgbClr val="6E747A">
                      <a:alpha val="43000"/>
                    </a:srgbClr>
                  </a:outerShdw>
                </a:effectLst>
                <a:latin typeface="Times New Roman" panose="02020603050405020304" pitchFamily="18" charset="0"/>
                <a:ea typeface="Calibri" panose="020F0502020204030204" pitchFamily="34" charset="0"/>
                <a:cs typeface="Times New Roman" panose="02020603050405020304" pitchFamily="18" charset="0"/>
              </a:rPr>
              <a:t>Any Query?</a:t>
            </a:r>
            <a:endParaRPr lang="en-IN" sz="9600" dirty="0">
              <a:ln w="0"/>
              <a:solidFill>
                <a:srgbClr val="FF6600"/>
              </a:solidFill>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96B9D27A-5778-DBFF-72F0-D974B8C6D563}"/>
              </a:ext>
            </a:extLst>
          </p:cNvPr>
          <p:cNvSpPr/>
          <p:nvPr/>
        </p:nvSpPr>
        <p:spPr>
          <a:xfrm>
            <a:off x="3159890" y="26721"/>
            <a:ext cx="5632632" cy="181624"/>
          </a:xfrm>
          <a:prstGeom prst="rect">
            <a:avLst/>
          </a:prstGeom>
          <a:solidFill>
            <a:srgbClr val="00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i="1">
                <a:solidFill>
                  <a:schemeClr val="bg1"/>
                </a:solidFill>
                <a:latin typeface="Times New Roman" panose="02020603050405020304" pitchFamily="18" charset="0"/>
                <a:cs typeface="Times New Roman" panose="02020603050405020304" pitchFamily="18" charset="0"/>
              </a:rPr>
              <a:t>AI Enhanced Geospatial Tourism Recommendation System</a:t>
            </a:r>
            <a:endParaRPr lang="en-IN" i="1" dirty="0">
              <a:solidFill>
                <a:schemeClr val="bg1"/>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DD161E31-8C8F-F7F0-B0DA-376178F1A674}"/>
              </a:ext>
            </a:extLst>
          </p:cNvPr>
          <p:cNvSpPr/>
          <p:nvPr/>
        </p:nvSpPr>
        <p:spPr>
          <a:xfrm>
            <a:off x="170155" y="6675677"/>
            <a:ext cx="613876" cy="182323"/>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A9</a:t>
            </a:r>
            <a:endParaRPr lang="en-IN" dirty="0"/>
          </a:p>
        </p:txBody>
      </p:sp>
    </p:spTree>
    <p:extLst>
      <p:ext uri="{BB962C8B-B14F-4D97-AF65-F5344CB8AC3E}">
        <p14:creationId xmlns:p14="http://schemas.microsoft.com/office/powerpoint/2010/main" val="3673451714"/>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8950</TotalTime>
  <Words>1286</Words>
  <Application>Microsoft Office PowerPoint</Application>
  <PresentationFormat>Widescreen</PresentationFormat>
  <Paragraphs>215</Paragraphs>
  <Slides>21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Courier New</vt:lpstr>
      <vt:lpstr>Lucida Sans Unicode</vt:lpstr>
      <vt:lpstr>Times New Roman</vt:lpstr>
      <vt:lpstr>Wingdings</vt:lpstr>
      <vt:lpstr>Custom Design</vt:lpstr>
      <vt:lpstr>PowerPoint Presentation</vt:lpstr>
      <vt:lpstr>Contents</vt:lpstr>
      <vt:lpstr>PowerPoint Presentation</vt:lpstr>
      <vt:lpstr>Introduction</vt:lpstr>
      <vt:lpstr>PowerPoint Presentation</vt:lpstr>
      <vt:lpstr>Existing System</vt:lpstr>
      <vt:lpstr>Proposed System</vt:lpstr>
      <vt:lpstr>Planning</vt:lpstr>
      <vt:lpstr>System Architecture</vt:lpstr>
      <vt:lpstr>Usecase Diagram</vt:lpstr>
      <vt:lpstr>Sequence Diagram</vt:lpstr>
      <vt:lpstr>Activity Diagram</vt:lpstr>
      <vt:lpstr>Technology Stack</vt:lpstr>
      <vt:lpstr>Implementation</vt:lpstr>
      <vt:lpstr>Implementation</vt:lpstr>
      <vt:lpstr>Implementation</vt:lpstr>
      <vt:lpstr>Research Paper</vt:lpstr>
      <vt:lpstr>References</vt:lpstr>
      <vt:lpstr>Github Link</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venkatesh k</dc:creator>
  <cp:lastModifiedBy>ManiChandrika Charugundla</cp:lastModifiedBy>
  <cp:revision>185</cp:revision>
  <dcterms:created xsi:type="dcterms:W3CDTF">2019-06-11T05:35:00Z</dcterms:created>
  <dcterms:modified xsi:type="dcterms:W3CDTF">2026-03-11T06:41:31Z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B145199D08B64BC29E291925B1B5F72E</vt:lpwstr>
  </property>
  <property fmtid="{D5CDD505-2E9C-101B-9397-08002B2CF9AE}" pid="3" name="KSOProductBuildVer">
    <vt:lpwstr>1033-11.2.0.11254</vt:lpwstr>
  </property>
</Properties>
</file>