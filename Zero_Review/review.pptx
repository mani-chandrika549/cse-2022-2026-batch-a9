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850" y="4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50D2774E-8745-4C13-911B-394AEE73700E}" type="datetimeFigureOut">
              <a:rPr lang="en-US" smtClean="0"/>
              <a:t>12/19/2025</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C48FBBD9-B7C3-4023-8989-01EA7B9DB4D4}" type="slidenum">
              <a:rPr lang="en-US" smtClean="0"/>
              <a:t>‹#›</a:t>
            </a:fld>
            <a:endParaRPr lang="en-US"/>
          </a:p>
        </p:txBody>
      </p:sp>
    </p:spTree>
    <p:extLst>
      <p:ext uri="{BB962C8B-B14F-4D97-AF65-F5344CB8AC3E}">
        <p14:creationId xmlns:p14="http://schemas.microsoft.com/office/powerpoint/2010/main" val="651563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48FBBD9-B7C3-4023-8989-01EA7B9DB4D4}" type="slidenum">
              <a:rPr lang="en-US" smtClean="0"/>
              <a:t>5</a:t>
            </a:fld>
            <a:endParaRPr lang="en-US"/>
          </a:p>
        </p:txBody>
      </p:sp>
    </p:spTree>
    <p:extLst>
      <p:ext uri="{BB962C8B-B14F-4D97-AF65-F5344CB8AC3E}">
        <p14:creationId xmlns:p14="http://schemas.microsoft.com/office/powerpoint/2010/main" val="38416511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48FBBD9-B7C3-4023-8989-01EA7B9DB4D4}" type="slidenum">
              <a:rPr lang="en-US" smtClean="0"/>
              <a:t>10</a:t>
            </a:fld>
            <a:endParaRPr lang="en-US"/>
          </a:p>
        </p:txBody>
      </p:sp>
    </p:spTree>
    <p:extLst>
      <p:ext uri="{BB962C8B-B14F-4D97-AF65-F5344CB8AC3E}">
        <p14:creationId xmlns:p14="http://schemas.microsoft.com/office/powerpoint/2010/main" val="24619117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2814" y="6642719"/>
            <a:ext cx="5498465" cy="215265"/>
          </a:xfrm>
          <a:custGeom>
            <a:avLst/>
            <a:gdLst/>
            <a:ahLst/>
            <a:cxnLst/>
            <a:rect l="l" t="t" r="r" b="b"/>
            <a:pathLst>
              <a:path w="5498465" h="215265">
                <a:moveTo>
                  <a:pt x="0" y="214919"/>
                </a:moveTo>
                <a:lnTo>
                  <a:pt x="5498224" y="214919"/>
                </a:lnTo>
                <a:lnTo>
                  <a:pt x="5498224" y="0"/>
                </a:lnTo>
                <a:lnTo>
                  <a:pt x="0" y="0"/>
                </a:lnTo>
                <a:lnTo>
                  <a:pt x="0" y="214919"/>
                </a:lnTo>
                <a:close/>
              </a:path>
            </a:pathLst>
          </a:custGeom>
          <a:solidFill>
            <a:srgbClr val="002060"/>
          </a:solidFill>
        </p:spPr>
        <p:txBody>
          <a:bodyPr wrap="square" lIns="0" tIns="0" rIns="0" bIns="0" rtlCol="0"/>
          <a:lstStyle/>
          <a:p>
            <a:endParaRPr/>
          </a:p>
        </p:txBody>
      </p:sp>
      <p:sp>
        <p:nvSpPr>
          <p:cNvPr id="17" name="bg object 17"/>
          <p:cNvSpPr/>
          <p:nvPr/>
        </p:nvSpPr>
        <p:spPr>
          <a:xfrm>
            <a:off x="6431400" y="6641999"/>
            <a:ext cx="5191760" cy="215900"/>
          </a:xfrm>
          <a:custGeom>
            <a:avLst/>
            <a:gdLst/>
            <a:ahLst/>
            <a:cxnLst/>
            <a:rect l="l" t="t" r="r" b="b"/>
            <a:pathLst>
              <a:path w="5191759" h="215900">
                <a:moveTo>
                  <a:pt x="0" y="215639"/>
                </a:moveTo>
                <a:lnTo>
                  <a:pt x="5191639" y="215639"/>
                </a:lnTo>
                <a:lnTo>
                  <a:pt x="5191639" y="0"/>
                </a:lnTo>
                <a:lnTo>
                  <a:pt x="0" y="0"/>
                </a:lnTo>
                <a:lnTo>
                  <a:pt x="0" y="215639"/>
                </a:lnTo>
                <a:close/>
              </a:path>
            </a:pathLst>
          </a:custGeom>
          <a:solidFill>
            <a:srgbClr val="008080"/>
          </a:solidFill>
        </p:spPr>
        <p:txBody>
          <a:bodyPr wrap="square" lIns="0" tIns="0" rIns="0" bIns="0" rtlCol="0"/>
          <a:lstStyle/>
          <a:p>
            <a:endParaRPr/>
          </a:p>
        </p:txBody>
      </p:sp>
      <p:sp>
        <p:nvSpPr>
          <p:cNvPr id="18" name="bg object 18"/>
          <p:cNvSpPr/>
          <p:nvPr/>
        </p:nvSpPr>
        <p:spPr>
          <a:xfrm>
            <a:off x="11623040" y="6642099"/>
            <a:ext cx="568960" cy="215900"/>
          </a:xfrm>
          <a:custGeom>
            <a:avLst/>
            <a:gdLst/>
            <a:ahLst/>
            <a:cxnLst/>
            <a:rect l="l" t="t" r="r" b="b"/>
            <a:pathLst>
              <a:path w="568959" h="215900">
                <a:moveTo>
                  <a:pt x="568959" y="215899"/>
                </a:moveTo>
                <a:lnTo>
                  <a:pt x="0" y="215899"/>
                </a:lnTo>
                <a:lnTo>
                  <a:pt x="0" y="0"/>
                </a:lnTo>
                <a:lnTo>
                  <a:pt x="568959" y="0"/>
                </a:lnTo>
                <a:lnTo>
                  <a:pt x="568959" y="215899"/>
                </a:lnTo>
                <a:close/>
              </a:path>
            </a:pathLst>
          </a:custGeom>
          <a:solidFill>
            <a:srgbClr val="FFC000"/>
          </a:solidFill>
        </p:spPr>
        <p:txBody>
          <a:bodyPr wrap="square" lIns="0" tIns="0" rIns="0" bIns="0" rtlCol="0"/>
          <a:lstStyle/>
          <a:p>
            <a:endParaRPr/>
          </a:p>
        </p:txBody>
      </p:sp>
      <p:pic>
        <p:nvPicPr>
          <p:cNvPr id="19" name="bg object 19"/>
          <p:cNvPicPr/>
          <p:nvPr/>
        </p:nvPicPr>
        <p:blipFill>
          <a:blip r:embed="rId2" cstate="print"/>
          <a:stretch>
            <a:fillRect/>
          </a:stretch>
        </p:blipFill>
        <p:spPr>
          <a:xfrm>
            <a:off x="11506320" y="5956200"/>
            <a:ext cx="685439" cy="681285"/>
          </a:xfrm>
          <a:prstGeom prst="rect">
            <a:avLst/>
          </a:prstGeom>
        </p:spPr>
      </p:pic>
      <p:sp>
        <p:nvSpPr>
          <p:cNvPr id="20" name="bg object 20"/>
          <p:cNvSpPr/>
          <p:nvPr/>
        </p:nvSpPr>
        <p:spPr>
          <a:xfrm>
            <a:off x="0" y="6642734"/>
            <a:ext cx="932815" cy="214629"/>
          </a:xfrm>
          <a:custGeom>
            <a:avLst/>
            <a:gdLst/>
            <a:ahLst/>
            <a:cxnLst/>
            <a:rect l="l" t="t" r="r" b="b"/>
            <a:pathLst>
              <a:path w="932815" h="214629">
                <a:moveTo>
                  <a:pt x="932814" y="214629"/>
                </a:moveTo>
                <a:lnTo>
                  <a:pt x="0" y="214629"/>
                </a:lnTo>
                <a:lnTo>
                  <a:pt x="0" y="0"/>
                </a:lnTo>
                <a:lnTo>
                  <a:pt x="932814" y="0"/>
                </a:lnTo>
                <a:lnTo>
                  <a:pt x="932814" y="214629"/>
                </a:lnTo>
                <a:close/>
              </a:path>
            </a:pathLst>
          </a:custGeom>
          <a:solidFill>
            <a:srgbClr val="C55A11"/>
          </a:solidFill>
        </p:spPr>
        <p:txBody>
          <a:bodyPr wrap="square" lIns="0" tIns="0" rIns="0" bIns="0" rtlCol="0"/>
          <a:lstStyle/>
          <a:p>
            <a:endParaRPr/>
          </a:p>
        </p:txBody>
      </p:sp>
      <p:sp>
        <p:nvSpPr>
          <p:cNvPr id="21" name="bg object 21"/>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6" name="Holder 6"/>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7" name="Holder 7"/>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4" name="Holder 4"/>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5" name="Holder 5"/>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2814" y="6642719"/>
            <a:ext cx="5498465" cy="215265"/>
          </a:xfrm>
          <a:custGeom>
            <a:avLst/>
            <a:gdLst/>
            <a:ahLst/>
            <a:cxnLst/>
            <a:rect l="l" t="t" r="r" b="b"/>
            <a:pathLst>
              <a:path w="5498465" h="215265">
                <a:moveTo>
                  <a:pt x="0" y="214919"/>
                </a:moveTo>
                <a:lnTo>
                  <a:pt x="5498224" y="214919"/>
                </a:lnTo>
                <a:lnTo>
                  <a:pt x="5498224" y="0"/>
                </a:lnTo>
                <a:lnTo>
                  <a:pt x="0" y="0"/>
                </a:lnTo>
                <a:lnTo>
                  <a:pt x="0" y="214919"/>
                </a:lnTo>
                <a:close/>
              </a:path>
            </a:pathLst>
          </a:custGeom>
          <a:solidFill>
            <a:srgbClr val="002060"/>
          </a:solidFill>
        </p:spPr>
        <p:txBody>
          <a:bodyPr wrap="square" lIns="0" tIns="0" rIns="0" bIns="0" rtlCol="0"/>
          <a:lstStyle/>
          <a:p>
            <a:endParaRPr/>
          </a:p>
        </p:txBody>
      </p:sp>
      <p:sp>
        <p:nvSpPr>
          <p:cNvPr id="17" name="bg object 17"/>
          <p:cNvSpPr/>
          <p:nvPr/>
        </p:nvSpPr>
        <p:spPr>
          <a:xfrm>
            <a:off x="6431400" y="6641999"/>
            <a:ext cx="5191760" cy="215900"/>
          </a:xfrm>
          <a:custGeom>
            <a:avLst/>
            <a:gdLst/>
            <a:ahLst/>
            <a:cxnLst/>
            <a:rect l="l" t="t" r="r" b="b"/>
            <a:pathLst>
              <a:path w="5191759" h="215900">
                <a:moveTo>
                  <a:pt x="0" y="215639"/>
                </a:moveTo>
                <a:lnTo>
                  <a:pt x="5191639" y="215639"/>
                </a:lnTo>
                <a:lnTo>
                  <a:pt x="5191639" y="0"/>
                </a:lnTo>
                <a:lnTo>
                  <a:pt x="0" y="0"/>
                </a:lnTo>
                <a:lnTo>
                  <a:pt x="0" y="215639"/>
                </a:lnTo>
                <a:close/>
              </a:path>
            </a:pathLst>
          </a:custGeom>
          <a:solidFill>
            <a:srgbClr val="008080"/>
          </a:solidFill>
        </p:spPr>
        <p:txBody>
          <a:bodyPr wrap="square" lIns="0" tIns="0" rIns="0" bIns="0" rtlCol="0"/>
          <a:lstStyle/>
          <a:p>
            <a:endParaRPr/>
          </a:p>
        </p:txBody>
      </p:sp>
      <p:sp>
        <p:nvSpPr>
          <p:cNvPr id="18" name="bg object 18"/>
          <p:cNvSpPr/>
          <p:nvPr/>
        </p:nvSpPr>
        <p:spPr>
          <a:xfrm>
            <a:off x="11623040" y="6642099"/>
            <a:ext cx="568960" cy="215900"/>
          </a:xfrm>
          <a:custGeom>
            <a:avLst/>
            <a:gdLst/>
            <a:ahLst/>
            <a:cxnLst/>
            <a:rect l="l" t="t" r="r" b="b"/>
            <a:pathLst>
              <a:path w="568959" h="215900">
                <a:moveTo>
                  <a:pt x="568959" y="215899"/>
                </a:moveTo>
                <a:lnTo>
                  <a:pt x="0" y="215899"/>
                </a:lnTo>
                <a:lnTo>
                  <a:pt x="0" y="0"/>
                </a:lnTo>
                <a:lnTo>
                  <a:pt x="568959" y="0"/>
                </a:lnTo>
                <a:lnTo>
                  <a:pt x="568959" y="215899"/>
                </a:lnTo>
                <a:close/>
              </a:path>
            </a:pathLst>
          </a:custGeom>
          <a:solidFill>
            <a:srgbClr val="FFC000"/>
          </a:solidFill>
        </p:spPr>
        <p:txBody>
          <a:bodyPr wrap="square" lIns="0" tIns="0" rIns="0" bIns="0" rtlCol="0"/>
          <a:lstStyle/>
          <a:p>
            <a:endParaRPr/>
          </a:p>
        </p:txBody>
      </p:sp>
      <p:pic>
        <p:nvPicPr>
          <p:cNvPr id="19" name="bg object 19"/>
          <p:cNvPicPr/>
          <p:nvPr/>
        </p:nvPicPr>
        <p:blipFill>
          <a:blip r:embed="rId2" cstate="print"/>
          <a:stretch>
            <a:fillRect/>
          </a:stretch>
        </p:blipFill>
        <p:spPr>
          <a:xfrm>
            <a:off x="11506320" y="5956200"/>
            <a:ext cx="685439" cy="681285"/>
          </a:xfrm>
          <a:prstGeom prst="rect">
            <a:avLst/>
          </a:prstGeom>
        </p:spPr>
      </p:pic>
      <p:sp>
        <p:nvSpPr>
          <p:cNvPr id="20" name="bg object 20"/>
          <p:cNvSpPr/>
          <p:nvPr/>
        </p:nvSpPr>
        <p:spPr>
          <a:xfrm>
            <a:off x="0" y="6642734"/>
            <a:ext cx="932815" cy="214629"/>
          </a:xfrm>
          <a:custGeom>
            <a:avLst/>
            <a:gdLst/>
            <a:ahLst/>
            <a:cxnLst/>
            <a:rect l="l" t="t" r="r" b="b"/>
            <a:pathLst>
              <a:path w="932815" h="214629">
                <a:moveTo>
                  <a:pt x="932814" y="214629"/>
                </a:moveTo>
                <a:lnTo>
                  <a:pt x="0" y="214629"/>
                </a:lnTo>
                <a:lnTo>
                  <a:pt x="0" y="0"/>
                </a:lnTo>
                <a:lnTo>
                  <a:pt x="932814" y="0"/>
                </a:lnTo>
                <a:lnTo>
                  <a:pt x="932814" y="214629"/>
                </a:lnTo>
                <a:close/>
              </a:path>
            </a:pathLst>
          </a:custGeom>
          <a:solidFill>
            <a:srgbClr val="C55A11"/>
          </a:solidFill>
        </p:spPr>
        <p:txBody>
          <a:bodyPr wrap="square" lIns="0" tIns="0" rIns="0" bIns="0" rtlCol="0"/>
          <a:lstStyle/>
          <a:p>
            <a:endParaRPr/>
          </a:p>
        </p:txBody>
      </p:sp>
      <p:sp>
        <p:nvSpPr>
          <p:cNvPr id="21" name="bg object 21"/>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3" name="Holder 3"/>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4" name="Holder 4"/>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2814" y="6642719"/>
            <a:ext cx="5498465" cy="215265"/>
          </a:xfrm>
          <a:custGeom>
            <a:avLst/>
            <a:gdLst/>
            <a:ahLst/>
            <a:cxnLst/>
            <a:rect l="l" t="t" r="r" b="b"/>
            <a:pathLst>
              <a:path w="5498465" h="215265">
                <a:moveTo>
                  <a:pt x="0" y="214919"/>
                </a:moveTo>
                <a:lnTo>
                  <a:pt x="5498224" y="214919"/>
                </a:lnTo>
                <a:lnTo>
                  <a:pt x="5498224" y="0"/>
                </a:lnTo>
                <a:lnTo>
                  <a:pt x="0" y="0"/>
                </a:lnTo>
                <a:lnTo>
                  <a:pt x="0" y="214919"/>
                </a:lnTo>
                <a:close/>
              </a:path>
            </a:pathLst>
          </a:custGeom>
          <a:solidFill>
            <a:srgbClr val="002060"/>
          </a:solidFill>
        </p:spPr>
        <p:txBody>
          <a:bodyPr wrap="square" lIns="0" tIns="0" rIns="0" bIns="0" rtlCol="0"/>
          <a:lstStyle/>
          <a:p>
            <a:endParaRPr/>
          </a:p>
        </p:txBody>
      </p:sp>
      <p:sp>
        <p:nvSpPr>
          <p:cNvPr id="17" name="bg object 17"/>
          <p:cNvSpPr/>
          <p:nvPr/>
        </p:nvSpPr>
        <p:spPr>
          <a:xfrm>
            <a:off x="6431400" y="6641999"/>
            <a:ext cx="5191760" cy="215900"/>
          </a:xfrm>
          <a:custGeom>
            <a:avLst/>
            <a:gdLst/>
            <a:ahLst/>
            <a:cxnLst/>
            <a:rect l="l" t="t" r="r" b="b"/>
            <a:pathLst>
              <a:path w="5191759" h="215900">
                <a:moveTo>
                  <a:pt x="0" y="215639"/>
                </a:moveTo>
                <a:lnTo>
                  <a:pt x="5191639" y="215639"/>
                </a:lnTo>
                <a:lnTo>
                  <a:pt x="5191639" y="0"/>
                </a:lnTo>
                <a:lnTo>
                  <a:pt x="0" y="0"/>
                </a:lnTo>
                <a:lnTo>
                  <a:pt x="0" y="215639"/>
                </a:lnTo>
                <a:close/>
              </a:path>
            </a:pathLst>
          </a:custGeom>
          <a:solidFill>
            <a:srgbClr val="008080"/>
          </a:solidFill>
        </p:spPr>
        <p:txBody>
          <a:bodyPr wrap="square" lIns="0" tIns="0" rIns="0" bIns="0" rtlCol="0"/>
          <a:lstStyle/>
          <a:p>
            <a:endParaRPr/>
          </a:p>
        </p:txBody>
      </p:sp>
      <p:sp>
        <p:nvSpPr>
          <p:cNvPr id="18" name="bg object 18"/>
          <p:cNvSpPr/>
          <p:nvPr/>
        </p:nvSpPr>
        <p:spPr>
          <a:xfrm>
            <a:off x="11623040" y="6642099"/>
            <a:ext cx="568960" cy="215900"/>
          </a:xfrm>
          <a:custGeom>
            <a:avLst/>
            <a:gdLst/>
            <a:ahLst/>
            <a:cxnLst/>
            <a:rect l="l" t="t" r="r" b="b"/>
            <a:pathLst>
              <a:path w="568959" h="215900">
                <a:moveTo>
                  <a:pt x="568959" y="215899"/>
                </a:moveTo>
                <a:lnTo>
                  <a:pt x="0" y="215899"/>
                </a:lnTo>
                <a:lnTo>
                  <a:pt x="0" y="0"/>
                </a:lnTo>
                <a:lnTo>
                  <a:pt x="568959" y="0"/>
                </a:lnTo>
                <a:lnTo>
                  <a:pt x="568959" y="215899"/>
                </a:lnTo>
                <a:close/>
              </a:path>
            </a:pathLst>
          </a:custGeom>
          <a:solidFill>
            <a:srgbClr val="FFC000"/>
          </a:solidFill>
        </p:spPr>
        <p:txBody>
          <a:bodyPr wrap="square" lIns="0" tIns="0" rIns="0" bIns="0" rtlCol="0"/>
          <a:lstStyle/>
          <a:p>
            <a:endParaRPr/>
          </a:p>
        </p:txBody>
      </p:sp>
      <p:pic>
        <p:nvPicPr>
          <p:cNvPr id="19" name="bg object 19"/>
          <p:cNvPicPr/>
          <p:nvPr/>
        </p:nvPicPr>
        <p:blipFill>
          <a:blip r:embed="rId7" cstate="print"/>
          <a:stretch>
            <a:fillRect/>
          </a:stretch>
        </p:blipFill>
        <p:spPr>
          <a:xfrm>
            <a:off x="11506320" y="5956200"/>
            <a:ext cx="685439" cy="681285"/>
          </a:xfrm>
          <a:prstGeom prst="rect">
            <a:avLst/>
          </a:prstGeom>
        </p:spPr>
      </p:pic>
      <p:sp>
        <p:nvSpPr>
          <p:cNvPr id="20" name="bg object 20"/>
          <p:cNvSpPr/>
          <p:nvPr/>
        </p:nvSpPr>
        <p:spPr>
          <a:xfrm>
            <a:off x="0" y="6642734"/>
            <a:ext cx="932815" cy="214629"/>
          </a:xfrm>
          <a:custGeom>
            <a:avLst/>
            <a:gdLst/>
            <a:ahLst/>
            <a:cxnLst/>
            <a:rect l="l" t="t" r="r" b="b"/>
            <a:pathLst>
              <a:path w="932815" h="214629">
                <a:moveTo>
                  <a:pt x="932814" y="214629"/>
                </a:moveTo>
                <a:lnTo>
                  <a:pt x="0" y="214629"/>
                </a:lnTo>
                <a:lnTo>
                  <a:pt x="0" y="0"/>
                </a:lnTo>
                <a:lnTo>
                  <a:pt x="932814" y="0"/>
                </a:lnTo>
                <a:lnTo>
                  <a:pt x="932814" y="214629"/>
                </a:lnTo>
                <a:close/>
              </a:path>
            </a:pathLst>
          </a:custGeom>
          <a:solidFill>
            <a:srgbClr val="C55A11"/>
          </a:solidFill>
        </p:spPr>
        <p:txBody>
          <a:bodyPr wrap="square" lIns="0" tIns="0" rIns="0" bIns="0" rtlCol="0"/>
          <a:lstStyle/>
          <a:p>
            <a:endParaRPr/>
          </a:p>
        </p:txBody>
      </p:sp>
      <p:sp>
        <p:nvSpPr>
          <p:cNvPr id="2" name="Holder 2"/>
          <p:cNvSpPr>
            <a:spLocks noGrp="1"/>
          </p:cNvSpPr>
          <p:nvPr>
            <p:ph type="title"/>
          </p:nvPr>
        </p:nvSpPr>
        <p:spPr>
          <a:xfrm>
            <a:off x="73025" y="182323"/>
            <a:ext cx="4739005" cy="69596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236899" y="1074318"/>
            <a:ext cx="11346815" cy="3137535"/>
          </a:xfrm>
          <a:prstGeom prst="rect">
            <a:avLst/>
          </a:prstGeom>
        </p:spPr>
        <p:txBody>
          <a:bodyPr wrap="square" lIns="0" tIns="0" rIns="0" bIns="0">
            <a:spAutoFit/>
          </a:bodyPr>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149031" y="6629427"/>
            <a:ext cx="635000" cy="250825"/>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5" name="Holder 5"/>
          <p:cNvSpPr>
            <a:spLocks noGrp="1"/>
          </p:cNvSpPr>
          <p:nvPr>
            <p:ph type="dt" sz="half" idx="6"/>
          </p:nvPr>
        </p:nvSpPr>
        <p:spPr>
          <a:xfrm>
            <a:off x="1773949" y="6629558"/>
            <a:ext cx="3661410" cy="250825"/>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6" name="Holder 6"/>
          <p:cNvSpPr>
            <a:spLocks noGrp="1"/>
          </p:cNvSpPr>
          <p:nvPr>
            <p:ph type="sldNum" sz="quarter" idx="7"/>
          </p:nvPr>
        </p:nvSpPr>
        <p:spPr>
          <a:xfrm>
            <a:off x="11793245" y="6629427"/>
            <a:ext cx="228600" cy="250825"/>
          </a:xfrm>
          <a:prstGeom prst="rect">
            <a:avLst/>
          </a:prstGeom>
        </p:spPr>
        <p:txBody>
          <a:bodyPr wrap="square" lIns="0" tIns="0" rIns="0" bIns="0">
            <a:spAutoFit/>
          </a:bodyPr>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hyperlink" Target="https://github.com/mani-chandrika549/CSE-2022-2026-Batch-A9"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777240" y="6634440"/>
            <a:ext cx="11414760" cy="223520"/>
            <a:chOff x="777240" y="6634440"/>
            <a:chExt cx="11414760" cy="223520"/>
          </a:xfrm>
        </p:grpSpPr>
        <p:sp>
          <p:nvSpPr>
            <p:cNvPr id="3" name="object 3"/>
            <p:cNvSpPr/>
            <p:nvPr/>
          </p:nvSpPr>
          <p:spPr>
            <a:xfrm>
              <a:off x="777240" y="6634440"/>
              <a:ext cx="5781675" cy="220979"/>
            </a:xfrm>
            <a:custGeom>
              <a:avLst/>
              <a:gdLst/>
              <a:ahLst/>
              <a:cxnLst/>
              <a:rect l="l" t="t" r="r" b="b"/>
              <a:pathLst>
                <a:path w="5781675" h="220979">
                  <a:moveTo>
                    <a:pt x="5781599" y="220679"/>
                  </a:moveTo>
                  <a:lnTo>
                    <a:pt x="0" y="220679"/>
                  </a:lnTo>
                  <a:lnTo>
                    <a:pt x="0" y="0"/>
                  </a:lnTo>
                  <a:lnTo>
                    <a:pt x="5781599" y="0"/>
                  </a:lnTo>
                  <a:lnTo>
                    <a:pt x="5781599" y="220679"/>
                  </a:lnTo>
                  <a:close/>
                </a:path>
              </a:pathLst>
            </a:custGeom>
            <a:solidFill>
              <a:srgbClr val="002060"/>
            </a:solidFill>
          </p:spPr>
          <p:txBody>
            <a:bodyPr wrap="square" lIns="0" tIns="0" rIns="0" bIns="0" rtlCol="0"/>
            <a:lstStyle/>
            <a:p>
              <a:endParaRPr/>
            </a:p>
          </p:txBody>
        </p:sp>
        <p:sp>
          <p:nvSpPr>
            <p:cNvPr id="4" name="object 4"/>
            <p:cNvSpPr/>
            <p:nvPr/>
          </p:nvSpPr>
          <p:spPr>
            <a:xfrm>
              <a:off x="6559199" y="6634440"/>
              <a:ext cx="5194935" cy="220979"/>
            </a:xfrm>
            <a:custGeom>
              <a:avLst/>
              <a:gdLst/>
              <a:ahLst/>
              <a:cxnLst/>
              <a:rect l="l" t="t" r="r" b="b"/>
              <a:pathLst>
                <a:path w="5194934" h="220979">
                  <a:moveTo>
                    <a:pt x="5194799" y="220679"/>
                  </a:moveTo>
                  <a:lnTo>
                    <a:pt x="0" y="220679"/>
                  </a:lnTo>
                  <a:lnTo>
                    <a:pt x="0" y="0"/>
                  </a:lnTo>
                  <a:lnTo>
                    <a:pt x="5194799" y="0"/>
                  </a:lnTo>
                  <a:lnTo>
                    <a:pt x="5194799" y="220679"/>
                  </a:lnTo>
                  <a:close/>
                </a:path>
              </a:pathLst>
            </a:custGeom>
            <a:solidFill>
              <a:srgbClr val="008080"/>
            </a:solidFill>
          </p:spPr>
          <p:txBody>
            <a:bodyPr wrap="square" lIns="0" tIns="0" rIns="0" bIns="0" rtlCol="0"/>
            <a:lstStyle/>
            <a:p>
              <a:endParaRPr/>
            </a:p>
          </p:txBody>
        </p:sp>
        <p:sp>
          <p:nvSpPr>
            <p:cNvPr id="5" name="object 5"/>
            <p:cNvSpPr/>
            <p:nvPr/>
          </p:nvSpPr>
          <p:spPr>
            <a:xfrm>
              <a:off x="11754359" y="6636960"/>
              <a:ext cx="437515" cy="220979"/>
            </a:xfrm>
            <a:custGeom>
              <a:avLst/>
              <a:gdLst/>
              <a:ahLst/>
              <a:cxnLst/>
              <a:rect l="l" t="t" r="r" b="b"/>
              <a:pathLst>
                <a:path w="437515" h="220979">
                  <a:moveTo>
                    <a:pt x="437399" y="220679"/>
                  </a:moveTo>
                  <a:lnTo>
                    <a:pt x="0" y="220679"/>
                  </a:lnTo>
                  <a:lnTo>
                    <a:pt x="0" y="0"/>
                  </a:lnTo>
                  <a:lnTo>
                    <a:pt x="437399" y="0"/>
                  </a:lnTo>
                  <a:lnTo>
                    <a:pt x="437399" y="220679"/>
                  </a:lnTo>
                  <a:close/>
                </a:path>
              </a:pathLst>
            </a:custGeom>
            <a:solidFill>
              <a:srgbClr val="FFC000"/>
            </a:solidFill>
          </p:spPr>
          <p:txBody>
            <a:bodyPr wrap="square" lIns="0" tIns="0" rIns="0" bIns="0" rtlCol="0"/>
            <a:lstStyle/>
            <a:p>
              <a:endParaRPr/>
            </a:p>
          </p:txBody>
        </p:sp>
      </p:grpSp>
      <p:sp>
        <p:nvSpPr>
          <p:cNvPr id="6" name="object 6"/>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7" name="object 7"/>
          <p:cNvSpPr/>
          <p:nvPr/>
        </p:nvSpPr>
        <p:spPr>
          <a:xfrm>
            <a:off x="0" y="6636385"/>
            <a:ext cx="777240" cy="221615"/>
          </a:xfrm>
          <a:custGeom>
            <a:avLst/>
            <a:gdLst/>
            <a:ahLst/>
            <a:cxnLst/>
            <a:rect l="l" t="t" r="r" b="b"/>
            <a:pathLst>
              <a:path w="777240" h="221615">
                <a:moveTo>
                  <a:pt x="776879" y="221039"/>
                </a:moveTo>
                <a:lnTo>
                  <a:pt x="0" y="221039"/>
                </a:lnTo>
                <a:lnTo>
                  <a:pt x="0" y="0"/>
                </a:lnTo>
                <a:lnTo>
                  <a:pt x="776879" y="0"/>
                </a:lnTo>
                <a:lnTo>
                  <a:pt x="776879" y="221039"/>
                </a:lnTo>
                <a:close/>
              </a:path>
            </a:pathLst>
          </a:custGeom>
          <a:solidFill>
            <a:srgbClr val="C55A11"/>
          </a:solidFill>
        </p:spPr>
        <p:txBody>
          <a:bodyPr wrap="square" lIns="0" tIns="0" rIns="0" bIns="0" rtlCol="0"/>
          <a:lstStyle/>
          <a:p>
            <a:r>
              <a:rPr lang="en-US" dirty="0">
                <a:solidFill>
                  <a:schemeClr val="bg1"/>
                </a:solidFill>
              </a:rPr>
              <a:t>A9</a:t>
            </a:r>
            <a:endParaRPr dirty="0">
              <a:solidFill>
                <a:schemeClr val="bg1"/>
              </a:solidFill>
            </a:endParaRPr>
          </a:p>
        </p:txBody>
      </p:sp>
      <p:sp>
        <p:nvSpPr>
          <p:cNvPr id="8" name="object 8"/>
          <p:cNvSpPr txBox="1"/>
          <p:nvPr/>
        </p:nvSpPr>
        <p:spPr>
          <a:xfrm>
            <a:off x="7421887" y="1729372"/>
            <a:ext cx="2590800" cy="598241"/>
          </a:xfrm>
          <a:prstGeom prst="rect">
            <a:avLst/>
          </a:prstGeom>
        </p:spPr>
        <p:txBody>
          <a:bodyPr vert="horz" wrap="square" lIns="0" tIns="13335" rIns="0" bIns="0" rtlCol="0">
            <a:spAutoFit/>
          </a:bodyPr>
          <a:lstStyle/>
          <a:p>
            <a:pPr algn="ctr">
              <a:spcBef>
                <a:spcPts val="105"/>
              </a:spcBef>
            </a:pPr>
            <a:r>
              <a:rPr lang="en-US" sz="2400" dirty="0" err="1">
                <a:latin typeface="Times New Roman"/>
                <a:cs typeface="Times New Roman"/>
              </a:rPr>
              <a:t>S.Manjunath</a:t>
            </a:r>
            <a:r>
              <a:rPr lang="en-US" sz="2400" dirty="0">
                <a:latin typeface="Times New Roman"/>
                <a:cs typeface="Times New Roman"/>
              </a:rPr>
              <a:t> Reddy</a:t>
            </a:r>
            <a:endParaRPr sz="2400" dirty="0">
              <a:latin typeface="Times New Roman"/>
              <a:cs typeface="Times New Roman"/>
            </a:endParaRPr>
          </a:p>
          <a:p>
            <a:pPr marL="635" algn="ctr"/>
            <a:r>
              <a:rPr sz="1400" dirty="0">
                <a:latin typeface="Times New Roman"/>
                <a:cs typeface="Times New Roman"/>
              </a:rPr>
              <a:t>Roll</a:t>
            </a:r>
            <a:r>
              <a:rPr sz="1400" spc="5" dirty="0">
                <a:latin typeface="Times New Roman"/>
                <a:cs typeface="Times New Roman"/>
              </a:rPr>
              <a:t> </a:t>
            </a:r>
            <a:r>
              <a:rPr sz="1400" dirty="0">
                <a:latin typeface="Times New Roman"/>
                <a:cs typeface="Times New Roman"/>
              </a:rPr>
              <a:t>No.</a:t>
            </a:r>
            <a:r>
              <a:rPr sz="1400" spc="5" dirty="0">
                <a:latin typeface="Times New Roman"/>
                <a:cs typeface="Times New Roman"/>
              </a:rPr>
              <a:t> </a:t>
            </a:r>
            <a:r>
              <a:rPr lang="en-US" sz="1400" spc="-10" dirty="0">
                <a:latin typeface="Times New Roman"/>
                <a:cs typeface="Times New Roman"/>
              </a:rPr>
              <a:t>224G1A0552</a:t>
            </a:r>
            <a:endParaRPr sz="1400" dirty="0">
              <a:latin typeface="Times New Roman"/>
              <a:cs typeface="Times New Roman"/>
            </a:endParaRPr>
          </a:p>
        </p:txBody>
      </p:sp>
      <p:sp>
        <p:nvSpPr>
          <p:cNvPr id="9" name="object 9"/>
          <p:cNvSpPr txBox="1"/>
          <p:nvPr/>
        </p:nvSpPr>
        <p:spPr>
          <a:xfrm>
            <a:off x="4005000" y="2496430"/>
            <a:ext cx="3996000" cy="1177245"/>
          </a:xfrm>
          <a:prstGeom prst="rect">
            <a:avLst/>
          </a:prstGeom>
        </p:spPr>
        <p:txBody>
          <a:bodyPr vert="horz" wrap="square" lIns="0" tIns="12700" rIns="0" bIns="0" rtlCol="0">
            <a:spAutoFit/>
          </a:bodyPr>
          <a:lstStyle/>
          <a:p>
            <a:pPr marL="635" algn="ctr">
              <a:spcBef>
                <a:spcPts val="100"/>
              </a:spcBef>
            </a:pPr>
            <a:r>
              <a:rPr sz="1400" dirty="0">
                <a:latin typeface="Times New Roman"/>
                <a:cs typeface="Times New Roman"/>
              </a:rPr>
              <a:t>Under</a:t>
            </a:r>
            <a:r>
              <a:rPr sz="1400" spc="-35" dirty="0">
                <a:latin typeface="Times New Roman"/>
                <a:cs typeface="Times New Roman"/>
              </a:rPr>
              <a:t> </a:t>
            </a:r>
            <a:r>
              <a:rPr sz="1400" dirty="0">
                <a:latin typeface="Times New Roman"/>
                <a:cs typeface="Times New Roman"/>
              </a:rPr>
              <a:t>the</a:t>
            </a:r>
            <a:r>
              <a:rPr sz="1400" spc="-35" dirty="0">
                <a:latin typeface="Times New Roman"/>
                <a:cs typeface="Times New Roman"/>
              </a:rPr>
              <a:t> </a:t>
            </a:r>
            <a:r>
              <a:rPr sz="1400" spc="-10" dirty="0">
                <a:latin typeface="Times New Roman"/>
                <a:cs typeface="Times New Roman"/>
              </a:rPr>
              <a:t>guidance</a:t>
            </a:r>
            <a:r>
              <a:rPr sz="1400" spc="-35" dirty="0">
                <a:latin typeface="Times New Roman"/>
                <a:cs typeface="Times New Roman"/>
              </a:rPr>
              <a:t> </a:t>
            </a:r>
            <a:r>
              <a:rPr sz="1400" spc="-25" dirty="0">
                <a:latin typeface="Times New Roman"/>
                <a:cs typeface="Times New Roman"/>
              </a:rPr>
              <a:t>of</a:t>
            </a:r>
            <a:endParaRPr lang="en-US" sz="1400" spc="-25" dirty="0">
              <a:latin typeface="Times New Roman"/>
              <a:cs typeface="Times New Roman"/>
            </a:endParaRPr>
          </a:p>
          <a:p>
            <a:pPr marL="635" algn="ctr">
              <a:spcBef>
                <a:spcPts val="100"/>
              </a:spcBef>
            </a:pPr>
            <a:r>
              <a:rPr lang="en-IN" sz="2000" spc="-25" dirty="0" err="1">
                <a:latin typeface="Times New Roman"/>
                <a:cs typeface="Times New Roman"/>
              </a:rPr>
              <a:t>Mr.G.Chinna</a:t>
            </a:r>
            <a:r>
              <a:rPr lang="en-IN" sz="2000" spc="-25" dirty="0">
                <a:latin typeface="Times New Roman"/>
                <a:cs typeface="Times New Roman"/>
              </a:rPr>
              <a:t> Pullaiah, </a:t>
            </a:r>
            <a:r>
              <a:rPr lang="en-IN" sz="2000" spc="-25" dirty="0" err="1">
                <a:latin typeface="Times New Roman"/>
                <a:cs typeface="Times New Roman"/>
              </a:rPr>
              <a:t>M.Tech</a:t>
            </a:r>
            <a:r>
              <a:rPr lang="en-IN" sz="2000" spc="-25" dirty="0">
                <a:latin typeface="Times New Roman"/>
                <a:cs typeface="Times New Roman"/>
              </a:rPr>
              <a:t>., (</a:t>
            </a:r>
            <a:r>
              <a:rPr lang="en-IN" sz="2000" spc="-25" dirty="0" err="1">
                <a:latin typeface="Times New Roman"/>
                <a:cs typeface="Times New Roman"/>
              </a:rPr>
              <a:t>Ph.D</a:t>
            </a:r>
            <a:r>
              <a:rPr lang="en-IN" sz="2000" spc="-25" dirty="0">
                <a:latin typeface="Times New Roman"/>
                <a:cs typeface="Times New Roman"/>
              </a:rPr>
              <a:t>)</a:t>
            </a:r>
          </a:p>
          <a:p>
            <a:pPr marL="635" algn="ctr">
              <a:spcBef>
                <a:spcPts val="100"/>
              </a:spcBef>
            </a:pPr>
            <a:r>
              <a:rPr lang="en-IN" sz="2000" spc="-25" dirty="0">
                <a:latin typeface="Times New Roman"/>
                <a:cs typeface="Times New Roman"/>
              </a:rPr>
              <a:t>Assistant Professor </a:t>
            </a:r>
            <a:endParaRPr sz="2000" dirty="0">
              <a:latin typeface="Times New Roman"/>
              <a:cs typeface="Times New Roman"/>
            </a:endParaRPr>
          </a:p>
        </p:txBody>
      </p:sp>
      <p:sp>
        <p:nvSpPr>
          <p:cNvPr id="10" name="object 10"/>
          <p:cNvSpPr txBox="1"/>
          <p:nvPr/>
        </p:nvSpPr>
        <p:spPr>
          <a:xfrm>
            <a:off x="2147578" y="5096081"/>
            <a:ext cx="7890509" cy="1448435"/>
          </a:xfrm>
          <a:prstGeom prst="rect">
            <a:avLst/>
          </a:prstGeom>
        </p:spPr>
        <p:txBody>
          <a:bodyPr vert="horz" wrap="square" lIns="0" tIns="13335" rIns="0" bIns="0" rtlCol="0">
            <a:spAutoFit/>
          </a:bodyPr>
          <a:lstStyle/>
          <a:p>
            <a:pPr marL="4445" algn="ctr">
              <a:lnSpc>
                <a:spcPts val="2300"/>
              </a:lnSpc>
              <a:spcBef>
                <a:spcPts val="105"/>
              </a:spcBef>
            </a:pPr>
            <a:r>
              <a:rPr sz="2200" dirty="0">
                <a:latin typeface="Times New Roman"/>
                <a:cs typeface="Times New Roman"/>
              </a:rPr>
              <a:t>Department</a:t>
            </a:r>
            <a:r>
              <a:rPr sz="2200" spc="-25" dirty="0">
                <a:latin typeface="Times New Roman"/>
                <a:cs typeface="Times New Roman"/>
              </a:rPr>
              <a:t> </a:t>
            </a:r>
            <a:r>
              <a:rPr sz="2200" dirty="0">
                <a:latin typeface="Times New Roman"/>
                <a:cs typeface="Times New Roman"/>
              </a:rPr>
              <a:t>of</a:t>
            </a:r>
            <a:r>
              <a:rPr sz="2200" spc="-15" dirty="0">
                <a:latin typeface="Times New Roman"/>
                <a:cs typeface="Times New Roman"/>
              </a:rPr>
              <a:t> </a:t>
            </a:r>
            <a:r>
              <a:rPr sz="2200" dirty="0">
                <a:latin typeface="Times New Roman"/>
                <a:cs typeface="Times New Roman"/>
              </a:rPr>
              <a:t>Computer</a:t>
            </a:r>
            <a:r>
              <a:rPr sz="2200" spc="-15" dirty="0">
                <a:latin typeface="Times New Roman"/>
                <a:cs typeface="Times New Roman"/>
              </a:rPr>
              <a:t> </a:t>
            </a:r>
            <a:r>
              <a:rPr sz="2200" dirty="0">
                <a:latin typeface="Times New Roman"/>
                <a:cs typeface="Times New Roman"/>
              </a:rPr>
              <a:t>Science</a:t>
            </a:r>
            <a:r>
              <a:rPr sz="2200" spc="-20" dirty="0">
                <a:latin typeface="Times New Roman"/>
                <a:cs typeface="Times New Roman"/>
              </a:rPr>
              <a:t> </a:t>
            </a:r>
            <a:r>
              <a:rPr sz="2200" dirty="0">
                <a:latin typeface="Times New Roman"/>
                <a:cs typeface="Times New Roman"/>
              </a:rPr>
              <a:t>and</a:t>
            </a:r>
            <a:r>
              <a:rPr sz="2200" spc="-15" dirty="0">
                <a:latin typeface="Times New Roman"/>
                <a:cs typeface="Times New Roman"/>
              </a:rPr>
              <a:t> </a:t>
            </a:r>
            <a:r>
              <a:rPr sz="2200" dirty="0">
                <a:latin typeface="Times New Roman"/>
                <a:cs typeface="Times New Roman"/>
              </a:rPr>
              <a:t>Engineering</a:t>
            </a:r>
            <a:r>
              <a:rPr sz="2200" spc="-15" dirty="0">
                <a:latin typeface="Times New Roman"/>
                <a:cs typeface="Times New Roman"/>
              </a:rPr>
              <a:t> </a:t>
            </a:r>
            <a:r>
              <a:rPr sz="2200" spc="-10" dirty="0">
                <a:latin typeface="Times New Roman"/>
                <a:cs typeface="Times New Roman"/>
              </a:rPr>
              <a:t>(AI&amp;ML)</a:t>
            </a:r>
            <a:endParaRPr sz="2200" dirty="0">
              <a:latin typeface="Times New Roman"/>
              <a:cs typeface="Times New Roman"/>
            </a:endParaRPr>
          </a:p>
          <a:p>
            <a:pPr algn="ctr">
              <a:lnSpc>
                <a:spcPts val="3565"/>
              </a:lnSpc>
            </a:pPr>
            <a:r>
              <a:rPr sz="3400" dirty="0">
                <a:solidFill>
                  <a:srgbClr val="FF0000"/>
                </a:solidFill>
                <a:latin typeface="Times New Roman"/>
                <a:cs typeface="Times New Roman"/>
              </a:rPr>
              <a:t>Srinivasa</a:t>
            </a:r>
            <a:r>
              <a:rPr sz="3400" spc="-20" dirty="0">
                <a:solidFill>
                  <a:srgbClr val="FF0000"/>
                </a:solidFill>
                <a:latin typeface="Times New Roman"/>
                <a:cs typeface="Times New Roman"/>
              </a:rPr>
              <a:t> </a:t>
            </a:r>
            <a:r>
              <a:rPr sz="3400" dirty="0">
                <a:solidFill>
                  <a:srgbClr val="FF0000"/>
                </a:solidFill>
                <a:latin typeface="Times New Roman"/>
                <a:cs typeface="Times New Roman"/>
              </a:rPr>
              <a:t>Ramanujan</a:t>
            </a:r>
            <a:r>
              <a:rPr sz="3400" spc="-20" dirty="0">
                <a:solidFill>
                  <a:srgbClr val="FF0000"/>
                </a:solidFill>
                <a:latin typeface="Times New Roman"/>
                <a:cs typeface="Times New Roman"/>
              </a:rPr>
              <a:t> </a:t>
            </a:r>
            <a:r>
              <a:rPr sz="3400" dirty="0">
                <a:solidFill>
                  <a:srgbClr val="FF0000"/>
                </a:solidFill>
                <a:latin typeface="Times New Roman"/>
                <a:cs typeface="Times New Roman"/>
              </a:rPr>
              <a:t>Institute</a:t>
            </a:r>
            <a:r>
              <a:rPr sz="3400" spc="-20" dirty="0">
                <a:solidFill>
                  <a:srgbClr val="FF0000"/>
                </a:solidFill>
                <a:latin typeface="Times New Roman"/>
                <a:cs typeface="Times New Roman"/>
              </a:rPr>
              <a:t> </a:t>
            </a:r>
            <a:r>
              <a:rPr sz="3400" dirty="0">
                <a:solidFill>
                  <a:srgbClr val="FF0000"/>
                </a:solidFill>
                <a:latin typeface="Times New Roman"/>
                <a:cs typeface="Times New Roman"/>
              </a:rPr>
              <a:t>of</a:t>
            </a:r>
            <a:r>
              <a:rPr sz="3400" spc="-20" dirty="0">
                <a:solidFill>
                  <a:srgbClr val="FF0000"/>
                </a:solidFill>
                <a:latin typeface="Times New Roman"/>
                <a:cs typeface="Times New Roman"/>
              </a:rPr>
              <a:t> </a:t>
            </a:r>
            <a:r>
              <a:rPr sz="3400" spc="-10" dirty="0">
                <a:solidFill>
                  <a:srgbClr val="FF0000"/>
                </a:solidFill>
                <a:latin typeface="Times New Roman"/>
                <a:cs typeface="Times New Roman"/>
              </a:rPr>
              <a:t>Technology</a:t>
            </a:r>
            <a:endParaRPr sz="3400" dirty="0">
              <a:latin typeface="Times New Roman"/>
              <a:cs typeface="Times New Roman"/>
            </a:endParaRPr>
          </a:p>
          <a:p>
            <a:pPr marL="6350" algn="ctr">
              <a:lnSpc>
                <a:spcPts val="1850"/>
              </a:lnSpc>
            </a:pPr>
            <a:r>
              <a:rPr sz="1750" b="1" spc="-10" dirty="0">
                <a:latin typeface="Times New Roman"/>
                <a:cs typeface="Times New Roman"/>
              </a:rPr>
              <a:t>Autonomous</a:t>
            </a:r>
            <a:endParaRPr sz="1750" dirty="0">
              <a:latin typeface="Times New Roman"/>
              <a:cs typeface="Times New Roman"/>
            </a:endParaRPr>
          </a:p>
          <a:p>
            <a:pPr marL="7620" algn="ctr">
              <a:lnSpc>
                <a:spcPts val="1370"/>
              </a:lnSpc>
            </a:pPr>
            <a:r>
              <a:rPr sz="1200" b="1" dirty="0">
                <a:latin typeface="Times New Roman"/>
                <a:cs typeface="Times New Roman"/>
              </a:rPr>
              <a:t>Rotarypuram</a:t>
            </a:r>
            <a:r>
              <a:rPr sz="1200" b="1" spc="-10" dirty="0">
                <a:latin typeface="Times New Roman"/>
                <a:cs typeface="Times New Roman"/>
              </a:rPr>
              <a:t> </a:t>
            </a:r>
            <a:r>
              <a:rPr sz="1200" b="1" dirty="0">
                <a:latin typeface="Times New Roman"/>
                <a:cs typeface="Times New Roman"/>
              </a:rPr>
              <a:t>Village,</a:t>
            </a:r>
            <a:r>
              <a:rPr sz="1200" b="1" spc="-5" dirty="0">
                <a:latin typeface="Times New Roman"/>
                <a:cs typeface="Times New Roman"/>
              </a:rPr>
              <a:t> </a:t>
            </a:r>
            <a:r>
              <a:rPr sz="1200" b="1" dirty="0">
                <a:latin typeface="Times New Roman"/>
                <a:cs typeface="Times New Roman"/>
              </a:rPr>
              <a:t>B</a:t>
            </a:r>
            <a:r>
              <a:rPr sz="1200" b="1" spc="-10" dirty="0">
                <a:latin typeface="Times New Roman"/>
                <a:cs typeface="Times New Roman"/>
              </a:rPr>
              <a:t> </a:t>
            </a:r>
            <a:r>
              <a:rPr sz="1200" b="1" dirty="0">
                <a:latin typeface="Times New Roman"/>
                <a:cs typeface="Times New Roman"/>
              </a:rPr>
              <a:t>K</a:t>
            </a:r>
            <a:r>
              <a:rPr sz="1200" b="1" spc="-5" dirty="0">
                <a:latin typeface="Times New Roman"/>
                <a:cs typeface="Times New Roman"/>
              </a:rPr>
              <a:t> </a:t>
            </a:r>
            <a:r>
              <a:rPr sz="1200" b="1" dirty="0">
                <a:latin typeface="Times New Roman"/>
                <a:cs typeface="Times New Roman"/>
              </a:rPr>
              <a:t>Samudram</a:t>
            </a:r>
            <a:r>
              <a:rPr sz="1200" b="1" spc="-10" dirty="0">
                <a:latin typeface="Times New Roman"/>
                <a:cs typeface="Times New Roman"/>
              </a:rPr>
              <a:t> </a:t>
            </a:r>
            <a:r>
              <a:rPr sz="1200" b="1" dirty="0">
                <a:latin typeface="Times New Roman"/>
                <a:cs typeface="Times New Roman"/>
              </a:rPr>
              <a:t>Mandal,</a:t>
            </a:r>
            <a:r>
              <a:rPr sz="1200" b="1" spc="-5" dirty="0">
                <a:latin typeface="Times New Roman"/>
                <a:cs typeface="Times New Roman"/>
              </a:rPr>
              <a:t> </a:t>
            </a:r>
            <a:r>
              <a:rPr sz="1200" b="1" dirty="0">
                <a:latin typeface="Times New Roman"/>
                <a:cs typeface="Times New Roman"/>
              </a:rPr>
              <a:t>Ananthapuramu</a:t>
            </a:r>
            <a:r>
              <a:rPr sz="1200" b="1" spc="-10" dirty="0">
                <a:latin typeface="Times New Roman"/>
                <a:cs typeface="Times New Roman"/>
              </a:rPr>
              <a:t> </a:t>
            </a:r>
            <a:r>
              <a:rPr sz="1200" b="1" dirty="0">
                <a:latin typeface="Times New Roman"/>
                <a:cs typeface="Times New Roman"/>
              </a:rPr>
              <a:t>–</a:t>
            </a:r>
            <a:r>
              <a:rPr sz="1200" b="1" spc="-5" dirty="0">
                <a:latin typeface="Times New Roman"/>
                <a:cs typeface="Times New Roman"/>
              </a:rPr>
              <a:t> </a:t>
            </a:r>
            <a:r>
              <a:rPr sz="1200" b="1" spc="-10" dirty="0">
                <a:latin typeface="Times New Roman"/>
                <a:cs typeface="Times New Roman"/>
              </a:rPr>
              <a:t>515701.</a:t>
            </a:r>
            <a:endParaRPr sz="1200" dirty="0">
              <a:latin typeface="Times New Roman"/>
              <a:cs typeface="Times New Roman"/>
            </a:endParaRPr>
          </a:p>
          <a:p>
            <a:pPr marL="6985" algn="ctr">
              <a:lnSpc>
                <a:spcPct val="100000"/>
              </a:lnSpc>
              <a:spcBef>
                <a:spcPts val="545"/>
              </a:spcBef>
            </a:pPr>
            <a:r>
              <a:rPr sz="1300" b="1" dirty="0">
                <a:solidFill>
                  <a:srgbClr val="1E4E78"/>
                </a:solidFill>
                <a:latin typeface="Times New Roman"/>
                <a:cs typeface="Times New Roman"/>
              </a:rPr>
              <a:t>202</a:t>
            </a:r>
            <a:r>
              <a:rPr lang="en-US" sz="1300" b="1" dirty="0">
                <a:solidFill>
                  <a:srgbClr val="1E4E78"/>
                </a:solidFill>
                <a:latin typeface="Times New Roman"/>
                <a:cs typeface="Times New Roman"/>
              </a:rPr>
              <a:t>5</a:t>
            </a:r>
            <a:r>
              <a:rPr sz="1300" b="1" dirty="0">
                <a:solidFill>
                  <a:srgbClr val="1E4E78"/>
                </a:solidFill>
                <a:latin typeface="Times New Roman"/>
                <a:cs typeface="Times New Roman"/>
              </a:rPr>
              <a:t>-</a:t>
            </a:r>
            <a:r>
              <a:rPr sz="1300" b="1" spc="-20" dirty="0">
                <a:solidFill>
                  <a:srgbClr val="1E4E78"/>
                </a:solidFill>
                <a:latin typeface="Times New Roman"/>
                <a:cs typeface="Times New Roman"/>
              </a:rPr>
              <a:t>202</a:t>
            </a:r>
            <a:r>
              <a:rPr lang="en-US" sz="1300" b="1" spc="-20" dirty="0">
                <a:solidFill>
                  <a:srgbClr val="1E4E78"/>
                </a:solidFill>
                <a:latin typeface="Times New Roman"/>
                <a:cs typeface="Times New Roman"/>
              </a:rPr>
              <a:t>6</a:t>
            </a:r>
            <a:endParaRPr sz="1300" dirty="0">
              <a:latin typeface="Times New Roman"/>
              <a:cs typeface="Times New Roman"/>
            </a:endParaRPr>
          </a:p>
        </p:txBody>
      </p:sp>
      <p:sp>
        <p:nvSpPr>
          <p:cNvPr id="11" name="object 11"/>
          <p:cNvSpPr txBox="1"/>
          <p:nvPr/>
        </p:nvSpPr>
        <p:spPr>
          <a:xfrm>
            <a:off x="4711919" y="1728090"/>
            <a:ext cx="2113915" cy="599523"/>
          </a:xfrm>
          <a:prstGeom prst="rect">
            <a:avLst/>
          </a:prstGeom>
        </p:spPr>
        <p:txBody>
          <a:bodyPr vert="horz" wrap="square" lIns="0" tIns="14605" rIns="0" bIns="0" rtlCol="0">
            <a:spAutoFit/>
          </a:bodyPr>
          <a:lstStyle/>
          <a:p>
            <a:pPr algn="ctr">
              <a:spcBef>
                <a:spcPts val="115"/>
              </a:spcBef>
            </a:pPr>
            <a:r>
              <a:rPr lang="en-US" sz="2400" dirty="0" err="1">
                <a:latin typeface="Times New Roman"/>
                <a:cs typeface="Times New Roman"/>
              </a:rPr>
              <a:t>S.Ankitha</a:t>
            </a:r>
            <a:endParaRPr sz="2400" dirty="0">
              <a:latin typeface="Times New Roman"/>
              <a:cs typeface="Times New Roman"/>
            </a:endParaRPr>
          </a:p>
          <a:p>
            <a:pPr marL="1270" algn="ctr"/>
            <a:r>
              <a:rPr sz="1400" dirty="0">
                <a:latin typeface="Times New Roman"/>
                <a:cs typeface="Times New Roman"/>
              </a:rPr>
              <a:t>Roll</a:t>
            </a:r>
            <a:r>
              <a:rPr sz="1400" spc="40" dirty="0">
                <a:latin typeface="Times New Roman"/>
                <a:cs typeface="Times New Roman"/>
              </a:rPr>
              <a:t> </a:t>
            </a:r>
            <a:r>
              <a:rPr sz="1400" dirty="0">
                <a:latin typeface="Times New Roman"/>
                <a:cs typeface="Times New Roman"/>
              </a:rPr>
              <a:t>No.</a:t>
            </a:r>
            <a:r>
              <a:rPr sz="1400" spc="40" dirty="0">
                <a:latin typeface="Times New Roman"/>
                <a:cs typeface="Times New Roman"/>
              </a:rPr>
              <a:t> </a:t>
            </a:r>
            <a:r>
              <a:rPr lang="en-US" sz="1400" spc="-10" dirty="0">
                <a:latin typeface="Times New Roman"/>
                <a:cs typeface="Times New Roman"/>
              </a:rPr>
              <a:t>224G1A0504</a:t>
            </a:r>
            <a:endParaRPr sz="1400" dirty="0">
              <a:latin typeface="Times New Roman"/>
              <a:cs typeface="Times New Roman"/>
            </a:endParaRPr>
          </a:p>
        </p:txBody>
      </p:sp>
      <p:sp>
        <p:nvSpPr>
          <p:cNvPr id="13" name="object 13"/>
          <p:cNvSpPr txBox="1"/>
          <p:nvPr/>
        </p:nvSpPr>
        <p:spPr>
          <a:xfrm>
            <a:off x="1638190" y="1761919"/>
            <a:ext cx="2411205" cy="598241"/>
          </a:xfrm>
          <a:prstGeom prst="rect">
            <a:avLst/>
          </a:prstGeom>
        </p:spPr>
        <p:txBody>
          <a:bodyPr vert="horz" wrap="square" lIns="0" tIns="13335" rIns="0" bIns="0" rtlCol="0">
            <a:spAutoFit/>
          </a:bodyPr>
          <a:lstStyle/>
          <a:p>
            <a:pPr algn="ctr">
              <a:lnSpc>
                <a:spcPct val="100000"/>
              </a:lnSpc>
              <a:spcBef>
                <a:spcPts val="105"/>
              </a:spcBef>
            </a:pPr>
            <a:r>
              <a:rPr lang="en-US" sz="2400" dirty="0">
                <a:latin typeface="Times New Roman"/>
                <a:cs typeface="Times New Roman"/>
              </a:rPr>
              <a:t>C.ManiChandrika</a:t>
            </a:r>
            <a:endParaRPr sz="2400" dirty="0">
              <a:latin typeface="Times New Roman"/>
              <a:cs typeface="Times New Roman"/>
            </a:endParaRPr>
          </a:p>
          <a:p>
            <a:pPr marL="1270" algn="ctr">
              <a:lnSpc>
                <a:spcPct val="100000"/>
              </a:lnSpc>
              <a:spcBef>
                <a:spcPts val="35"/>
              </a:spcBef>
            </a:pPr>
            <a:r>
              <a:rPr sz="1400" dirty="0">
                <a:latin typeface="Times New Roman"/>
                <a:cs typeface="Times New Roman"/>
              </a:rPr>
              <a:t>Roll No. </a:t>
            </a:r>
            <a:r>
              <a:rPr sz="1400" spc="-10" dirty="0">
                <a:latin typeface="Times New Roman"/>
                <a:cs typeface="Times New Roman"/>
              </a:rPr>
              <a:t>2</a:t>
            </a:r>
            <a:r>
              <a:rPr lang="en-US" sz="1400" spc="-10" dirty="0">
                <a:latin typeface="Times New Roman"/>
                <a:cs typeface="Times New Roman"/>
              </a:rPr>
              <a:t>24G1A0549</a:t>
            </a:r>
            <a:endParaRPr sz="1400" dirty="0">
              <a:latin typeface="Times New Roman"/>
              <a:cs typeface="Times New Roman"/>
            </a:endParaRPr>
          </a:p>
        </p:txBody>
      </p:sp>
      <p:grpSp>
        <p:nvGrpSpPr>
          <p:cNvPr id="14" name="object 14"/>
          <p:cNvGrpSpPr/>
          <p:nvPr/>
        </p:nvGrpSpPr>
        <p:grpSpPr>
          <a:xfrm>
            <a:off x="715009" y="318271"/>
            <a:ext cx="10608310" cy="937894"/>
            <a:chOff x="715009" y="318271"/>
            <a:chExt cx="10608310" cy="937894"/>
          </a:xfrm>
        </p:grpSpPr>
        <p:pic>
          <p:nvPicPr>
            <p:cNvPr id="15" name="object 15"/>
            <p:cNvPicPr/>
            <p:nvPr/>
          </p:nvPicPr>
          <p:blipFill>
            <a:blip r:embed="rId2" cstate="print"/>
            <a:stretch>
              <a:fillRect/>
            </a:stretch>
          </p:blipFill>
          <p:spPr>
            <a:xfrm>
              <a:off x="715009" y="318271"/>
              <a:ext cx="10608182" cy="937864"/>
            </a:xfrm>
            <a:prstGeom prst="rect">
              <a:avLst/>
            </a:prstGeom>
          </p:spPr>
        </p:pic>
        <p:sp>
          <p:nvSpPr>
            <p:cNvPr id="16" name="object 16"/>
            <p:cNvSpPr/>
            <p:nvPr/>
          </p:nvSpPr>
          <p:spPr>
            <a:xfrm>
              <a:off x="755008" y="335270"/>
              <a:ext cx="10528300" cy="857885"/>
            </a:xfrm>
            <a:custGeom>
              <a:avLst/>
              <a:gdLst/>
              <a:ahLst/>
              <a:cxnLst/>
              <a:rect l="l" t="t" r="r" b="b"/>
              <a:pathLst>
                <a:path w="10528300" h="857885">
                  <a:moveTo>
                    <a:pt x="10385202" y="857863"/>
                  </a:moveTo>
                  <a:lnTo>
                    <a:pt x="142980" y="857863"/>
                  </a:lnTo>
                  <a:lnTo>
                    <a:pt x="97787" y="850574"/>
                  </a:lnTo>
                  <a:lnTo>
                    <a:pt x="58537" y="830277"/>
                  </a:lnTo>
                  <a:lnTo>
                    <a:pt x="27586" y="799326"/>
                  </a:lnTo>
                  <a:lnTo>
                    <a:pt x="7289" y="760076"/>
                  </a:lnTo>
                  <a:lnTo>
                    <a:pt x="0" y="714883"/>
                  </a:lnTo>
                  <a:lnTo>
                    <a:pt x="0" y="142980"/>
                  </a:lnTo>
                  <a:lnTo>
                    <a:pt x="7289" y="97787"/>
                  </a:lnTo>
                  <a:lnTo>
                    <a:pt x="27586" y="58537"/>
                  </a:lnTo>
                  <a:lnTo>
                    <a:pt x="58537" y="27586"/>
                  </a:lnTo>
                  <a:lnTo>
                    <a:pt x="97787" y="7289"/>
                  </a:lnTo>
                  <a:lnTo>
                    <a:pt x="142980" y="0"/>
                  </a:lnTo>
                  <a:lnTo>
                    <a:pt x="10385202" y="0"/>
                  </a:lnTo>
                  <a:lnTo>
                    <a:pt x="10439918" y="10883"/>
                  </a:lnTo>
                  <a:lnTo>
                    <a:pt x="10486304" y="41877"/>
                  </a:lnTo>
                  <a:lnTo>
                    <a:pt x="10517299" y="88264"/>
                  </a:lnTo>
                  <a:lnTo>
                    <a:pt x="10528183" y="142980"/>
                  </a:lnTo>
                  <a:lnTo>
                    <a:pt x="10528183" y="714883"/>
                  </a:lnTo>
                  <a:lnTo>
                    <a:pt x="10520894" y="760076"/>
                  </a:lnTo>
                  <a:lnTo>
                    <a:pt x="10500596" y="799326"/>
                  </a:lnTo>
                  <a:lnTo>
                    <a:pt x="10469645" y="830277"/>
                  </a:lnTo>
                  <a:lnTo>
                    <a:pt x="10430395" y="850574"/>
                  </a:lnTo>
                  <a:lnTo>
                    <a:pt x="10385202" y="857863"/>
                  </a:lnTo>
                  <a:close/>
                </a:path>
              </a:pathLst>
            </a:custGeom>
            <a:solidFill>
              <a:srgbClr val="FF6600"/>
            </a:solidFill>
          </p:spPr>
          <p:txBody>
            <a:bodyPr wrap="square" lIns="0" tIns="0" rIns="0" bIns="0" rtlCol="0"/>
            <a:lstStyle/>
            <a:p>
              <a:endParaRPr/>
            </a:p>
          </p:txBody>
        </p:sp>
      </p:grpSp>
      <p:sp>
        <p:nvSpPr>
          <p:cNvPr id="17" name="object 17"/>
          <p:cNvSpPr txBox="1">
            <a:spLocks noGrp="1"/>
          </p:cNvSpPr>
          <p:nvPr>
            <p:ph type="title"/>
          </p:nvPr>
        </p:nvSpPr>
        <p:spPr>
          <a:xfrm>
            <a:off x="532814" y="528319"/>
            <a:ext cx="11664308" cy="412934"/>
          </a:xfrm>
          <a:prstGeom prst="rect">
            <a:avLst/>
          </a:prstGeom>
        </p:spPr>
        <p:txBody>
          <a:bodyPr vert="horz" wrap="square" lIns="0" tIns="12700" rIns="0" bIns="0" rtlCol="0">
            <a:spAutoFit/>
          </a:bodyPr>
          <a:lstStyle/>
          <a:p>
            <a:pPr marL="12700" algn="ctr">
              <a:lnSpc>
                <a:spcPct val="100000"/>
              </a:lnSpc>
              <a:spcBef>
                <a:spcPts val="100"/>
              </a:spcBef>
            </a:pPr>
            <a:r>
              <a:rPr lang="en-US" sz="2600" dirty="0"/>
              <a:t>AI-Enhanced Geospatial Tourism Recommendation System</a:t>
            </a:r>
          </a:p>
        </p:txBody>
      </p:sp>
      <p:sp>
        <p:nvSpPr>
          <p:cNvPr id="18" name="object 18"/>
          <p:cNvSpPr txBox="1"/>
          <p:nvPr/>
        </p:nvSpPr>
        <p:spPr>
          <a:xfrm>
            <a:off x="5987420" y="1278968"/>
            <a:ext cx="217170" cy="269240"/>
          </a:xfrm>
          <a:prstGeom prst="rect">
            <a:avLst/>
          </a:prstGeom>
        </p:spPr>
        <p:txBody>
          <a:bodyPr vert="horz" wrap="square" lIns="0" tIns="12700" rIns="0" bIns="0" rtlCol="0">
            <a:spAutoFit/>
          </a:bodyPr>
          <a:lstStyle/>
          <a:p>
            <a:pPr marL="12700">
              <a:lnSpc>
                <a:spcPct val="100000"/>
              </a:lnSpc>
              <a:spcBef>
                <a:spcPts val="100"/>
              </a:spcBef>
            </a:pPr>
            <a:r>
              <a:rPr sz="1600" i="1" spc="-25" dirty="0">
                <a:latin typeface="Times New Roman"/>
                <a:cs typeface="Times New Roman"/>
              </a:rPr>
              <a:t>by</a:t>
            </a:r>
            <a:endParaRPr sz="1600">
              <a:latin typeface="Times New Roman"/>
              <a:cs typeface="Times New Roman"/>
            </a:endParaRPr>
          </a:p>
        </p:txBody>
      </p:sp>
      <p:pic>
        <p:nvPicPr>
          <p:cNvPr id="19" name="object 19"/>
          <p:cNvPicPr/>
          <p:nvPr/>
        </p:nvPicPr>
        <p:blipFill>
          <a:blip r:embed="rId3" cstate="print"/>
          <a:stretch>
            <a:fillRect/>
          </a:stretch>
        </p:blipFill>
        <p:spPr>
          <a:xfrm>
            <a:off x="5329143" y="3365633"/>
            <a:ext cx="1527378" cy="168548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429000" y="-40280"/>
            <a:ext cx="6629400" cy="243656"/>
          </a:xfrm>
          <a:prstGeom prst="rect">
            <a:avLst/>
          </a:prstGeom>
        </p:spPr>
        <p:txBody>
          <a:bodyPr vert="horz" wrap="square" lIns="0" tIns="12700" rIns="0" bIns="0" rtlCol="0">
            <a:spAutoFit/>
          </a:bodyPr>
          <a:lstStyle/>
          <a:p>
            <a:pPr marL="12700">
              <a:lnSpc>
                <a:spcPct val="100000"/>
              </a:lnSpc>
              <a:spcBef>
                <a:spcPts val="100"/>
              </a:spcBef>
            </a:pPr>
            <a:r>
              <a:rPr lang="en-US" sz="1500" dirty="0">
                <a:solidFill>
                  <a:schemeClr val="bg1"/>
                </a:solidFill>
                <a:latin typeface="Times New Roman" panose="02020603050405020304" pitchFamily="18" charset="0"/>
                <a:cs typeface="Times New Roman" panose="02020603050405020304" pitchFamily="18" charset="0"/>
              </a:rPr>
              <a:t>AI-Enhanced Geospatial Tourism Recommendation System</a:t>
            </a:r>
            <a:endParaRPr sz="1500" dirty="0">
              <a:solidFill>
                <a:schemeClr val="bg1"/>
              </a:solidFill>
              <a:latin typeface="Times New Roman" panose="02020603050405020304" pitchFamily="18" charset="0"/>
              <a:cs typeface="Times New Roman" panose="02020603050405020304" pitchFamily="18" charset="0"/>
            </a:endParaRPr>
          </a:p>
        </p:txBody>
      </p:sp>
      <p:grpSp>
        <p:nvGrpSpPr>
          <p:cNvPr id="3" name="object 3"/>
          <p:cNvGrpSpPr/>
          <p:nvPr/>
        </p:nvGrpSpPr>
        <p:grpSpPr>
          <a:xfrm>
            <a:off x="0" y="212399"/>
            <a:ext cx="12192000" cy="803275"/>
            <a:chOff x="0" y="212399"/>
            <a:chExt cx="12192000" cy="803275"/>
          </a:xfrm>
        </p:grpSpPr>
        <p:pic>
          <p:nvPicPr>
            <p:cNvPr id="4" name="object 4"/>
            <p:cNvPicPr/>
            <p:nvPr/>
          </p:nvPicPr>
          <p:blipFill>
            <a:blip r:embed="rId2" cstate="print"/>
            <a:stretch>
              <a:fillRect/>
            </a:stretch>
          </p:blipFill>
          <p:spPr>
            <a:xfrm>
              <a:off x="0" y="212399"/>
              <a:ext cx="12192000" cy="803160"/>
            </a:xfrm>
            <a:prstGeom prst="rect">
              <a:avLst/>
            </a:prstGeom>
          </p:spPr>
        </p:pic>
        <p:sp>
          <p:nvSpPr>
            <p:cNvPr id="5" name="object 5"/>
            <p:cNvSpPr/>
            <p:nvPr/>
          </p:nvSpPr>
          <p:spPr>
            <a:xfrm>
              <a:off x="239" y="228599"/>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Contents</a:t>
            </a:r>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lang="en-US" spc="-10" dirty="0"/>
              <a:t>9</a:t>
            </a:r>
            <a:endParaRPr spc="-25" dirty="0"/>
          </a:p>
        </p:txBody>
      </p:sp>
      <p:sp>
        <p:nvSpPr>
          <p:cNvPr id="9" name="object 9"/>
          <p:cNvSpPr txBox="1">
            <a:spLocks noGrp="1"/>
          </p:cNvSpPr>
          <p:nvPr>
            <p:ph type="dt" sz="half" idx="6"/>
          </p:nvPr>
        </p:nvSpPr>
        <p:spPr>
          <a:xfrm>
            <a:off x="1357650" y="6645601"/>
            <a:ext cx="4052550"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7147541" y="6629197"/>
            <a:ext cx="4206259" cy="228803"/>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2</a:t>
            </a:fld>
            <a:endParaRPr spc="-25" dirty="0"/>
          </a:p>
        </p:txBody>
      </p:sp>
      <p:sp>
        <p:nvSpPr>
          <p:cNvPr id="7" name="object 7"/>
          <p:cNvSpPr txBox="1"/>
          <p:nvPr/>
        </p:nvSpPr>
        <p:spPr>
          <a:xfrm>
            <a:off x="325787" y="989990"/>
            <a:ext cx="9460230" cy="4625340"/>
          </a:xfrm>
          <a:prstGeom prst="rect">
            <a:avLst/>
          </a:prstGeom>
        </p:spPr>
        <p:txBody>
          <a:bodyPr vert="horz" wrap="square" lIns="0" tIns="96520" rIns="0" bIns="0" rtlCol="0">
            <a:spAutoFit/>
          </a:bodyPr>
          <a:lstStyle/>
          <a:p>
            <a:pPr marL="421005" indent="-408305">
              <a:lnSpc>
                <a:spcPct val="100000"/>
              </a:lnSpc>
              <a:spcBef>
                <a:spcPts val="760"/>
              </a:spcBef>
              <a:buChar char="•"/>
              <a:tabLst>
                <a:tab pos="421005" algn="l"/>
              </a:tabLst>
            </a:pPr>
            <a:r>
              <a:rPr sz="2800" dirty="0">
                <a:latin typeface="Times New Roman"/>
                <a:cs typeface="Times New Roman"/>
              </a:rPr>
              <a:t>Title</a:t>
            </a:r>
            <a:r>
              <a:rPr sz="2800" spc="-25" dirty="0">
                <a:latin typeface="Times New Roman"/>
                <a:cs typeface="Times New Roman"/>
              </a:rPr>
              <a:t> </a:t>
            </a:r>
            <a:r>
              <a:rPr sz="2800" spc="-10" dirty="0">
                <a:latin typeface="Times New Roman"/>
                <a:cs typeface="Times New Roman"/>
              </a:rPr>
              <a:t>Justification</a:t>
            </a:r>
            <a:endParaRPr sz="2800" dirty="0">
              <a:latin typeface="Times New Roman"/>
              <a:cs typeface="Times New Roman"/>
            </a:endParaRPr>
          </a:p>
          <a:p>
            <a:pPr marL="421005" indent="-408305">
              <a:lnSpc>
                <a:spcPct val="100000"/>
              </a:lnSpc>
              <a:spcBef>
                <a:spcPts val="665"/>
              </a:spcBef>
              <a:buChar char="•"/>
              <a:tabLst>
                <a:tab pos="421005" algn="l"/>
              </a:tabLst>
            </a:pPr>
            <a:r>
              <a:rPr sz="2800" spc="-10" dirty="0">
                <a:latin typeface="Times New Roman"/>
                <a:cs typeface="Times New Roman"/>
              </a:rPr>
              <a:t>Abstract</a:t>
            </a:r>
            <a:endParaRPr sz="2800" dirty="0">
              <a:latin typeface="Times New Roman"/>
              <a:cs typeface="Times New Roman"/>
            </a:endParaRPr>
          </a:p>
          <a:p>
            <a:pPr marL="421005" indent="-408305">
              <a:lnSpc>
                <a:spcPct val="100000"/>
              </a:lnSpc>
              <a:spcBef>
                <a:spcPts val="665"/>
              </a:spcBef>
              <a:buChar char="•"/>
              <a:tabLst>
                <a:tab pos="421005" algn="l"/>
              </a:tabLst>
            </a:pPr>
            <a:r>
              <a:rPr sz="2800" dirty="0">
                <a:latin typeface="Times New Roman"/>
                <a:cs typeface="Times New Roman"/>
              </a:rPr>
              <a:t>Problem</a:t>
            </a:r>
            <a:r>
              <a:rPr sz="2800" spc="-35" dirty="0">
                <a:latin typeface="Times New Roman"/>
                <a:cs typeface="Times New Roman"/>
              </a:rPr>
              <a:t> </a:t>
            </a:r>
            <a:r>
              <a:rPr sz="2800" spc="-10" dirty="0">
                <a:latin typeface="Times New Roman"/>
                <a:cs typeface="Times New Roman"/>
              </a:rPr>
              <a:t>statement</a:t>
            </a:r>
            <a:endParaRPr sz="2800" dirty="0">
              <a:latin typeface="Times New Roman"/>
              <a:cs typeface="Times New Roman"/>
            </a:endParaRPr>
          </a:p>
          <a:p>
            <a:pPr marL="421005" indent="-408305">
              <a:lnSpc>
                <a:spcPct val="100000"/>
              </a:lnSpc>
              <a:spcBef>
                <a:spcPts val="665"/>
              </a:spcBef>
              <a:buChar char="•"/>
              <a:tabLst>
                <a:tab pos="421005" algn="l"/>
              </a:tabLst>
            </a:pPr>
            <a:r>
              <a:rPr sz="2800" dirty="0">
                <a:latin typeface="Times New Roman"/>
                <a:cs typeface="Times New Roman"/>
              </a:rPr>
              <a:t>Objectives</a:t>
            </a:r>
            <a:r>
              <a:rPr sz="2800" spc="-40" dirty="0">
                <a:latin typeface="Times New Roman"/>
                <a:cs typeface="Times New Roman"/>
              </a:rPr>
              <a:t> </a:t>
            </a:r>
            <a:r>
              <a:rPr sz="2800" dirty="0">
                <a:latin typeface="Times New Roman"/>
                <a:cs typeface="Times New Roman"/>
              </a:rPr>
              <a:t>of</a:t>
            </a:r>
            <a:r>
              <a:rPr sz="2800" spc="-35" dirty="0">
                <a:latin typeface="Times New Roman"/>
                <a:cs typeface="Times New Roman"/>
              </a:rPr>
              <a:t> </a:t>
            </a:r>
            <a:r>
              <a:rPr sz="2800" spc="-10" dirty="0">
                <a:latin typeface="Times New Roman"/>
                <a:cs typeface="Times New Roman"/>
              </a:rPr>
              <a:t>Project</a:t>
            </a:r>
            <a:endParaRPr sz="2800" dirty="0">
              <a:latin typeface="Times New Roman"/>
              <a:cs typeface="Times New Roman"/>
            </a:endParaRPr>
          </a:p>
          <a:p>
            <a:pPr marL="421005" indent="-408305">
              <a:lnSpc>
                <a:spcPct val="100000"/>
              </a:lnSpc>
              <a:spcBef>
                <a:spcPts val="665"/>
              </a:spcBef>
              <a:buChar char="•"/>
              <a:tabLst>
                <a:tab pos="421005" algn="l"/>
              </a:tabLst>
            </a:pPr>
            <a:r>
              <a:rPr sz="2800" dirty="0">
                <a:latin typeface="Times New Roman"/>
                <a:cs typeface="Times New Roman"/>
              </a:rPr>
              <a:t>Literature</a:t>
            </a:r>
            <a:r>
              <a:rPr sz="2800" spc="-35" dirty="0">
                <a:latin typeface="Times New Roman"/>
                <a:cs typeface="Times New Roman"/>
              </a:rPr>
              <a:t> </a:t>
            </a:r>
            <a:r>
              <a:rPr sz="2800" dirty="0">
                <a:latin typeface="Times New Roman"/>
                <a:cs typeface="Times New Roman"/>
              </a:rPr>
              <a:t>survey</a:t>
            </a:r>
            <a:r>
              <a:rPr sz="2800" spc="-25" dirty="0">
                <a:latin typeface="Times New Roman"/>
                <a:cs typeface="Times New Roman"/>
              </a:rPr>
              <a:t> </a:t>
            </a:r>
            <a:r>
              <a:rPr sz="2800" dirty="0">
                <a:latin typeface="Times New Roman"/>
                <a:cs typeface="Times New Roman"/>
              </a:rPr>
              <a:t>for</a:t>
            </a:r>
            <a:r>
              <a:rPr sz="2800" spc="-25" dirty="0">
                <a:latin typeface="Times New Roman"/>
                <a:cs typeface="Times New Roman"/>
              </a:rPr>
              <a:t> </a:t>
            </a:r>
            <a:r>
              <a:rPr sz="2800" spc="-10" dirty="0">
                <a:latin typeface="Times New Roman"/>
                <a:cs typeface="Times New Roman"/>
              </a:rPr>
              <a:t>objectives</a:t>
            </a:r>
            <a:endParaRPr sz="2800" dirty="0">
              <a:latin typeface="Times New Roman"/>
              <a:cs typeface="Times New Roman"/>
            </a:endParaRPr>
          </a:p>
          <a:p>
            <a:pPr marL="421005" indent="-408305">
              <a:lnSpc>
                <a:spcPct val="100000"/>
              </a:lnSpc>
              <a:spcBef>
                <a:spcPts val="660"/>
              </a:spcBef>
              <a:buChar char="•"/>
              <a:tabLst>
                <a:tab pos="421005" algn="l"/>
              </a:tabLst>
            </a:pPr>
            <a:r>
              <a:rPr sz="2800" dirty="0">
                <a:latin typeface="Times New Roman"/>
                <a:cs typeface="Times New Roman"/>
              </a:rPr>
              <a:t>Proposed</a:t>
            </a:r>
            <a:r>
              <a:rPr sz="2800" spc="-25" dirty="0">
                <a:latin typeface="Times New Roman"/>
                <a:cs typeface="Times New Roman"/>
              </a:rPr>
              <a:t> </a:t>
            </a:r>
            <a:r>
              <a:rPr sz="2800" dirty="0">
                <a:latin typeface="Times New Roman"/>
                <a:cs typeface="Times New Roman"/>
              </a:rPr>
              <a:t>Work</a:t>
            </a:r>
            <a:r>
              <a:rPr sz="2800" spc="-20" dirty="0">
                <a:latin typeface="Times New Roman"/>
                <a:cs typeface="Times New Roman"/>
              </a:rPr>
              <a:t> </a:t>
            </a:r>
            <a:r>
              <a:rPr sz="2800" spc="-10" dirty="0">
                <a:latin typeface="Times New Roman"/>
                <a:cs typeface="Times New Roman"/>
              </a:rPr>
              <a:t>-</a:t>
            </a:r>
            <a:r>
              <a:rPr sz="2800" dirty="0">
                <a:latin typeface="Times New Roman"/>
                <a:cs typeface="Times New Roman"/>
              </a:rPr>
              <a:t>(Methods</a:t>
            </a:r>
            <a:r>
              <a:rPr sz="2800" spc="-25" dirty="0">
                <a:latin typeface="Times New Roman"/>
                <a:cs typeface="Times New Roman"/>
              </a:rPr>
              <a:t> </a:t>
            </a:r>
            <a:r>
              <a:rPr sz="2800" dirty="0">
                <a:latin typeface="Times New Roman"/>
                <a:cs typeface="Times New Roman"/>
              </a:rPr>
              <a:t>to</a:t>
            </a:r>
            <a:r>
              <a:rPr sz="2800" spc="-25" dirty="0">
                <a:latin typeface="Times New Roman"/>
                <a:cs typeface="Times New Roman"/>
              </a:rPr>
              <a:t> </a:t>
            </a:r>
            <a:r>
              <a:rPr sz="2800" dirty="0">
                <a:latin typeface="Times New Roman"/>
                <a:cs typeface="Times New Roman"/>
              </a:rPr>
              <a:t>be</a:t>
            </a:r>
            <a:r>
              <a:rPr sz="2800" spc="-25" dirty="0">
                <a:latin typeface="Times New Roman"/>
                <a:cs typeface="Times New Roman"/>
              </a:rPr>
              <a:t> </a:t>
            </a:r>
            <a:r>
              <a:rPr sz="2800" dirty="0">
                <a:latin typeface="Times New Roman"/>
                <a:cs typeface="Times New Roman"/>
              </a:rPr>
              <a:t>followed</a:t>
            </a:r>
            <a:r>
              <a:rPr sz="2800" spc="-20" dirty="0">
                <a:latin typeface="Times New Roman"/>
                <a:cs typeface="Times New Roman"/>
              </a:rPr>
              <a:t> </a:t>
            </a:r>
            <a:r>
              <a:rPr sz="2800" dirty="0">
                <a:latin typeface="Times New Roman"/>
                <a:cs typeface="Times New Roman"/>
              </a:rPr>
              <a:t>for</a:t>
            </a:r>
            <a:r>
              <a:rPr sz="2800" spc="-25" dirty="0">
                <a:latin typeface="Times New Roman"/>
                <a:cs typeface="Times New Roman"/>
              </a:rPr>
              <a:t> </a:t>
            </a:r>
            <a:r>
              <a:rPr sz="2800" dirty="0">
                <a:latin typeface="Times New Roman"/>
                <a:cs typeface="Times New Roman"/>
              </a:rPr>
              <a:t>proposed</a:t>
            </a:r>
            <a:r>
              <a:rPr sz="2800" spc="-20" dirty="0">
                <a:latin typeface="Times New Roman"/>
                <a:cs typeface="Times New Roman"/>
              </a:rPr>
              <a:t> </a:t>
            </a:r>
            <a:r>
              <a:rPr sz="2800" spc="-10" dirty="0">
                <a:latin typeface="Times New Roman"/>
                <a:cs typeface="Times New Roman"/>
              </a:rPr>
              <a:t>system)</a:t>
            </a:r>
            <a:endParaRPr sz="2800" dirty="0">
              <a:latin typeface="Times New Roman"/>
              <a:cs typeface="Times New Roman"/>
            </a:endParaRPr>
          </a:p>
          <a:p>
            <a:pPr marL="421005" indent="-408305">
              <a:lnSpc>
                <a:spcPct val="100000"/>
              </a:lnSpc>
              <a:spcBef>
                <a:spcPts val="665"/>
              </a:spcBef>
              <a:buChar char="•"/>
              <a:tabLst>
                <a:tab pos="421005" algn="l"/>
              </a:tabLst>
            </a:pPr>
            <a:r>
              <a:rPr sz="2800" spc="-10" dirty="0">
                <a:latin typeface="Times New Roman"/>
                <a:cs typeface="Times New Roman"/>
              </a:rPr>
              <a:t>References</a:t>
            </a:r>
            <a:endParaRPr sz="2800" dirty="0">
              <a:latin typeface="Times New Roman"/>
              <a:cs typeface="Times New Roman"/>
            </a:endParaRPr>
          </a:p>
          <a:p>
            <a:pPr marL="421005" indent="-408305">
              <a:lnSpc>
                <a:spcPct val="100000"/>
              </a:lnSpc>
              <a:spcBef>
                <a:spcPts val="665"/>
              </a:spcBef>
              <a:buChar char="•"/>
              <a:tabLst>
                <a:tab pos="421005" algn="l"/>
              </a:tabLst>
            </a:pPr>
            <a:r>
              <a:rPr sz="2800" dirty="0">
                <a:latin typeface="Times New Roman"/>
                <a:cs typeface="Times New Roman"/>
              </a:rPr>
              <a:t>GitHub </a:t>
            </a:r>
            <a:r>
              <a:rPr sz="2800" spc="-20" dirty="0">
                <a:latin typeface="Times New Roman"/>
                <a:cs typeface="Times New Roman"/>
              </a:rPr>
              <a:t>Link</a:t>
            </a:r>
            <a:endParaRPr sz="2800" dirty="0">
              <a:latin typeface="Times New Roman"/>
              <a:cs typeface="Times New Roman"/>
            </a:endParaRPr>
          </a:p>
          <a:p>
            <a:pPr marL="421005" indent="-408305">
              <a:lnSpc>
                <a:spcPct val="100000"/>
              </a:lnSpc>
              <a:spcBef>
                <a:spcPts val="665"/>
              </a:spcBef>
              <a:buChar char="•"/>
              <a:tabLst>
                <a:tab pos="421005" algn="l"/>
              </a:tabLst>
            </a:pPr>
            <a:r>
              <a:rPr sz="2800" spc="-10" dirty="0">
                <a:latin typeface="Times New Roman"/>
                <a:cs typeface="Times New Roman"/>
              </a:rPr>
              <a:t>Queries</a:t>
            </a:r>
            <a:endParaRPr sz="280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546"/>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3" name="object 3"/>
          <p:cNvSpPr txBox="1"/>
          <p:nvPr/>
        </p:nvSpPr>
        <p:spPr>
          <a:xfrm>
            <a:off x="3733800" y="-1"/>
            <a:ext cx="6019800" cy="228268"/>
          </a:xfrm>
          <a:prstGeom prst="rect">
            <a:avLst/>
          </a:prstGeom>
        </p:spPr>
        <p:txBody>
          <a:bodyPr vert="horz" wrap="square" lIns="0" tIns="12700" rIns="0" bIns="0" rtlCol="0">
            <a:spAutoFit/>
          </a:bodyPr>
          <a:lstStyle/>
          <a:p>
            <a:pPr marL="12700">
              <a:lnSpc>
                <a:spcPct val="100000"/>
              </a:lnSpc>
              <a:spcBef>
                <a:spcPts val="100"/>
              </a:spcBef>
            </a:pPr>
            <a:r>
              <a:rPr lang="en-US" sz="1400" dirty="0">
                <a:solidFill>
                  <a:schemeClr val="bg1"/>
                </a:solidFill>
                <a:latin typeface="Times New Roman" panose="02020603050405020304" pitchFamily="18" charset="0"/>
                <a:cs typeface="Times New Roman" panose="02020603050405020304" pitchFamily="18" charset="0"/>
              </a:rPr>
              <a:t>AI-Enhanced Geospatial Tourism Recommendation System</a:t>
            </a:r>
          </a:p>
        </p:txBody>
      </p:sp>
      <p:grpSp>
        <p:nvGrpSpPr>
          <p:cNvPr id="4" name="object 4"/>
          <p:cNvGrpSpPr/>
          <p:nvPr/>
        </p:nvGrpSpPr>
        <p:grpSpPr>
          <a:xfrm>
            <a:off x="0" y="212399"/>
            <a:ext cx="12192000" cy="803275"/>
            <a:chOff x="0" y="212399"/>
            <a:chExt cx="12192000" cy="803275"/>
          </a:xfrm>
        </p:grpSpPr>
        <p:pic>
          <p:nvPicPr>
            <p:cNvPr id="5" name="object 5"/>
            <p:cNvPicPr/>
            <p:nvPr/>
          </p:nvPicPr>
          <p:blipFill>
            <a:blip r:embed="rId2" cstate="print"/>
            <a:stretch>
              <a:fillRect/>
            </a:stretch>
          </p:blipFill>
          <p:spPr>
            <a:xfrm>
              <a:off x="0" y="212399"/>
              <a:ext cx="12192000" cy="803160"/>
            </a:xfrm>
            <a:prstGeom prst="rect">
              <a:avLst/>
            </a:prstGeom>
          </p:spPr>
        </p:pic>
        <p:sp>
          <p:nvSpPr>
            <p:cNvPr id="6" name="object 6"/>
            <p:cNvSpPr/>
            <p:nvPr/>
          </p:nvSpPr>
          <p:spPr>
            <a:xfrm>
              <a:off x="239" y="228599"/>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7" name="object 7"/>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Title</a:t>
            </a:r>
            <a:r>
              <a:rPr spc="-110" dirty="0"/>
              <a:t> </a:t>
            </a:r>
            <a:r>
              <a:rPr spc="-10" dirty="0"/>
              <a:t>Justification</a:t>
            </a:r>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lang="en-US" spc="-10" dirty="0"/>
              <a:t>9</a:t>
            </a:r>
            <a:endParaRPr spc="-25" dirty="0"/>
          </a:p>
        </p:txBody>
      </p:sp>
      <p:sp>
        <p:nvSpPr>
          <p:cNvPr id="9" name="object 9"/>
          <p:cNvSpPr txBox="1">
            <a:spLocks noGrp="1"/>
          </p:cNvSpPr>
          <p:nvPr>
            <p:ph type="dt" sz="half" idx="6"/>
          </p:nvPr>
        </p:nvSpPr>
        <p:spPr>
          <a:xfrm>
            <a:off x="1773948" y="6629559"/>
            <a:ext cx="40172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7147541" y="6629197"/>
            <a:ext cx="4206259" cy="228803"/>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3</a:t>
            </a:fld>
            <a:endParaRPr spc="-25" dirty="0"/>
          </a:p>
        </p:txBody>
      </p:sp>
      <p:sp>
        <p:nvSpPr>
          <p:cNvPr id="13" name="TextBox 12">
            <a:extLst>
              <a:ext uri="{FF2B5EF4-FFF2-40B4-BE49-F238E27FC236}">
                <a16:creationId xmlns:a16="http://schemas.microsoft.com/office/drawing/2014/main" id="{A9924C31-CA33-3AA0-F6AC-3F8332B657C5}"/>
              </a:ext>
            </a:extLst>
          </p:cNvPr>
          <p:cNvSpPr txBox="1"/>
          <p:nvPr/>
        </p:nvSpPr>
        <p:spPr>
          <a:xfrm>
            <a:off x="784031" y="1524000"/>
            <a:ext cx="10798369" cy="3782061"/>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title emphasizes “AI-Enhanced,” which accurately represents the system’s use of advanced machine learning, computer vision, and NLP models to analyze user inputs, identify tourist locations, and generate intelligent, data-driven recommendations.</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term “Geospatial” highlights the system’s reliance on GIS techniques, spatial clustering, and location-based context understanding key components that differentiate it from generic recommendation systems by focusing on geographical relationships between destinations.</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phrase “Tourism Recommendation System” clearly describes the primary purpose of the work: providing personalized and relevant travel suggestions by analyzing user preferences, proximity-based insights, and place similarities.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38600" y="-18339"/>
            <a:ext cx="6019800" cy="228268"/>
          </a:xfrm>
          <a:prstGeom prst="rect">
            <a:avLst/>
          </a:prstGeom>
        </p:spPr>
        <p:txBody>
          <a:bodyPr vert="horz" wrap="square" lIns="0" tIns="12700" rIns="0" bIns="0" rtlCol="0">
            <a:spAutoFit/>
          </a:bodyPr>
          <a:lstStyle/>
          <a:p>
            <a:pPr marL="12700">
              <a:lnSpc>
                <a:spcPct val="100000"/>
              </a:lnSpc>
              <a:spcBef>
                <a:spcPts val="100"/>
              </a:spcBef>
            </a:pPr>
            <a:r>
              <a:rPr lang="en-US" sz="1400" dirty="0">
                <a:solidFill>
                  <a:schemeClr val="bg1"/>
                </a:solidFill>
                <a:latin typeface="Times New Roman" panose="02020603050405020304" pitchFamily="18" charset="0"/>
                <a:cs typeface="Times New Roman" panose="02020603050405020304" pitchFamily="18" charset="0"/>
              </a:rPr>
              <a:t>AI-Enhanced Geospatial Tourism Recommendation System</a:t>
            </a:r>
          </a:p>
        </p:txBody>
      </p:sp>
      <p:grpSp>
        <p:nvGrpSpPr>
          <p:cNvPr id="3" name="object 3"/>
          <p:cNvGrpSpPr/>
          <p:nvPr/>
        </p:nvGrpSpPr>
        <p:grpSpPr>
          <a:xfrm>
            <a:off x="-1300" y="226615"/>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18551" y="256301"/>
            <a:ext cx="7221414" cy="628377"/>
          </a:xfrm>
          <a:prstGeom prst="rect">
            <a:avLst/>
          </a:prstGeom>
        </p:spPr>
        <p:txBody>
          <a:bodyPr vert="horz" wrap="square" lIns="0" tIns="12700" rIns="0" bIns="0" rtlCol="0">
            <a:spAutoFit/>
          </a:bodyPr>
          <a:lstStyle/>
          <a:p>
            <a:pPr marL="12700">
              <a:lnSpc>
                <a:spcPct val="100000"/>
              </a:lnSpc>
              <a:spcBef>
                <a:spcPts val="100"/>
              </a:spcBef>
            </a:pPr>
            <a:r>
              <a:rPr lang="en-IN" sz="4000" spc="-10" dirty="0"/>
              <a:t>Abstract</a:t>
            </a:r>
            <a:endParaRPr sz="4000" dirty="0"/>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lang="en-US" spc="-10" dirty="0"/>
              <a:t>9</a:t>
            </a:r>
            <a:endParaRPr spc="-25" dirty="0"/>
          </a:p>
        </p:txBody>
      </p:sp>
      <p:sp>
        <p:nvSpPr>
          <p:cNvPr id="9" name="object 9"/>
          <p:cNvSpPr txBox="1">
            <a:spLocks noGrp="1"/>
          </p:cNvSpPr>
          <p:nvPr>
            <p:ph type="dt" sz="half" idx="6"/>
          </p:nvPr>
        </p:nvSpPr>
        <p:spPr>
          <a:xfrm>
            <a:off x="1383050" y="6629197"/>
            <a:ext cx="4027150"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7147541" y="6629197"/>
            <a:ext cx="4260428"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4</a:t>
            </a:fld>
            <a:endParaRPr spc="-25" dirty="0"/>
          </a:p>
        </p:txBody>
      </p:sp>
      <p:sp>
        <p:nvSpPr>
          <p:cNvPr id="12" name="TextBox 11">
            <a:extLst>
              <a:ext uri="{FF2B5EF4-FFF2-40B4-BE49-F238E27FC236}">
                <a16:creationId xmlns:a16="http://schemas.microsoft.com/office/drawing/2014/main" id="{03289E10-C778-97C5-3BEF-64F0215EEA35}"/>
              </a:ext>
            </a:extLst>
          </p:cNvPr>
          <p:cNvSpPr txBox="1"/>
          <p:nvPr/>
        </p:nvSpPr>
        <p:spPr>
          <a:xfrm>
            <a:off x="609600" y="1367957"/>
            <a:ext cx="10798369" cy="3782061"/>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This project presents an AI-Enhanced Geospatial Tourism Recommendation System designed to intelligently identify tourist places from user-uploaded inputs and deliver personalized travel suggestions across India. The system integrates computer vision, natural language processing, and machine learning models to recognize destinations and analyze contextual factors such as geographical proximity, cultural relevance, and user preferences. Geospatial analysis further enhances the system by mapping locations, understanding spatial relationships, and recommending similar or nearby attractions. The results are displayed with rich details including descriptions, images, and interactive map visualizations to support informed decision-making. This integrated approach improves the accuracy, relevance, and usability of tourism recommendations, creating a smart, AI-driven solution that enhances travel planning and enriches user experience.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191000" y="-18339"/>
            <a:ext cx="4876800" cy="228268"/>
          </a:xfrm>
          <a:prstGeom prst="rect">
            <a:avLst/>
          </a:prstGeom>
        </p:spPr>
        <p:txBody>
          <a:bodyPr vert="horz" wrap="square" lIns="0" tIns="12700" rIns="0" bIns="0" rtlCol="0">
            <a:spAutoFit/>
          </a:bodyPr>
          <a:lstStyle/>
          <a:p>
            <a:pPr marL="12700">
              <a:lnSpc>
                <a:spcPct val="100000"/>
              </a:lnSpc>
              <a:spcBef>
                <a:spcPts val="100"/>
              </a:spcBef>
            </a:pPr>
            <a:r>
              <a:rPr lang="en-US" sz="1400" dirty="0">
                <a:solidFill>
                  <a:schemeClr val="bg1"/>
                </a:solidFill>
                <a:latin typeface="Times New Roman" panose="02020603050405020304" pitchFamily="18" charset="0"/>
                <a:cs typeface="Times New Roman" panose="02020603050405020304" pitchFamily="18" charset="0"/>
              </a:rPr>
              <a:t>AI-Enhanced Geospatial Tourism Recommendation System</a:t>
            </a:r>
          </a:p>
        </p:txBody>
      </p:sp>
      <p:grpSp>
        <p:nvGrpSpPr>
          <p:cNvPr id="3" name="object 3"/>
          <p:cNvGrpSpPr/>
          <p:nvPr/>
        </p:nvGrpSpPr>
        <p:grpSpPr>
          <a:xfrm>
            <a:off x="0" y="216720"/>
            <a:ext cx="12192000" cy="803275"/>
            <a:chOff x="0" y="216720"/>
            <a:chExt cx="12192000" cy="803275"/>
          </a:xfrm>
        </p:grpSpPr>
        <p:pic>
          <p:nvPicPr>
            <p:cNvPr id="4" name="object 4"/>
            <p:cNvPicPr/>
            <p:nvPr/>
          </p:nvPicPr>
          <p:blipFill>
            <a:blip r:embed="rId3"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Problem</a:t>
            </a:r>
            <a:r>
              <a:rPr spc="-185" dirty="0"/>
              <a:t> </a:t>
            </a:r>
            <a:r>
              <a:rPr spc="-10" dirty="0"/>
              <a:t>Statement</a:t>
            </a:r>
          </a:p>
        </p:txBody>
      </p:sp>
      <p:sp>
        <p:nvSpPr>
          <p:cNvPr id="9" name="object 9"/>
          <p:cNvSpPr txBox="1">
            <a:spLocks noGrp="1"/>
          </p:cNvSpPr>
          <p:nvPr>
            <p:ph type="dt" sz="half" idx="6"/>
          </p:nvPr>
        </p:nvSpPr>
        <p:spPr>
          <a:xfrm>
            <a:off x="1773948" y="6629559"/>
            <a:ext cx="39410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7147541" y="6629197"/>
            <a:ext cx="4511059" cy="228803"/>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5</a:t>
            </a:fld>
            <a:endParaRPr spc="-25" dirty="0"/>
          </a:p>
        </p:txBody>
      </p:sp>
      <p:sp>
        <p:nvSpPr>
          <p:cNvPr id="12" name="TextBox 11">
            <a:extLst>
              <a:ext uri="{FF2B5EF4-FFF2-40B4-BE49-F238E27FC236}">
                <a16:creationId xmlns:a16="http://schemas.microsoft.com/office/drawing/2014/main" id="{F64B098F-2EEB-E3B6-D749-B5552382089A}"/>
              </a:ext>
            </a:extLst>
          </p:cNvPr>
          <p:cNvSpPr txBox="1"/>
          <p:nvPr/>
        </p:nvSpPr>
        <p:spPr>
          <a:xfrm>
            <a:off x="784031" y="1524000"/>
            <a:ext cx="10798369" cy="3366563"/>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Existing tourism platforms often fail to automatically identify tourist spots from user-provided inputs such as images, text, or coordinates, making it difficult for travelers to receive context-aware information.</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Many recommendation systems do not incorporate geospatial analysis, resulting in suggestions that ignore spatial proximity, regional features, cultural relevance, and geographical accessibility.</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Current travel recommendation tools offer generic results that do not adapt to user preferences, contextual cues, or the characteristics of the input place, reducing the relevance and usefulness of recommendations.</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Travelers lack a unified system that provides detailed destination information along with interactive map visualizations, making trip planning less efficient and less informative.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38600" y="-18340"/>
            <a:ext cx="5257800" cy="228268"/>
          </a:xfrm>
          <a:prstGeom prst="rect">
            <a:avLst/>
          </a:prstGeom>
        </p:spPr>
        <p:txBody>
          <a:bodyPr vert="horz" wrap="square" lIns="0" tIns="12700" rIns="0" bIns="0" rtlCol="0">
            <a:spAutoFit/>
          </a:bodyPr>
          <a:lstStyle/>
          <a:p>
            <a:pPr marL="12700">
              <a:lnSpc>
                <a:spcPct val="100000"/>
              </a:lnSpc>
              <a:spcBef>
                <a:spcPts val="100"/>
              </a:spcBef>
            </a:pPr>
            <a:r>
              <a:rPr lang="en-US" sz="1400" dirty="0">
                <a:solidFill>
                  <a:schemeClr val="bg1"/>
                </a:solidFill>
                <a:latin typeface="Times New Roman" panose="02020603050405020304" pitchFamily="18" charset="0"/>
                <a:cs typeface="Times New Roman" panose="02020603050405020304" pitchFamily="18" charset="0"/>
              </a:rPr>
              <a:t>AI-Enhanced Geospatial Tourism Recommendation System</a:t>
            </a:r>
          </a:p>
        </p:txBody>
      </p:sp>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tabLst>
                <a:tab pos="3145790" algn="l"/>
              </a:tabLst>
            </a:pPr>
            <a:r>
              <a:rPr dirty="0"/>
              <a:t>Objectives</a:t>
            </a:r>
            <a:r>
              <a:rPr spc="-60" dirty="0"/>
              <a:t> </a:t>
            </a:r>
            <a:r>
              <a:rPr spc="-25" dirty="0"/>
              <a:t>of</a:t>
            </a:r>
            <a:r>
              <a:rPr dirty="0"/>
              <a:t>	</a:t>
            </a:r>
            <a:r>
              <a:rPr spc="-10" dirty="0"/>
              <a:t>Project</a:t>
            </a:r>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lang="en-US" spc="-10" dirty="0"/>
              <a:t>9</a:t>
            </a:r>
            <a:endParaRPr spc="-25" dirty="0"/>
          </a:p>
        </p:txBody>
      </p:sp>
      <p:sp>
        <p:nvSpPr>
          <p:cNvPr id="9" name="object 9"/>
          <p:cNvSpPr txBox="1">
            <a:spLocks noGrp="1"/>
          </p:cNvSpPr>
          <p:nvPr>
            <p:ph type="dt" sz="half" idx="6"/>
          </p:nvPr>
        </p:nvSpPr>
        <p:spPr>
          <a:xfrm>
            <a:off x="1773948" y="6629559"/>
            <a:ext cx="40934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7147541" y="6629197"/>
            <a:ext cx="4206259" cy="228803"/>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6</a:t>
            </a:fld>
            <a:endParaRPr spc="-25" dirty="0"/>
          </a:p>
        </p:txBody>
      </p:sp>
      <p:sp>
        <p:nvSpPr>
          <p:cNvPr id="12" name="TextBox 11">
            <a:extLst>
              <a:ext uri="{FF2B5EF4-FFF2-40B4-BE49-F238E27FC236}">
                <a16:creationId xmlns:a16="http://schemas.microsoft.com/office/drawing/2014/main" id="{0E910147-AAFE-44E0-90DF-57091E7D7810}"/>
              </a:ext>
            </a:extLst>
          </p:cNvPr>
          <p:cNvSpPr txBox="1"/>
          <p:nvPr/>
        </p:nvSpPr>
        <p:spPr>
          <a:xfrm>
            <a:off x="784031" y="1524000"/>
            <a:ext cx="10798369" cy="3366563"/>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automatically identify tourist locations from user-uploaded inputs such as images, text descriptions, or coordinates using AI techniques like computer vision and NLP. </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analyze the geographical and contextual features of identified locations through machine learning and geospatial processing to understand proximity, cultural relevance, and environmental characteristics. </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generate personalized tourism recommendations by suggesting similar or nearby destinations based on user preferences, spatial relationships, and contextual insights. </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provide an interactive and user-friendly interface that displays detailed information, images, and map visualizations of recommended places for enhanced decision-making and trip planning.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191000" y="-18339"/>
            <a:ext cx="5334000" cy="228268"/>
          </a:xfrm>
          <a:prstGeom prst="rect">
            <a:avLst/>
          </a:prstGeom>
        </p:spPr>
        <p:txBody>
          <a:bodyPr vert="horz" wrap="square" lIns="0" tIns="12700" rIns="0" bIns="0" rtlCol="0">
            <a:spAutoFit/>
          </a:bodyPr>
          <a:lstStyle/>
          <a:p>
            <a:pPr marL="12700">
              <a:lnSpc>
                <a:spcPct val="100000"/>
              </a:lnSpc>
              <a:spcBef>
                <a:spcPts val="100"/>
              </a:spcBef>
            </a:pPr>
            <a:r>
              <a:rPr lang="en-US" sz="1400" dirty="0">
                <a:solidFill>
                  <a:schemeClr val="bg1"/>
                </a:solidFill>
                <a:latin typeface="Times New Roman" panose="02020603050405020304" pitchFamily="18" charset="0"/>
                <a:cs typeface="Times New Roman" panose="02020603050405020304" pitchFamily="18" charset="0"/>
              </a:rPr>
              <a:t>AI-Enhanced Geospatial Tourism Recommendation System</a:t>
            </a:r>
          </a:p>
        </p:txBody>
      </p:sp>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p:nvPr/>
        </p:nvSpPr>
        <p:spPr>
          <a:xfrm>
            <a:off x="73025" y="209958"/>
            <a:ext cx="8918575" cy="1577355"/>
          </a:xfrm>
          <a:prstGeom prst="rect">
            <a:avLst/>
          </a:prstGeom>
        </p:spPr>
        <p:txBody>
          <a:bodyPr vert="horz" wrap="square" lIns="0" tIns="12700" rIns="0" bIns="0" rtlCol="0">
            <a:spAutoFit/>
          </a:bodyPr>
          <a:lstStyle/>
          <a:p>
            <a:pPr marL="12700">
              <a:lnSpc>
                <a:spcPct val="100000"/>
              </a:lnSpc>
              <a:spcBef>
                <a:spcPts val="100"/>
              </a:spcBef>
            </a:pPr>
            <a:r>
              <a:rPr sz="4400" dirty="0">
                <a:solidFill>
                  <a:schemeClr val="bg1"/>
                </a:solidFill>
                <a:latin typeface="Times New Roman"/>
                <a:cs typeface="Times New Roman"/>
              </a:rPr>
              <a:t>Literature</a:t>
            </a:r>
            <a:r>
              <a:rPr sz="4400" spc="-35" dirty="0">
                <a:solidFill>
                  <a:schemeClr val="bg1"/>
                </a:solidFill>
                <a:latin typeface="Times New Roman"/>
                <a:cs typeface="Times New Roman"/>
              </a:rPr>
              <a:t> </a:t>
            </a:r>
            <a:r>
              <a:rPr sz="4400" dirty="0">
                <a:solidFill>
                  <a:schemeClr val="bg1"/>
                </a:solidFill>
                <a:latin typeface="Times New Roman"/>
                <a:cs typeface="Times New Roman"/>
              </a:rPr>
              <a:t>survey</a:t>
            </a:r>
            <a:r>
              <a:rPr sz="4400" spc="-25" dirty="0">
                <a:solidFill>
                  <a:schemeClr val="bg1"/>
                </a:solidFill>
                <a:latin typeface="Times New Roman"/>
                <a:cs typeface="Times New Roman"/>
              </a:rPr>
              <a:t> </a:t>
            </a:r>
            <a:r>
              <a:rPr sz="4400" dirty="0">
                <a:solidFill>
                  <a:schemeClr val="bg1"/>
                </a:solidFill>
                <a:latin typeface="Times New Roman"/>
                <a:cs typeface="Times New Roman"/>
              </a:rPr>
              <a:t>for</a:t>
            </a:r>
            <a:r>
              <a:rPr sz="4400" spc="-25" dirty="0">
                <a:solidFill>
                  <a:schemeClr val="bg1"/>
                </a:solidFill>
                <a:latin typeface="Times New Roman"/>
                <a:cs typeface="Times New Roman"/>
              </a:rPr>
              <a:t> </a:t>
            </a:r>
            <a:r>
              <a:rPr sz="4400" spc="-10" dirty="0">
                <a:solidFill>
                  <a:schemeClr val="bg1"/>
                </a:solidFill>
                <a:latin typeface="Times New Roman"/>
                <a:cs typeface="Times New Roman"/>
              </a:rPr>
              <a:t>objectives</a:t>
            </a:r>
            <a:endParaRPr sz="4400" dirty="0">
              <a:solidFill>
                <a:schemeClr val="bg1"/>
              </a:solidFill>
              <a:latin typeface="Times New Roman"/>
              <a:cs typeface="Times New Roman"/>
            </a:endParaRPr>
          </a:p>
          <a:p>
            <a:pPr>
              <a:lnSpc>
                <a:spcPct val="100000"/>
              </a:lnSpc>
              <a:spcBef>
                <a:spcPts val="225"/>
              </a:spcBef>
            </a:pPr>
            <a:endParaRPr sz="2800" dirty="0">
              <a:latin typeface="Times New Roman"/>
              <a:cs typeface="Times New Roman"/>
            </a:endParaRPr>
          </a:p>
          <a:p>
            <a:pPr marL="176530">
              <a:lnSpc>
                <a:spcPct val="100000"/>
              </a:lnSpc>
            </a:pPr>
            <a:endParaRPr sz="2800" dirty="0">
              <a:latin typeface="Lucida Sans Unicode"/>
              <a:cs typeface="Lucida Sans Unicode"/>
            </a:endParaRPr>
          </a:p>
        </p:txBody>
      </p:sp>
      <p:sp>
        <p:nvSpPr>
          <p:cNvPr id="7" name="object 7"/>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lang="en-US" spc="-10" dirty="0"/>
              <a:t>9</a:t>
            </a:r>
            <a:endParaRPr spc="-25" dirty="0"/>
          </a:p>
        </p:txBody>
      </p:sp>
      <p:sp>
        <p:nvSpPr>
          <p:cNvPr id="8" name="object 8"/>
          <p:cNvSpPr txBox="1">
            <a:spLocks noGrp="1"/>
          </p:cNvSpPr>
          <p:nvPr>
            <p:ph type="dt" sz="half" idx="6"/>
          </p:nvPr>
        </p:nvSpPr>
        <p:spPr>
          <a:xfrm>
            <a:off x="1773948" y="6629559"/>
            <a:ext cx="41696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9" name="object 9"/>
          <p:cNvSpPr txBox="1"/>
          <p:nvPr/>
        </p:nvSpPr>
        <p:spPr>
          <a:xfrm>
            <a:off x="7147541" y="6629197"/>
            <a:ext cx="4169651" cy="228803"/>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7</a:t>
            </a:fld>
            <a:endParaRPr spc="-25" dirty="0"/>
          </a:p>
        </p:txBody>
      </p:sp>
      <p:graphicFrame>
        <p:nvGraphicFramePr>
          <p:cNvPr id="12" name="Table 11">
            <a:extLst>
              <a:ext uri="{FF2B5EF4-FFF2-40B4-BE49-F238E27FC236}">
                <a16:creationId xmlns:a16="http://schemas.microsoft.com/office/drawing/2014/main" id="{99EF9D97-3DAF-40F7-5670-27C580AF35B1}"/>
              </a:ext>
            </a:extLst>
          </p:cNvPr>
          <p:cNvGraphicFramePr>
            <a:graphicFrameLocks noGrp="1"/>
          </p:cNvGraphicFramePr>
          <p:nvPr>
            <p:extLst>
              <p:ext uri="{D42A27DB-BD31-4B8C-83A1-F6EECF244321}">
                <p14:modId xmlns:p14="http://schemas.microsoft.com/office/powerpoint/2010/main" val="7285597"/>
              </p:ext>
            </p:extLst>
          </p:nvPr>
        </p:nvGraphicFramePr>
        <p:xfrm>
          <a:off x="457200" y="1074738"/>
          <a:ext cx="10744200" cy="4892240"/>
        </p:xfrm>
        <a:graphic>
          <a:graphicData uri="http://schemas.openxmlformats.org/drawingml/2006/table">
            <a:tbl>
              <a:tblPr>
                <a:tableStyleId>{BC89EF96-8CEA-46FF-86C4-4CE0E7609802}</a:tableStyleId>
              </a:tblPr>
              <a:tblGrid>
                <a:gridCol w="2148840">
                  <a:extLst>
                    <a:ext uri="{9D8B030D-6E8A-4147-A177-3AD203B41FA5}">
                      <a16:colId xmlns:a16="http://schemas.microsoft.com/office/drawing/2014/main" val="805013458"/>
                    </a:ext>
                  </a:extLst>
                </a:gridCol>
                <a:gridCol w="1051560">
                  <a:extLst>
                    <a:ext uri="{9D8B030D-6E8A-4147-A177-3AD203B41FA5}">
                      <a16:colId xmlns:a16="http://schemas.microsoft.com/office/drawing/2014/main" val="2872496068"/>
                    </a:ext>
                  </a:extLst>
                </a:gridCol>
                <a:gridCol w="2438400">
                  <a:extLst>
                    <a:ext uri="{9D8B030D-6E8A-4147-A177-3AD203B41FA5}">
                      <a16:colId xmlns:a16="http://schemas.microsoft.com/office/drawing/2014/main" val="3440606919"/>
                    </a:ext>
                  </a:extLst>
                </a:gridCol>
                <a:gridCol w="2667000">
                  <a:extLst>
                    <a:ext uri="{9D8B030D-6E8A-4147-A177-3AD203B41FA5}">
                      <a16:colId xmlns:a16="http://schemas.microsoft.com/office/drawing/2014/main" val="1052781825"/>
                    </a:ext>
                  </a:extLst>
                </a:gridCol>
                <a:gridCol w="2438400">
                  <a:extLst>
                    <a:ext uri="{9D8B030D-6E8A-4147-A177-3AD203B41FA5}">
                      <a16:colId xmlns:a16="http://schemas.microsoft.com/office/drawing/2014/main" val="1767098778"/>
                    </a:ext>
                  </a:extLst>
                </a:gridCol>
              </a:tblGrid>
              <a:tr h="226458">
                <a:tc>
                  <a:txBody>
                    <a:bodyPr/>
                    <a:lstStyle/>
                    <a:p>
                      <a:pPr>
                        <a:buNone/>
                      </a:pPr>
                      <a:r>
                        <a:rPr lang="en-US" sz="1400" b="1" dirty="0">
                          <a:latin typeface="Times New Roman" panose="02020603050405020304" pitchFamily="18" charset="0"/>
                          <a:cs typeface="Times New Roman" panose="02020603050405020304" pitchFamily="18" charset="0"/>
                        </a:rPr>
                        <a:t>Author</a:t>
                      </a:r>
                      <a:endParaRPr lang="en-US" sz="1400" dirty="0">
                        <a:latin typeface="Times New Roman" panose="02020603050405020304" pitchFamily="18" charset="0"/>
                        <a:cs typeface="Times New Roman" panose="02020603050405020304" pitchFamily="18" charset="0"/>
                      </a:endParaRPr>
                    </a:p>
                  </a:txBody>
                  <a:tcPr marL="36476" marR="36476" marT="18238" marB="18238" anchor="ctr"/>
                </a:tc>
                <a:tc>
                  <a:txBody>
                    <a:bodyPr/>
                    <a:lstStyle/>
                    <a:p>
                      <a:pPr>
                        <a:buNone/>
                      </a:pPr>
                      <a:r>
                        <a:rPr lang="en-US" sz="1400" b="1" dirty="0">
                          <a:latin typeface="Times New Roman" panose="02020603050405020304" pitchFamily="18" charset="0"/>
                          <a:cs typeface="Times New Roman" panose="02020603050405020304" pitchFamily="18" charset="0"/>
                        </a:rPr>
                        <a:t>Year</a:t>
                      </a:r>
                      <a:endParaRPr lang="en-US" sz="1400" dirty="0">
                        <a:latin typeface="Times New Roman" panose="02020603050405020304" pitchFamily="18" charset="0"/>
                        <a:cs typeface="Times New Roman" panose="02020603050405020304" pitchFamily="18" charset="0"/>
                      </a:endParaRPr>
                    </a:p>
                  </a:txBody>
                  <a:tcPr marL="36476" marR="36476" marT="18238" marB="18238" anchor="ctr"/>
                </a:tc>
                <a:tc>
                  <a:txBody>
                    <a:bodyPr/>
                    <a:lstStyle/>
                    <a:p>
                      <a:pPr>
                        <a:buNone/>
                      </a:pPr>
                      <a:r>
                        <a:rPr lang="en-US" sz="1400" b="1" dirty="0">
                          <a:latin typeface="Times New Roman" panose="02020603050405020304" pitchFamily="18" charset="0"/>
                          <a:cs typeface="Times New Roman" panose="02020603050405020304" pitchFamily="18" charset="0"/>
                        </a:rPr>
                        <a:t>Methodology Used</a:t>
                      </a:r>
                      <a:endParaRPr lang="en-US" sz="1400" dirty="0">
                        <a:latin typeface="Times New Roman" panose="02020603050405020304" pitchFamily="18" charset="0"/>
                        <a:cs typeface="Times New Roman" panose="02020603050405020304" pitchFamily="18" charset="0"/>
                      </a:endParaRPr>
                    </a:p>
                  </a:txBody>
                  <a:tcPr marL="36476" marR="36476" marT="18238" marB="18238" anchor="ctr"/>
                </a:tc>
                <a:tc>
                  <a:txBody>
                    <a:bodyPr/>
                    <a:lstStyle/>
                    <a:p>
                      <a:pPr>
                        <a:buNone/>
                      </a:pPr>
                      <a:r>
                        <a:rPr lang="en-US" sz="1400" b="1" dirty="0">
                          <a:latin typeface="Times New Roman" panose="02020603050405020304" pitchFamily="18" charset="0"/>
                          <a:cs typeface="Times New Roman" panose="02020603050405020304" pitchFamily="18" charset="0"/>
                        </a:rPr>
                        <a:t>Implementation</a:t>
                      </a:r>
                      <a:endParaRPr lang="en-US" sz="1400" dirty="0">
                        <a:latin typeface="Times New Roman" panose="02020603050405020304" pitchFamily="18" charset="0"/>
                        <a:cs typeface="Times New Roman" panose="02020603050405020304" pitchFamily="18" charset="0"/>
                      </a:endParaRPr>
                    </a:p>
                  </a:txBody>
                  <a:tcPr marL="36476" marR="36476" marT="18238" marB="18238" anchor="ctr"/>
                </a:tc>
                <a:tc>
                  <a:txBody>
                    <a:bodyPr/>
                    <a:lstStyle/>
                    <a:p>
                      <a:pPr>
                        <a:buNone/>
                      </a:pPr>
                      <a:r>
                        <a:rPr lang="en-US" sz="1400" b="1" dirty="0">
                          <a:latin typeface="Times New Roman" panose="02020603050405020304" pitchFamily="18" charset="0"/>
                          <a:cs typeface="Times New Roman" panose="02020603050405020304" pitchFamily="18" charset="0"/>
                        </a:rPr>
                        <a:t>Limitations</a:t>
                      </a:r>
                      <a:endParaRPr lang="en-US" sz="1400" dirty="0">
                        <a:latin typeface="Times New Roman" panose="02020603050405020304" pitchFamily="18" charset="0"/>
                        <a:cs typeface="Times New Roman" panose="02020603050405020304" pitchFamily="18" charset="0"/>
                      </a:endParaRPr>
                    </a:p>
                  </a:txBody>
                  <a:tcPr marL="36476" marR="36476" marT="18238" marB="18238" anchor="ctr"/>
                </a:tc>
                <a:extLst>
                  <a:ext uri="{0D108BD9-81ED-4DB2-BD59-A6C34878D82A}">
                    <a16:rowId xmlns:a16="http://schemas.microsoft.com/office/drawing/2014/main" val="102232388"/>
                  </a:ext>
                </a:extLst>
              </a:tr>
              <a:tr h="1245523">
                <a:tc>
                  <a:txBody>
                    <a:bodyPr/>
                    <a:lstStyle/>
                    <a:p>
                      <a:pPr>
                        <a:buNone/>
                      </a:pPr>
                      <a:r>
                        <a:rPr lang="en-US" sz="1400" dirty="0">
                          <a:latin typeface="Times New Roman" panose="02020603050405020304" pitchFamily="18" charset="0"/>
                          <a:cs typeface="Times New Roman" panose="02020603050405020304" pitchFamily="18" charset="0"/>
                        </a:rPr>
                        <a:t>Shrestha et al.</a:t>
                      </a:r>
                    </a:p>
                  </a:txBody>
                  <a:tcPr marL="36476" marR="36476" marT="18238" marB="18238" anchor="ctr"/>
                </a:tc>
                <a:tc>
                  <a:txBody>
                    <a:bodyPr/>
                    <a:lstStyle/>
                    <a:p>
                      <a:pPr>
                        <a:buNone/>
                      </a:pPr>
                      <a:r>
                        <a:rPr lang="en-US" sz="1400" dirty="0">
                          <a:latin typeface="Times New Roman" panose="02020603050405020304" pitchFamily="18" charset="0"/>
                          <a:cs typeface="Times New Roman" panose="02020603050405020304" pitchFamily="18" charset="0"/>
                        </a:rPr>
                        <a:t>2024</a:t>
                      </a:r>
                    </a:p>
                  </a:txBody>
                  <a:tcPr marL="36476" marR="36476" marT="18238" marB="18238" anchor="ctr"/>
                </a:tc>
                <a:tc>
                  <a:txBody>
                    <a:bodyPr/>
                    <a:lstStyle/>
                    <a:p>
                      <a:pPr>
                        <a:buNone/>
                      </a:pPr>
                      <a:r>
                        <a:rPr lang="en-US" sz="1400" dirty="0">
                          <a:latin typeface="Times New Roman" panose="02020603050405020304" pitchFamily="18" charset="0"/>
                          <a:cs typeface="Times New Roman" panose="02020603050405020304" pitchFamily="18" charset="0"/>
                        </a:rPr>
                        <a:t>Content-Based Image Recognition, CNN Models</a:t>
                      </a:r>
                    </a:p>
                  </a:txBody>
                  <a:tcPr marL="36476" marR="36476" marT="18238" marB="18238" anchor="ctr"/>
                </a:tc>
                <a:tc>
                  <a:txBody>
                    <a:bodyPr/>
                    <a:lstStyle/>
                    <a:p>
                      <a:pPr>
                        <a:buNone/>
                      </a:pPr>
                      <a:r>
                        <a:rPr lang="en-US" sz="1400">
                          <a:latin typeface="Times New Roman" panose="02020603050405020304" pitchFamily="18" charset="0"/>
                          <a:cs typeface="Times New Roman" panose="02020603050405020304" pitchFamily="18" charset="0"/>
                        </a:rPr>
                        <a:t>Classified tourist attractions from uploaded images using deep learning and provided category-level suggestions.</a:t>
                      </a:r>
                    </a:p>
                  </a:txBody>
                  <a:tcPr marL="36476" marR="36476" marT="18238" marB="18238" anchor="ctr"/>
                </a:tc>
                <a:tc>
                  <a:txBody>
                    <a:bodyPr/>
                    <a:lstStyle/>
                    <a:p>
                      <a:pPr>
                        <a:buNone/>
                      </a:pPr>
                      <a:r>
                        <a:rPr lang="en-US" sz="1400">
                          <a:latin typeface="Times New Roman" panose="02020603050405020304" pitchFamily="18" charset="0"/>
                          <a:cs typeface="Times New Roman" panose="02020603050405020304" pitchFamily="18" charset="0"/>
                        </a:rPr>
                        <a:t>No geospatial analysis; recommendations not personalized; limited to image-only inputs.</a:t>
                      </a:r>
                    </a:p>
                  </a:txBody>
                  <a:tcPr marL="36476" marR="36476" marT="18238" marB="18238" anchor="ctr"/>
                </a:tc>
                <a:extLst>
                  <a:ext uri="{0D108BD9-81ED-4DB2-BD59-A6C34878D82A}">
                    <a16:rowId xmlns:a16="http://schemas.microsoft.com/office/drawing/2014/main" val="944905773"/>
                  </a:ext>
                </a:extLst>
              </a:tr>
              <a:tr h="1075679">
                <a:tc>
                  <a:txBody>
                    <a:bodyPr/>
                    <a:lstStyle/>
                    <a:p>
                      <a:pPr>
                        <a:buNone/>
                      </a:pPr>
                      <a:r>
                        <a:rPr lang="en-US" sz="1400" dirty="0" err="1">
                          <a:latin typeface="Times New Roman" panose="02020603050405020304" pitchFamily="18" charset="0"/>
                          <a:cs typeface="Times New Roman" panose="02020603050405020304" pitchFamily="18" charset="0"/>
                        </a:rPr>
                        <a:t>Alsahafi</a:t>
                      </a:r>
                      <a:r>
                        <a:rPr lang="en-US" sz="1400" dirty="0">
                          <a:latin typeface="Times New Roman" panose="02020603050405020304" pitchFamily="18" charset="0"/>
                          <a:cs typeface="Times New Roman" panose="02020603050405020304" pitchFamily="18" charset="0"/>
                        </a:rPr>
                        <a:t> et al.</a:t>
                      </a:r>
                    </a:p>
                  </a:txBody>
                  <a:tcPr marL="36476" marR="36476" marT="18238" marB="18238" anchor="ctr"/>
                </a:tc>
                <a:tc>
                  <a:txBody>
                    <a:bodyPr/>
                    <a:lstStyle/>
                    <a:p>
                      <a:pPr>
                        <a:buNone/>
                      </a:pPr>
                      <a:r>
                        <a:rPr lang="en-US" sz="1400" dirty="0">
                          <a:latin typeface="Times New Roman" panose="02020603050405020304" pitchFamily="18" charset="0"/>
                          <a:cs typeface="Times New Roman" panose="02020603050405020304" pitchFamily="18" charset="0"/>
                        </a:rPr>
                        <a:t>2025</a:t>
                      </a:r>
                    </a:p>
                  </a:txBody>
                  <a:tcPr marL="36476" marR="36476" marT="18238" marB="18238" anchor="ctr"/>
                </a:tc>
                <a:tc>
                  <a:txBody>
                    <a:bodyPr/>
                    <a:lstStyle/>
                    <a:p>
                      <a:pPr>
                        <a:buNone/>
                      </a:pPr>
                      <a:r>
                        <a:rPr lang="en-US" sz="1400" dirty="0">
                          <a:latin typeface="Times New Roman" panose="02020603050405020304" pitchFamily="18" charset="0"/>
                          <a:cs typeface="Times New Roman" panose="02020603050405020304" pitchFamily="18" charset="0"/>
                        </a:rPr>
                        <a:t>NLP-Based Location Extraction and Similarity Matching</a:t>
                      </a:r>
                    </a:p>
                  </a:txBody>
                  <a:tcPr marL="36476" marR="36476" marT="18238" marB="18238" anchor="ctr"/>
                </a:tc>
                <a:tc>
                  <a:txBody>
                    <a:bodyPr/>
                    <a:lstStyle/>
                    <a:p>
                      <a:pPr>
                        <a:buNone/>
                      </a:pPr>
                      <a:r>
                        <a:rPr lang="en-US" sz="1400" dirty="0">
                          <a:latin typeface="Times New Roman" panose="02020603050405020304" pitchFamily="18" charset="0"/>
                          <a:cs typeface="Times New Roman" panose="02020603050405020304" pitchFamily="18" charset="0"/>
                        </a:rPr>
                        <a:t>Extracted location names from text queries and recommended similar destinations using text similarity.</a:t>
                      </a:r>
                    </a:p>
                  </a:txBody>
                  <a:tcPr marL="36476" marR="36476" marT="18238" marB="18238" anchor="ctr"/>
                </a:tc>
                <a:tc>
                  <a:txBody>
                    <a:bodyPr/>
                    <a:lstStyle/>
                    <a:p>
                      <a:pPr>
                        <a:buNone/>
                      </a:pPr>
                      <a:r>
                        <a:rPr lang="en-US" sz="1400">
                          <a:latin typeface="Times New Roman" panose="02020603050405020304" pitchFamily="18" charset="0"/>
                          <a:cs typeface="Times New Roman" panose="02020603050405020304" pitchFamily="18" charset="0"/>
                        </a:rPr>
                        <a:t>No visual input support; lacked interactive map visualization; recommendations not context-aware.</a:t>
                      </a:r>
                    </a:p>
                  </a:txBody>
                  <a:tcPr marL="36476" marR="36476" marT="18238" marB="18238" anchor="ctr"/>
                </a:tc>
                <a:extLst>
                  <a:ext uri="{0D108BD9-81ED-4DB2-BD59-A6C34878D82A}">
                    <a16:rowId xmlns:a16="http://schemas.microsoft.com/office/drawing/2014/main" val="1848534865"/>
                  </a:ext>
                </a:extLst>
              </a:tr>
              <a:tr h="1075679">
                <a:tc>
                  <a:txBody>
                    <a:bodyPr/>
                    <a:lstStyle/>
                    <a:p>
                      <a:pPr>
                        <a:buNone/>
                      </a:pPr>
                      <a:r>
                        <a:rPr lang="en-US" sz="1400" dirty="0" err="1">
                          <a:latin typeface="Times New Roman" panose="02020603050405020304" pitchFamily="18" charset="0"/>
                          <a:cs typeface="Times New Roman" panose="02020603050405020304" pitchFamily="18" charset="0"/>
                        </a:rPr>
                        <a:t>Kongpeng</a:t>
                      </a:r>
                      <a:r>
                        <a:rPr lang="en-US" sz="1400" dirty="0">
                          <a:latin typeface="Times New Roman" panose="02020603050405020304" pitchFamily="18" charset="0"/>
                          <a:cs typeface="Times New Roman" panose="02020603050405020304" pitchFamily="18" charset="0"/>
                        </a:rPr>
                        <a:t> et al.</a:t>
                      </a:r>
                    </a:p>
                  </a:txBody>
                  <a:tcPr marL="36476" marR="36476" marT="18238" marB="18238" anchor="ctr"/>
                </a:tc>
                <a:tc>
                  <a:txBody>
                    <a:bodyPr/>
                    <a:lstStyle/>
                    <a:p>
                      <a:pPr>
                        <a:buNone/>
                      </a:pPr>
                      <a:r>
                        <a:rPr lang="en-US" sz="1400" dirty="0">
                          <a:latin typeface="Times New Roman" panose="02020603050405020304" pitchFamily="18" charset="0"/>
                          <a:cs typeface="Times New Roman" panose="02020603050405020304" pitchFamily="18" charset="0"/>
                        </a:rPr>
                        <a:t>2024</a:t>
                      </a:r>
                    </a:p>
                  </a:txBody>
                  <a:tcPr marL="36476" marR="36476" marT="18238" marB="18238" anchor="ctr"/>
                </a:tc>
                <a:tc>
                  <a:txBody>
                    <a:bodyPr/>
                    <a:lstStyle/>
                    <a:p>
                      <a:pPr>
                        <a:buNone/>
                      </a:pPr>
                      <a:r>
                        <a:rPr lang="en-US" sz="1400">
                          <a:latin typeface="Times New Roman" panose="02020603050405020304" pitchFamily="18" charset="0"/>
                          <a:cs typeface="Times New Roman" panose="02020603050405020304" pitchFamily="18" charset="0"/>
                        </a:rPr>
                        <a:t>GIS Mapping + K-Means Spatial Clustering</a:t>
                      </a:r>
                    </a:p>
                  </a:txBody>
                  <a:tcPr marL="36476" marR="36476" marT="18238" marB="18238" anchor="ctr"/>
                </a:tc>
                <a:tc>
                  <a:txBody>
                    <a:bodyPr/>
                    <a:lstStyle/>
                    <a:p>
                      <a:pPr>
                        <a:buNone/>
                      </a:pPr>
                      <a:r>
                        <a:rPr lang="en-US" sz="1400" dirty="0">
                          <a:latin typeface="Times New Roman" panose="02020603050405020304" pitchFamily="18" charset="0"/>
                          <a:cs typeface="Times New Roman" panose="02020603050405020304" pitchFamily="18" charset="0"/>
                        </a:rPr>
                        <a:t>Used spatial clustering to group nearby tourist spots and suggested regions based on distance metrics.</a:t>
                      </a:r>
                    </a:p>
                  </a:txBody>
                  <a:tcPr marL="36476" marR="36476" marT="18238" marB="18238" anchor="ctr"/>
                </a:tc>
                <a:tc>
                  <a:txBody>
                    <a:bodyPr/>
                    <a:lstStyle/>
                    <a:p>
                      <a:pPr>
                        <a:buNone/>
                      </a:pPr>
                      <a:r>
                        <a:rPr lang="en-US" sz="1400" dirty="0">
                          <a:latin typeface="Times New Roman" panose="02020603050405020304" pitchFamily="18" charset="0"/>
                          <a:cs typeface="Times New Roman" panose="02020603050405020304" pitchFamily="18" charset="0"/>
                        </a:rPr>
                        <a:t>Could not analyze user preferences; no AI-based recognition; system depended solely on coordinates.</a:t>
                      </a:r>
                    </a:p>
                  </a:txBody>
                  <a:tcPr marL="36476" marR="36476" marT="18238" marB="18238" anchor="ctr"/>
                </a:tc>
                <a:extLst>
                  <a:ext uri="{0D108BD9-81ED-4DB2-BD59-A6C34878D82A}">
                    <a16:rowId xmlns:a16="http://schemas.microsoft.com/office/drawing/2014/main" val="1793958236"/>
                  </a:ext>
                </a:extLst>
              </a:tr>
              <a:tr h="1245523">
                <a:tc>
                  <a:txBody>
                    <a:bodyPr/>
                    <a:lstStyle/>
                    <a:p>
                      <a:pPr>
                        <a:buNone/>
                      </a:pPr>
                      <a:r>
                        <a:rPr lang="en-US" sz="1400" dirty="0">
                          <a:latin typeface="Times New Roman" panose="02020603050405020304" pitchFamily="18" charset="0"/>
                          <a:cs typeface="Times New Roman" panose="02020603050405020304" pitchFamily="18" charset="0"/>
                        </a:rPr>
                        <a:t>Gupta et al.</a:t>
                      </a:r>
                    </a:p>
                  </a:txBody>
                  <a:tcPr marL="36476" marR="36476" marT="18238" marB="18238" anchor="ctr"/>
                </a:tc>
                <a:tc>
                  <a:txBody>
                    <a:bodyPr/>
                    <a:lstStyle/>
                    <a:p>
                      <a:pPr>
                        <a:buNone/>
                      </a:pPr>
                      <a:r>
                        <a:rPr lang="en-US" sz="1400" dirty="0">
                          <a:latin typeface="Times New Roman" panose="02020603050405020304" pitchFamily="18" charset="0"/>
                          <a:cs typeface="Times New Roman" panose="02020603050405020304" pitchFamily="18" charset="0"/>
                        </a:rPr>
                        <a:t>2024</a:t>
                      </a:r>
                    </a:p>
                  </a:txBody>
                  <a:tcPr marL="36476" marR="36476" marT="18238" marB="18238" anchor="ctr"/>
                </a:tc>
                <a:tc>
                  <a:txBody>
                    <a:bodyPr/>
                    <a:lstStyle/>
                    <a:p>
                      <a:pPr>
                        <a:buNone/>
                      </a:pPr>
                      <a:r>
                        <a:rPr lang="en-US" sz="1400">
                          <a:latin typeface="Times New Roman" panose="02020603050405020304" pitchFamily="18" charset="0"/>
                          <a:cs typeface="Times New Roman" panose="02020603050405020304" pitchFamily="18" charset="0"/>
                        </a:rPr>
                        <a:t>Hybrid Recommendation System (Content + Collaborative Filtering)</a:t>
                      </a:r>
                    </a:p>
                  </a:txBody>
                  <a:tcPr marL="36476" marR="36476" marT="18238" marB="18238" anchor="ctr"/>
                </a:tc>
                <a:tc>
                  <a:txBody>
                    <a:bodyPr/>
                    <a:lstStyle/>
                    <a:p>
                      <a:pPr>
                        <a:buNone/>
                      </a:pPr>
                      <a:r>
                        <a:rPr lang="en-US" sz="1400">
                          <a:latin typeface="Times New Roman" panose="02020603050405020304" pitchFamily="18" charset="0"/>
                          <a:cs typeface="Times New Roman" panose="02020603050405020304" pitchFamily="18" charset="0"/>
                        </a:rPr>
                        <a:t>Provided personalized tourism recommendations using user behavior and destination metadata.</a:t>
                      </a:r>
                    </a:p>
                  </a:txBody>
                  <a:tcPr marL="36476" marR="36476" marT="18238" marB="18238" anchor="ctr"/>
                </a:tc>
                <a:tc>
                  <a:txBody>
                    <a:bodyPr/>
                    <a:lstStyle/>
                    <a:p>
                      <a:pPr>
                        <a:buNone/>
                      </a:pPr>
                      <a:r>
                        <a:rPr lang="en-US" sz="1400" dirty="0">
                          <a:latin typeface="Times New Roman" panose="02020603050405020304" pitchFamily="18" charset="0"/>
                          <a:cs typeface="Times New Roman" panose="02020603050405020304" pitchFamily="18" charset="0"/>
                        </a:rPr>
                        <a:t>Lacked real-time identification of locations; did not integrate geospatial visualization; required large user-history datasets.</a:t>
                      </a:r>
                    </a:p>
                  </a:txBody>
                  <a:tcPr marL="36476" marR="36476" marT="18238" marB="18238" anchor="ctr"/>
                </a:tc>
                <a:extLst>
                  <a:ext uri="{0D108BD9-81ED-4DB2-BD59-A6C34878D82A}">
                    <a16:rowId xmlns:a16="http://schemas.microsoft.com/office/drawing/2014/main" val="1849548467"/>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191000" y="-18339"/>
            <a:ext cx="5047584" cy="228268"/>
          </a:xfrm>
          <a:prstGeom prst="rect">
            <a:avLst/>
          </a:prstGeom>
        </p:spPr>
        <p:txBody>
          <a:bodyPr vert="horz" wrap="square" lIns="0" tIns="12700" rIns="0" bIns="0" rtlCol="0">
            <a:spAutoFit/>
          </a:bodyPr>
          <a:lstStyle/>
          <a:p>
            <a:pPr marL="12700">
              <a:lnSpc>
                <a:spcPct val="100000"/>
              </a:lnSpc>
              <a:spcBef>
                <a:spcPts val="100"/>
              </a:spcBef>
            </a:pPr>
            <a:r>
              <a:rPr lang="en-US" sz="1400" dirty="0">
                <a:solidFill>
                  <a:schemeClr val="bg1"/>
                </a:solidFill>
                <a:latin typeface="Times New Roman" panose="02020603050405020304" pitchFamily="18" charset="0"/>
                <a:cs typeface="Times New Roman" panose="02020603050405020304" pitchFamily="18" charset="0"/>
              </a:rPr>
              <a:t>AI-Enhanced Geospatial Tourism Recommendation System</a:t>
            </a:r>
          </a:p>
        </p:txBody>
      </p:sp>
      <p:grpSp>
        <p:nvGrpSpPr>
          <p:cNvPr id="4" name="object 4"/>
          <p:cNvGrpSpPr/>
          <p:nvPr/>
        </p:nvGrpSpPr>
        <p:grpSpPr>
          <a:xfrm>
            <a:off x="0" y="216720"/>
            <a:ext cx="12192000" cy="803275"/>
            <a:chOff x="0" y="216720"/>
            <a:chExt cx="12192000" cy="803275"/>
          </a:xfrm>
        </p:grpSpPr>
        <p:pic>
          <p:nvPicPr>
            <p:cNvPr id="5" name="object 5"/>
            <p:cNvPicPr/>
            <p:nvPr/>
          </p:nvPicPr>
          <p:blipFill>
            <a:blip r:embed="rId2" cstate="print"/>
            <a:stretch>
              <a:fillRect/>
            </a:stretch>
          </p:blipFill>
          <p:spPr>
            <a:xfrm>
              <a:off x="0" y="216720"/>
              <a:ext cx="12192000" cy="803160"/>
            </a:xfrm>
            <a:prstGeom prst="rect">
              <a:avLst/>
            </a:prstGeom>
          </p:spPr>
        </p:pic>
        <p:sp>
          <p:nvSpPr>
            <p:cNvPr id="6" name="object 6"/>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7" name="object 7"/>
          <p:cNvSpPr txBox="1">
            <a:spLocks noGrp="1"/>
          </p:cNvSpPr>
          <p:nvPr>
            <p:ph type="title"/>
          </p:nvPr>
        </p:nvSpPr>
        <p:spPr>
          <a:xfrm>
            <a:off x="73025" y="182323"/>
            <a:ext cx="3888104" cy="695960"/>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spc="-10" dirty="0"/>
              <a:t>Proposed</a:t>
            </a:r>
            <a:r>
              <a:rPr dirty="0"/>
              <a:t>	</a:t>
            </a:r>
            <a:r>
              <a:rPr spc="-10" dirty="0"/>
              <a:t>System</a:t>
            </a:r>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lang="en-US" spc="-10" dirty="0"/>
              <a:t>9</a:t>
            </a:r>
            <a:endParaRPr spc="-25" dirty="0"/>
          </a:p>
        </p:txBody>
      </p:sp>
      <p:sp>
        <p:nvSpPr>
          <p:cNvPr id="9" name="object 9"/>
          <p:cNvSpPr txBox="1">
            <a:spLocks noGrp="1"/>
          </p:cNvSpPr>
          <p:nvPr>
            <p:ph type="dt" sz="half" idx="6"/>
          </p:nvPr>
        </p:nvSpPr>
        <p:spPr>
          <a:xfrm>
            <a:off x="1773948" y="6629558"/>
            <a:ext cx="43220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7147541" y="6629197"/>
            <a:ext cx="4260428" cy="228803"/>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8</a:t>
            </a:fld>
            <a:endParaRPr spc="-25" dirty="0"/>
          </a:p>
        </p:txBody>
      </p:sp>
      <p:sp>
        <p:nvSpPr>
          <p:cNvPr id="12" name="TextBox 11">
            <a:extLst>
              <a:ext uri="{FF2B5EF4-FFF2-40B4-BE49-F238E27FC236}">
                <a16:creationId xmlns:a16="http://schemas.microsoft.com/office/drawing/2014/main" id="{9D0735FF-BBB5-6D8E-47E3-5A04AED2F3BB}"/>
              </a:ext>
            </a:extLst>
          </p:cNvPr>
          <p:cNvSpPr txBox="1"/>
          <p:nvPr/>
        </p:nvSpPr>
        <p:spPr>
          <a:xfrm>
            <a:off x="609600" y="1254939"/>
            <a:ext cx="10798369" cy="5028556"/>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AI-Based Tourist Place Identification </a:t>
            </a:r>
            <a:r>
              <a:rPr lang="en-US" dirty="0">
                <a:latin typeface="Times New Roman" panose="02020603050405020304" pitchFamily="18" charset="0"/>
                <a:cs typeface="Times New Roman" panose="02020603050405020304" pitchFamily="18" charset="0"/>
              </a:rPr>
              <a:t>The system automatically identifies tourist locations from user inputs images, text descriptions or GPS coordinates using advanced computer vision models and NLP techniques to extract meaningful location information</a:t>
            </a:r>
            <a:r>
              <a:rPr lang="en-US" b="1" dirty="0">
                <a:latin typeface="Times New Roman" panose="02020603050405020304" pitchFamily="18" charset="0"/>
                <a:cs typeface="Times New Roman" panose="02020603050405020304" pitchFamily="18" charset="0"/>
              </a:rPr>
              <a:t>. </a:t>
            </a:r>
          </a:p>
          <a:p>
            <a:pPr marL="285750" indent="-285750"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Geospatial Context Analysis </a:t>
            </a:r>
            <a:r>
              <a:rPr lang="en-US" dirty="0">
                <a:latin typeface="Times New Roman" panose="02020603050405020304" pitchFamily="18" charset="0"/>
                <a:cs typeface="Times New Roman" panose="02020603050405020304" pitchFamily="18" charset="0"/>
              </a:rPr>
              <a:t>A geospatial processing layer analyzes spatial relationships, proximity, regional characteristics and environmental context using GIS techniques and ML-based clustering to understand the location more accurately. </a:t>
            </a:r>
          </a:p>
          <a:p>
            <a:pPr marL="285750" indent="-285750"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Intelligent Recommendation Engine </a:t>
            </a:r>
            <a:r>
              <a:rPr lang="en-US" dirty="0">
                <a:latin typeface="Times New Roman" panose="02020603050405020304" pitchFamily="18" charset="0"/>
                <a:cs typeface="Times New Roman" panose="02020603050405020304" pitchFamily="18" charset="0"/>
              </a:rPr>
              <a:t>The system recommends similar or nearby destinations by integrating AI predictions, geospatial distances, cultural similarity and user preference patterns, ensuring highly relevant and personalized travel suggestions. </a:t>
            </a:r>
          </a:p>
          <a:p>
            <a:pPr marL="285750" indent="-285750"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Interactive Visualization and User Interface </a:t>
            </a:r>
            <a:r>
              <a:rPr lang="en-US" dirty="0">
                <a:latin typeface="Times New Roman" panose="02020603050405020304" pitchFamily="18" charset="0"/>
                <a:cs typeface="Times New Roman" panose="02020603050405020304" pitchFamily="18" charset="0"/>
              </a:rPr>
              <a:t>The platform displays detailed information, images, recommended destinations and interactive map visualizations, allowing users to explore locations easily and make informed travel decisions.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497896" y="9732"/>
            <a:ext cx="4739006" cy="228268"/>
          </a:xfrm>
          <a:prstGeom prst="rect">
            <a:avLst/>
          </a:prstGeom>
        </p:spPr>
        <p:txBody>
          <a:bodyPr vert="horz" wrap="square" lIns="0" tIns="12700" rIns="0" bIns="0" rtlCol="0">
            <a:spAutoFit/>
          </a:bodyPr>
          <a:lstStyle/>
          <a:p>
            <a:pPr marL="12700">
              <a:lnSpc>
                <a:spcPct val="100000"/>
              </a:lnSpc>
              <a:spcBef>
                <a:spcPts val="100"/>
              </a:spcBef>
            </a:pPr>
            <a:r>
              <a:rPr lang="en-US" sz="1400" dirty="0">
                <a:solidFill>
                  <a:schemeClr val="bg1"/>
                </a:solidFill>
                <a:latin typeface="Times New Roman" panose="02020603050405020304" pitchFamily="18" charset="0"/>
                <a:cs typeface="Times New Roman" panose="02020603050405020304" pitchFamily="18" charset="0"/>
              </a:rPr>
              <a:t>AI-Enhanced Geospatial Tourism Recommendation System</a:t>
            </a:r>
          </a:p>
        </p:txBody>
      </p:sp>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52400">
              <a:lnSpc>
                <a:spcPct val="100000"/>
              </a:lnSpc>
              <a:spcBef>
                <a:spcPts val="100"/>
              </a:spcBef>
            </a:pPr>
            <a:r>
              <a:rPr spc="-10" dirty="0"/>
              <a:t>References</a:t>
            </a:r>
          </a:p>
        </p:txBody>
      </p:sp>
      <p:sp>
        <p:nvSpPr>
          <p:cNvPr id="9" name="object 9"/>
          <p:cNvSpPr txBox="1">
            <a:spLocks noGrp="1"/>
          </p:cNvSpPr>
          <p:nvPr>
            <p:ph type="ftr" sz="quarter" idx="5"/>
          </p:nvPr>
        </p:nvSpPr>
        <p:spPr>
          <a:xfrm>
            <a:off x="149031" y="662919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lang="en-US" spc="-10" dirty="0"/>
              <a:t>9</a:t>
            </a:r>
            <a:endParaRPr spc="-25" dirty="0"/>
          </a:p>
        </p:txBody>
      </p:sp>
      <p:sp>
        <p:nvSpPr>
          <p:cNvPr id="10" name="object 10"/>
          <p:cNvSpPr txBox="1">
            <a:spLocks noGrp="1"/>
          </p:cNvSpPr>
          <p:nvPr>
            <p:ph type="dt" sz="half" idx="6"/>
          </p:nvPr>
        </p:nvSpPr>
        <p:spPr>
          <a:xfrm>
            <a:off x="1773948" y="6629559"/>
            <a:ext cx="40934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1" name="object 11"/>
          <p:cNvSpPr txBox="1"/>
          <p:nvPr/>
        </p:nvSpPr>
        <p:spPr>
          <a:xfrm>
            <a:off x="7147541" y="6629197"/>
            <a:ext cx="42062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9</a:t>
            </a:fld>
            <a:endParaRPr spc="-25" dirty="0"/>
          </a:p>
        </p:txBody>
      </p:sp>
      <p:sp>
        <p:nvSpPr>
          <p:cNvPr id="13" name="TextBox 12">
            <a:extLst>
              <a:ext uri="{FF2B5EF4-FFF2-40B4-BE49-F238E27FC236}">
                <a16:creationId xmlns:a16="http://schemas.microsoft.com/office/drawing/2014/main" id="{2B534EE4-7247-A472-54E8-BF10F79F09CB}"/>
              </a:ext>
            </a:extLst>
          </p:cNvPr>
          <p:cNvSpPr txBox="1"/>
          <p:nvPr/>
        </p:nvSpPr>
        <p:spPr>
          <a:xfrm>
            <a:off x="784031" y="1524000"/>
            <a:ext cx="10798369" cy="3782061"/>
          </a:xfrm>
          <a:prstGeom prst="rect">
            <a:avLst/>
          </a:prstGeom>
          <a:noFill/>
        </p:spPr>
        <p:txBody>
          <a:bodyPr wrap="square">
            <a:spAutoFit/>
          </a:bodyPr>
          <a:lstStyle/>
          <a:p>
            <a:pPr marL="342900" indent="-34290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rPr>
              <a:t>Shrestha, </a:t>
            </a:r>
            <a:r>
              <a:rPr lang="en-US" dirty="0" err="1">
                <a:latin typeface="Times New Roman" panose="02020603050405020304" pitchFamily="18" charset="0"/>
                <a:cs typeface="Times New Roman" panose="02020603050405020304" pitchFamily="18" charset="0"/>
              </a:rPr>
              <a:t>Deepanjal</a:t>
            </a:r>
            <a:r>
              <a:rPr lang="en-US" dirty="0">
                <a:latin typeface="Times New Roman" panose="02020603050405020304" pitchFamily="18" charset="0"/>
                <a:cs typeface="Times New Roman" panose="02020603050405020304" pitchFamily="18" charset="0"/>
              </a:rPr>
              <a:t>, et al. "Personalized Tourist recommender system: a data-driven and machine-learning approach." Computation 12.3 (2024): 59.</a:t>
            </a:r>
          </a:p>
          <a:p>
            <a:pPr marL="342900" indent="-342900" algn="just">
              <a:lnSpc>
                <a:spcPct val="150000"/>
              </a:lnSpc>
              <a:buFont typeface="+mj-lt"/>
              <a:buAutoNum type="arabicPeriod"/>
            </a:pPr>
            <a:r>
              <a:rPr lang="en-US" dirty="0" err="1">
                <a:latin typeface="Times New Roman" panose="02020603050405020304" pitchFamily="18" charset="0"/>
                <a:cs typeface="Times New Roman" panose="02020603050405020304" pitchFamily="18" charset="0"/>
              </a:rPr>
              <a:t>Alsahafi</a:t>
            </a:r>
            <a:r>
              <a:rPr lang="en-US" dirty="0">
                <a:latin typeface="Times New Roman" panose="02020603050405020304" pitchFamily="18" charset="0"/>
                <a:cs typeface="Times New Roman" panose="02020603050405020304" pitchFamily="18" charset="0"/>
              </a:rPr>
              <a:t>, Raniah, Rashid Mehmood, and Saad </a:t>
            </a:r>
            <a:r>
              <a:rPr lang="en-US" dirty="0" err="1">
                <a:latin typeface="Times New Roman" panose="02020603050405020304" pitchFamily="18" charset="0"/>
                <a:cs typeface="Times New Roman" panose="02020603050405020304" pitchFamily="18" charset="0"/>
              </a:rPr>
              <a:t>Alqahtany</a:t>
            </a:r>
            <a:r>
              <a:rPr lang="en-US" dirty="0">
                <a:latin typeface="Times New Roman" panose="02020603050405020304" pitchFamily="18" charset="0"/>
                <a:cs typeface="Times New Roman" panose="02020603050405020304" pitchFamily="18" charset="0"/>
              </a:rPr>
              <a:t>. "A Machine Learning-Based Analysis of Tourism Recommendation Systems: Holistic Parameter Discovery and Insights." International Journal of Advanced Computer Science &amp; Applications 16.1 (2025).</a:t>
            </a:r>
          </a:p>
          <a:p>
            <a:pPr marL="342900" indent="-342900" algn="just">
              <a:lnSpc>
                <a:spcPct val="150000"/>
              </a:lnSpc>
              <a:buFont typeface="+mj-lt"/>
              <a:buAutoNum type="arabicPeriod"/>
            </a:pPr>
            <a:r>
              <a:rPr lang="en-US" dirty="0" err="1">
                <a:latin typeface="Times New Roman" panose="02020603050405020304" pitchFamily="18" charset="0"/>
                <a:cs typeface="Times New Roman" panose="02020603050405020304" pitchFamily="18" charset="0"/>
              </a:rPr>
              <a:t>Kongpeng</a:t>
            </a:r>
            <a:r>
              <a:rPr lang="en-US" dirty="0">
                <a:latin typeface="Times New Roman" panose="02020603050405020304" pitchFamily="18" charset="0"/>
                <a:cs typeface="Times New Roman" panose="02020603050405020304" pitchFamily="18" charset="0"/>
              </a:rPr>
              <a:t>, Sumitra, and </a:t>
            </a:r>
            <a:r>
              <a:rPr lang="en-US" dirty="0" err="1">
                <a:latin typeface="Times New Roman" panose="02020603050405020304" pitchFamily="18" charset="0"/>
                <a:cs typeface="Times New Roman" panose="02020603050405020304" pitchFamily="18" charset="0"/>
              </a:rPr>
              <a:t>Anantaporn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Hanskunatai</a:t>
            </a:r>
            <a:r>
              <a:rPr lang="en-US" dirty="0">
                <a:latin typeface="Times New Roman" panose="02020603050405020304" pitchFamily="18" charset="0"/>
                <a:cs typeface="Times New Roman" panose="02020603050405020304" pitchFamily="18" charset="0"/>
              </a:rPr>
              <a:t>. "Tourist Destination Recommendation System based on Machine Learning." Proceedings of the 2024 9th International Conference on Big Data and Computing. 2024.</a:t>
            </a:r>
          </a:p>
          <a:p>
            <a:pPr marL="342900" indent="-34290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rPr>
              <a:t>Gupta, Keshav, et al. "Deep Learning Classifier to Recommend the Tourist Attraction in Smart Cities." 2024 2nd International Conference on Disruptive Technologies (ICDT). IEEE, 2024.</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4" name="object 4"/>
          <p:cNvSpPr txBox="1"/>
          <p:nvPr/>
        </p:nvSpPr>
        <p:spPr>
          <a:xfrm>
            <a:off x="3810000" y="-18339"/>
            <a:ext cx="4399280" cy="228268"/>
          </a:xfrm>
          <a:prstGeom prst="rect">
            <a:avLst/>
          </a:prstGeom>
        </p:spPr>
        <p:txBody>
          <a:bodyPr vert="horz" wrap="square" lIns="0" tIns="12700" rIns="0" bIns="0" rtlCol="0">
            <a:spAutoFit/>
          </a:bodyPr>
          <a:lstStyle/>
          <a:p>
            <a:pPr marL="12700">
              <a:lnSpc>
                <a:spcPct val="100000"/>
              </a:lnSpc>
              <a:spcBef>
                <a:spcPts val="100"/>
              </a:spcBef>
            </a:pPr>
            <a:r>
              <a:rPr lang="en-US" sz="1400" dirty="0">
                <a:solidFill>
                  <a:schemeClr val="bg1"/>
                </a:solidFill>
                <a:latin typeface="Times New Roman" panose="02020603050405020304" pitchFamily="18" charset="0"/>
                <a:cs typeface="Times New Roman" panose="02020603050405020304" pitchFamily="18" charset="0"/>
              </a:rPr>
              <a:t>AI-Enhanced Geospatial Tourism Recommendation System</a:t>
            </a:r>
          </a:p>
        </p:txBody>
      </p:sp>
      <p:grpSp>
        <p:nvGrpSpPr>
          <p:cNvPr id="5" name="object 5"/>
          <p:cNvGrpSpPr/>
          <p:nvPr/>
        </p:nvGrpSpPr>
        <p:grpSpPr>
          <a:xfrm>
            <a:off x="0" y="216720"/>
            <a:ext cx="12192000" cy="803275"/>
            <a:chOff x="0" y="216720"/>
            <a:chExt cx="12192000" cy="803275"/>
          </a:xfrm>
        </p:grpSpPr>
        <p:pic>
          <p:nvPicPr>
            <p:cNvPr id="6" name="object 6"/>
            <p:cNvPicPr/>
            <p:nvPr/>
          </p:nvPicPr>
          <p:blipFill>
            <a:blip r:embed="rId3" cstate="print"/>
            <a:stretch>
              <a:fillRect/>
            </a:stretch>
          </p:blipFill>
          <p:spPr>
            <a:xfrm>
              <a:off x="0" y="216720"/>
              <a:ext cx="12192000" cy="803160"/>
            </a:xfrm>
            <a:prstGeom prst="rect">
              <a:avLst/>
            </a:prstGeom>
          </p:spPr>
        </p:pic>
        <p:sp>
          <p:nvSpPr>
            <p:cNvPr id="7" name="object 7"/>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8" name="object 8"/>
          <p:cNvSpPr txBox="1">
            <a:spLocks noGrp="1"/>
          </p:cNvSpPr>
          <p:nvPr>
            <p:ph type="title"/>
          </p:nvPr>
        </p:nvSpPr>
        <p:spPr>
          <a:xfrm>
            <a:off x="73025" y="182323"/>
            <a:ext cx="8136255" cy="695960"/>
          </a:xfrm>
          <a:prstGeom prst="rect">
            <a:avLst/>
          </a:prstGeom>
        </p:spPr>
        <p:txBody>
          <a:bodyPr vert="horz" wrap="square" lIns="0" tIns="12700" rIns="0" bIns="0" rtlCol="0">
            <a:spAutoFit/>
          </a:bodyPr>
          <a:lstStyle/>
          <a:p>
            <a:pPr marL="12700">
              <a:lnSpc>
                <a:spcPct val="100000"/>
              </a:lnSpc>
              <a:spcBef>
                <a:spcPts val="100"/>
              </a:spcBef>
              <a:tabLst>
                <a:tab pos="1966595" algn="l"/>
                <a:tab pos="5348605" algn="l"/>
                <a:tab pos="6511925" algn="l"/>
              </a:tabLst>
            </a:pPr>
            <a:r>
              <a:rPr dirty="0"/>
              <a:t>Git</a:t>
            </a:r>
            <a:r>
              <a:rPr spc="-75" dirty="0"/>
              <a:t> </a:t>
            </a:r>
            <a:r>
              <a:rPr spc="-25" dirty="0"/>
              <a:t>Hub</a:t>
            </a:r>
            <a:r>
              <a:rPr dirty="0"/>
              <a:t>	Dashboards</a:t>
            </a:r>
            <a:r>
              <a:rPr spc="-60" dirty="0"/>
              <a:t> </a:t>
            </a:r>
            <a:r>
              <a:rPr spc="-25" dirty="0"/>
              <a:t>of</a:t>
            </a:r>
            <a:r>
              <a:rPr dirty="0"/>
              <a:t>	</a:t>
            </a:r>
            <a:r>
              <a:rPr spc="-20" dirty="0"/>
              <a:t>each</a:t>
            </a:r>
            <a:r>
              <a:rPr dirty="0"/>
              <a:t>	</a:t>
            </a:r>
            <a:r>
              <a:rPr spc="-10" dirty="0"/>
              <a:t>student</a:t>
            </a:r>
          </a:p>
        </p:txBody>
      </p:sp>
      <p:sp>
        <p:nvSpPr>
          <p:cNvPr id="10" name="object 10"/>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lang="en-US" spc="-10" dirty="0"/>
              <a:t>9</a:t>
            </a:r>
            <a:endParaRPr spc="-25" dirty="0"/>
          </a:p>
        </p:txBody>
      </p:sp>
      <p:sp>
        <p:nvSpPr>
          <p:cNvPr id="11" name="object 11"/>
          <p:cNvSpPr txBox="1">
            <a:spLocks noGrp="1"/>
          </p:cNvSpPr>
          <p:nvPr>
            <p:ph type="dt" sz="half" idx="6"/>
          </p:nvPr>
        </p:nvSpPr>
        <p:spPr>
          <a:xfrm>
            <a:off x="1773948" y="6629559"/>
            <a:ext cx="3891279"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2" name="object 12"/>
          <p:cNvSpPr txBox="1"/>
          <p:nvPr/>
        </p:nvSpPr>
        <p:spPr>
          <a:xfrm>
            <a:off x="7147541" y="6629197"/>
            <a:ext cx="4053859" cy="228803"/>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10</a:t>
            </a:fld>
            <a:endParaRPr spc="-25" dirty="0"/>
          </a:p>
        </p:txBody>
      </p:sp>
      <p:sp>
        <p:nvSpPr>
          <p:cNvPr id="9" name="object 9"/>
          <p:cNvSpPr txBox="1"/>
          <p:nvPr/>
        </p:nvSpPr>
        <p:spPr>
          <a:xfrm>
            <a:off x="611050" y="6264656"/>
            <a:ext cx="7313750" cy="289823"/>
          </a:xfrm>
          <a:prstGeom prst="rect">
            <a:avLst/>
          </a:prstGeom>
        </p:spPr>
        <p:txBody>
          <a:bodyPr vert="horz" wrap="square" lIns="0" tIns="12700" rIns="0" bIns="0" rtlCol="0">
            <a:spAutoFit/>
          </a:bodyPr>
          <a:lstStyle/>
          <a:p>
            <a:pPr marL="12700">
              <a:lnSpc>
                <a:spcPct val="100000"/>
              </a:lnSpc>
              <a:spcBef>
                <a:spcPts val="100"/>
              </a:spcBef>
            </a:pPr>
            <a:r>
              <a:rPr lang="en-IN" sz="1800" dirty="0">
                <a:latin typeface="Times New Roman" panose="02020603050405020304" pitchFamily="18" charset="0"/>
                <a:cs typeface="Times New Roman" panose="02020603050405020304" pitchFamily="18" charset="0"/>
              </a:rPr>
              <a:t>Link: </a:t>
            </a:r>
            <a:r>
              <a:rPr lang="en-IN" sz="1800" dirty="0">
                <a:latin typeface="Times New Roman" panose="02020603050405020304" pitchFamily="18" charset="0"/>
                <a:cs typeface="Times New Roman" panose="02020603050405020304" pitchFamily="18" charset="0"/>
                <a:hlinkClick r:id="rId4"/>
              </a:rPr>
              <a:t>https://github.com/mani-chandrika549/CSE-2022-2026-Batch-A9</a:t>
            </a:r>
            <a:endParaRPr sz="1800"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DC7B25AE-AC54-7AA5-483E-581C115AFBA0}"/>
              </a:ext>
            </a:extLst>
          </p:cNvPr>
          <p:cNvPicPr>
            <a:picLocks noChangeAspect="1"/>
          </p:cNvPicPr>
          <p:nvPr/>
        </p:nvPicPr>
        <p:blipFill>
          <a:blip r:embed="rId5"/>
          <a:stretch>
            <a:fillRect/>
          </a:stretch>
        </p:blipFill>
        <p:spPr>
          <a:xfrm>
            <a:off x="611049" y="1191126"/>
            <a:ext cx="10895151" cy="496749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3" name="object 3"/>
          <p:cNvSpPr txBox="1"/>
          <p:nvPr/>
        </p:nvSpPr>
        <p:spPr>
          <a:xfrm>
            <a:off x="3886200" y="-18339"/>
            <a:ext cx="5334000" cy="228268"/>
          </a:xfrm>
          <a:prstGeom prst="rect">
            <a:avLst/>
          </a:prstGeom>
        </p:spPr>
        <p:txBody>
          <a:bodyPr vert="horz" wrap="square" lIns="0" tIns="12700" rIns="0" bIns="0" rtlCol="0">
            <a:spAutoFit/>
          </a:bodyPr>
          <a:lstStyle/>
          <a:p>
            <a:pPr marL="12700">
              <a:lnSpc>
                <a:spcPct val="100000"/>
              </a:lnSpc>
              <a:spcBef>
                <a:spcPts val="100"/>
              </a:spcBef>
            </a:pPr>
            <a:r>
              <a:rPr lang="en-US" sz="1400" dirty="0">
                <a:solidFill>
                  <a:schemeClr val="bg1"/>
                </a:solidFill>
                <a:latin typeface="Times New Roman" panose="02020603050405020304" pitchFamily="18" charset="0"/>
                <a:cs typeface="Times New Roman" panose="02020603050405020304" pitchFamily="18" charset="0"/>
              </a:rPr>
              <a:t>AI-Enhanced Geospatial Tourism Recommendation System</a:t>
            </a:r>
          </a:p>
        </p:txBody>
      </p:sp>
      <p:sp>
        <p:nvSpPr>
          <p:cNvPr id="5" name="object 5"/>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lang="en-US" spc="-10" dirty="0"/>
              <a:t>9</a:t>
            </a:r>
            <a:endParaRPr spc="-25" dirty="0"/>
          </a:p>
        </p:txBody>
      </p:sp>
      <p:sp>
        <p:nvSpPr>
          <p:cNvPr id="6" name="object 6"/>
          <p:cNvSpPr txBox="1">
            <a:spLocks noGrp="1"/>
          </p:cNvSpPr>
          <p:nvPr>
            <p:ph type="dt" sz="half" idx="6"/>
          </p:nvPr>
        </p:nvSpPr>
        <p:spPr>
          <a:xfrm>
            <a:off x="1773948" y="6629559"/>
            <a:ext cx="3891279"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7" name="object 7"/>
          <p:cNvSpPr txBox="1"/>
          <p:nvPr/>
        </p:nvSpPr>
        <p:spPr>
          <a:xfrm>
            <a:off x="7147541" y="6629197"/>
            <a:ext cx="42062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11</a:t>
            </a:fld>
            <a:endParaRPr spc="-25" dirty="0"/>
          </a:p>
        </p:txBody>
      </p:sp>
      <p:sp>
        <p:nvSpPr>
          <p:cNvPr id="4" name="object 4"/>
          <p:cNvSpPr txBox="1">
            <a:spLocks noGrp="1"/>
          </p:cNvSpPr>
          <p:nvPr>
            <p:ph type="title"/>
          </p:nvPr>
        </p:nvSpPr>
        <p:spPr>
          <a:xfrm>
            <a:off x="2705705" y="2352272"/>
            <a:ext cx="6692265" cy="1488440"/>
          </a:xfrm>
          <a:prstGeom prst="rect">
            <a:avLst/>
          </a:prstGeom>
        </p:spPr>
        <p:txBody>
          <a:bodyPr vert="horz" wrap="square" lIns="0" tIns="12700" rIns="0" bIns="0" rtlCol="0">
            <a:spAutoFit/>
          </a:bodyPr>
          <a:lstStyle/>
          <a:p>
            <a:pPr marL="12700">
              <a:lnSpc>
                <a:spcPct val="100000"/>
              </a:lnSpc>
              <a:spcBef>
                <a:spcPts val="100"/>
              </a:spcBef>
            </a:pPr>
            <a:r>
              <a:rPr sz="9600" i="1" dirty="0">
                <a:solidFill>
                  <a:srgbClr val="FF6600"/>
                </a:solidFill>
                <a:latin typeface="Times New Roman"/>
                <a:cs typeface="Times New Roman"/>
              </a:rPr>
              <a:t>Any</a:t>
            </a:r>
            <a:r>
              <a:rPr sz="9600" i="1" spc="-30" dirty="0">
                <a:solidFill>
                  <a:srgbClr val="FF6600"/>
                </a:solidFill>
                <a:latin typeface="Times New Roman"/>
                <a:cs typeface="Times New Roman"/>
              </a:rPr>
              <a:t> </a:t>
            </a:r>
            <a:r>
              <a:rPr sz="9600" i="1" spc="-10" dirty="0">
                <a:solidFill>
                  <a:srgbClr val="FF6600"/>
                </a:solidFill>
                <a:latin typeface="Times New Roman"/>
                <a:cs typeface="Times New Roman"/>
              </a:rPr>
              <a:t>Queries?</a:t>
            </a:r>
            <a:endParaRPr sz="9600">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152</TotalTime>
  <Words>1245</Words>
  <Application>Microsoft Office PowerPoint</Application>
  <PresentationFormat>Widescreen</PresentationFormat>
  <Paragraphs>133</Paragraphs>
  <Slides>11</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Calibri</vt:lpstr>
      <vt:lpstr>Lucida Sans Unicode</vt:lpstr>
      <vt:lpstr>Times New Roman</vt:lpstr>
      <vt:lpstr>Wingdings</vt:lpstr>
      <vt:lpstr>Office Theme</vt:lpstr>
      <vt:lpstr>AI-Enhanced Geospatial Tourism Recommendation System</vt:lpstr>
      <vt:lpstr>Contents</vt:lpstr>
      <vt:lpstr>Title Justification</vt:lpstr>
      <vt:lpstr>Abstract</vt:lpstr>
      <vt:lpstr>Problem Statement</vt:lpstr>
      <vt:lpstr>Objectives of Project</vt:lpstr>
      <vt:lpstr>PowerPoint Presentation</vt:lpstr>
      <vt:lpstr>Proposed System</vt:lpstr>
      <vt:lpstr>References</vt:lpstr>
      <vt:lpstr>Git Hub Dashboards of each student</vt:lpstr>
      <vt:lpstr>Any Queries?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AI-Enhanced Geospatial Tourism Recommendation System</dc:title>
  <dc:creator>Admin</dc:creator>
  <cp:lastModifiedBy>ManiChandrika Charugundla</cp:lastModifiedBy>
  <cp:revision>26</cp:revision>
  <dcterms:created xsi:type="dcterms:W3CDTF">2025-12-04T07:04:46Z</dcterms:created>
  <dcterms:modified xsi:type="dcterms:W3CDTF">2025-12-19T06:00:39Z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2025-12-04T00:00:00Z</vt:filetime>
  </property>
  <property fmtid="{D5CDD505-2E9C-101B-9397-08002B2CF9AE}" pid="3" name="Creator">
    <vt:lpwstr>Google</vt:lpwstr>
  </property>
  <property fmtid="{D5CDD505-2E9C-101B-9397-08002B2CF9AE}" pid="4" name="LastSaved">
    <vt:filetime>2025-12-04T00:00:00Z</vt:filetime>
  </property>
</Properties>
</file>