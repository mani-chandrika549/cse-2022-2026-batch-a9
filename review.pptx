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946"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0D2774E-8745-4C13-911B-394AEE73700E}" type="datetimeFigureOut">
              <a:rPr lang="en-US" smtClean="0"/>
              <a:t>12/19/2025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48FBBD9-B7C3-4023-8989-01EA7B9DB4D4}" type="slidenum">
              <a:rPr lang="en-US" smtClean="0"/>
              <a:t>‹#›</a:t>
            </a:fld>
            <a:endParaRPr lang="en-US"/>
          </a:p>
        </p:txBody>
      </p:sp>
    </p:spTree>
    <p:extLst>
      <p:ext uri="{BB962C8B-B14F-4D97-AF65-F5344CB8AC3E}">
        <p14:creationId xmlns:p14="http://schemas.microsoft.com/office/powerpoint/2010/main" val="65156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8FBBD9-B7C3-4023-8989-01EA7B9DB4D4}" type="slidenum">
              <a:rPr lang="en-US" smtClean="0"/>
              <a:t>5</a:t>
            </a:fld>
            <a:endParaRPr lang="en-US"/>
          </a:p>
        </p:txBody>
      </p:sp>
    </p:spTree>
    <p:extLst>
      <p:ext uri="{BB962C8B-B14F-4D97-AF65-F5344CB8AC3E}">
        <p14:creationId xmlns:p14="http://schemas.microsoft.com/office/powerpoint/2010/main" val="3841651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6385"/>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US" dirty="0">
                <a:solidFill>
                  <a:schemeClr val="bg1"/>
                </a:solidFill>
              </a:rPr>
              <a:t>A9</a:t>
            </a:r>
            <a:endParaRPr dirty="0">
              <a:solidFill>
                <a:schemeClr val="bg1"/>
              </a:solidFill>
            </a:endParaRPr>
          </a:p>
        </p:txBody>
      </p:sp>
      <p:sp>
        <p:nvSpPr>
          <p:cNvPr id="8" name="object 8"/>
          <p:cNvSpPr txBox="1"/>
          <p:nvPr/>
        </p:nvSpPr>
        <p:spPr>
          <a:xfrm>
            <a:off x="7421887" y="1729372"/>
            <a:ext cx="2590800" cy="598241"/>
          </a:xfrm>
          <a:prstGeom prst="rect">
            <a:avLst/>
          </a:prstGeom>
        </p:spPr>
        <p:txBody>
          <a:bodyPr vert="horz" wrap="square" lIns="0" tIns="13335" rIns="0" bIns="0" rtlCol="0">
            <a:spAutoFit/>
          </a:bodyPr>
          <a:lstStyle/>
          <a:p>
            <a:pPr algn="ctr">
              <a:spcBef>
                <a:spcPts val="105"/>
              </a:spcBef>
            </a:pPr>
            <a:r>
              <a:rPr lang="en-US" sz="2400" dirty="0" err="1">
                <a:latin typeface="Times New Roman"/>
                <a:cs typeface="Times New Roman"/>
              </a:rPr>
              <a:t>S.Manjunath</a:t>
            </a:r>
            <a:r>
              <a:rPr lang="en-US" sz="2400" dirty="0">
                <a:latin typeface="Times New Roman"/>
                <a:cs typeface="Times New Roman"/>
              </a:rPr>
              <a:t> Reddy</a:t>
            </a:r>
            <a:endParaRPr sz="2400" dirty="0">
              <a:latin typeface="Times New Roman"/>
              <a:cs typeface="Times New Roman"/>
            </a:endParaRPr>
          </a:p>
          <a:p>
            <a:pPr marL="635" algn="ctr"/>
            <a:r>
              <a:rPr sz="1400" dirty="0">
                <a:latin typeface="Times New Roman"/>
                <a:cs typeface="Times New Roman"/>
              </a:rPr>
              <a:t>Roll</a:t>
            </a:r>
            <a:r>
              <a:rPr sz="1400" spc="5" dirty="0">
                <a:latin typeface="Times New Roman"/>
                <a:cs typeface="Times New Roman"/>
              </a:rPr>
              <a:t> </a:t>
            </a:r>
            <a:r>
              <a:rPr sz="1400" dirty="0">
                <a:latin typeface="Times New Roman"/>
                <a:cs typeface="Times New Roman"/>
              </a:rPr>
              <a:t>No.</a:t>
            </a:r>
            <a:r>
              <a:rPr sz="1400" spc="5" dirty="0">
                <a:latin typeface="Times New Roman"/>
                <a:cs typeface="Times New Roman"/>
              </a:rPr>
              <a:t> </a:t>
            </a:r>
            <a:r>
              <a:rPr lang="en-US" sz="1400" spc="-10" dirty="0">
                <a:latin typeface="Times New Roman"/>
                <a:cs typeface="Times New Roman"/>
              </a:rPr>
              <a:t>224G1A0552</a:t>
            </a:r>
            <a:endParaRPr sz="1400" dirty="0">
              <a:latin typeface="Times New Roman"/>
              <a:cs typeface="Times New Roman"/>
            </a:endParaRPr>
          </a:p>
        </p:txBody>
      </p:sp>
      <p:sp>
        <p:nvSpPr>
          <p:cNvPr id="9" name="object 9"/>
          <p:cNvSpPr txBox="1"/>
          <p:nvPr/>
        </p:nvSpPr>
        <p:spPr>
          <a:xfrm>
            <a:off x="4460247" y="2764880"/>
            <a:ext cx="3265170" cy="548868"/>
          </a:xfrm>
          <a:prstGeom prst="rect">
            <a:avLst/>
          </a:prstGeom>
        </p:spPr>
        <p:txBody>
          <a:bodyPr vert="horz" wrap="square" lIns="0" tIns="12700" rIns="0" bIns="0" rtlCol="0">
            <a:spAutoFit/>
          </a:bodyPr>
          <a:lstStyle/>
          <a:p>
            <a:pPr marL="635" algn="ctr">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lang="en-US" sz="1400" i="1" spc="-25" dirty="0">
              <a:latin typeface="Times New Roman"/>
              <a:cs typeface="Times New Roman"/>
            </a:endParaRPr>
          </a:p>
          <a:p>
            <a:pPr marL="635" algn="ctr">
              <a:spcBef>
                <a:spcPts val="100"/>
              </a:spcBef>
            </a:pPr>
            <a:r>
              <a:rPr lang="en-IN" sz="2000" i="1" spc="-25" dirty="0" err="1">
                <a:latin typeface="Times New Roman"/>
                <a:cs typeface="Times New Roman"/>
              </a:rPr>
              <a:t>Mr.G.Chinna</a:t>
            </a:r>
            <a:r>
              <a:rPr lang="en-IN" sz="2000" i="1" spc="-25" dirty="0">
                <a:latin typeface="Times New Roman"/>
                <a:cs typeface="Times New Roman"/>
              </a:rPr>
              <a:t> </a:t>
            </a:r>
            <a:r>
              <a:rPr lang="en-IN" sz="2000" i="1" spc="-25" dirty="0" err="1">
                <a:latin typeface="Times New Roman"/>
                <a:cs typeface="Times New Roman"/>
              </a:rPr>
              <a:t>Pullaiah</a:t>
            </a:r>
            <a:r>
              <a:rPr lang="en-IN" sz="2000" i="1" spc="-25" dirty="0">
                <a:latin typeface="Times New Roman"/>
                <a:cs typeface="Times New Roman"/>
              </a:rPr>
              <a:t> </a:t>
            </a:r>
            <a:endParaRPr sz="20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r>
              <a:rPr sz="2200" spc="-10" dirty="0">
                <a:latin typeface="Times New Roman"/>
                <a:cs typeface="Times New Roman"/>
              </a:rPr>
              <a:t>(AI&amp;ML)</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US" sz="1300" b="1" dirty="0">
                <a:solidFill>
                  <a:srgbClr val="1E4E78"/>
                </a:solidFill>
                <a:latin typeface="Times New Roman"/>
                <a:cs typeface="Times New Roman"/>
              </a:rPr>
              <a:t>5</a:t>
            </a:r>
            <a:r>
              <a:rPr sz="1300" b="1" dirty="0">
                <a:solidFill>
                  <a:srgbClr val="1E4E78"/>
                </a:solidFill>
                <a:latin typeface="Times New Roman"/>
                <a:cs typeface="Times New Roman"/>
              </a:rPr>
              <a:t>-</a:t>
            </a:r>
            <a:r>
              <a:rPr sz="1300" b="1" spc="-20" dirty="0">
                <a:solidFill>
                  <a:srgbClr val="1E4E78"/>
                </a:solidFill>
                <a:latin typeface="Times New Roman"/>
                <a:cs typeface="Times New Roman"/>
              </a:rPr>
              <a:t>202</a:t>
            </a:r>
            <a:r>
              <a:rPr lang="en-US"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4648200" y="1795765"/>
            <a:ext cx="2113915" cy="599523"/>
          </a:xfrm>
          <a:prstGeom prst="rect">
            <a:avLst/>
          </a:prstGeom>
        </p:spPr>
        <p:txBody>
          <a:bodyPr vert="horz" wrap="square" lIns="0" tIns="14605" rIns="0" bIns="0" rtlCol="0">
            <a:spAutoFit/>
          </a:bodyPr>
          <a:lstStyle/>
          <a:p>
            <a:pPr algn="ctr">
              <a:spcBef>
                <a:spcPts val="115"/>
              </a:spcBef>
            </a:pPr>
            <a:r>
              <a:rPr lang="en-US" sz="2400" dirty="0" err="1">
                <a:latin typeface="Times New Roman"/>
                <a:cs typeface="Times New Roman"/>
              </a:rPr>
              <a:t>S.Ankitha</a:t>
            </a:r>
            <a:endParaRPr sz="2400" dirty="0">
              <a:latin typeface="Times New Roman"/>
              <a:cs typeface="Times New Roman"/>
            </a:endParaRPr>
          </a:p>
          <a:p>
            <a:pPr marL="1270" algn="ctr"/>
            <a:r>
              <a:rPr sz="1400" dirty="0">
                <a:latin typeface="Times New Roman"/>
                <a:cs typeface="Times New Roman"/>
              </a:rPr>
              <a:t>Roll</a:t>
            </a:r>
            <a:r>
              <a:rPr sz="1400" spc="40" dirty="0">
                <a:latin typeface="Times New Roman"/>
                <a:cs typeface="Times New Roman"/>
              </a:rPr>
              <a:t> </a:t>
            </a:r>
            <a:r>
              <a:rPr sz="1400" dirty="0">
                <a:latin typeface="Times New Roman"/>
                <a:cs typeface="Times New Roman"/>
              </a:rPr>
              <a:t>No.</a:t>
            </a:r>
            <a:r>
              <a:rPr sz="1400" spc="40" dirty="0">
                <a:latin typeface="Times New Roman"/>
                <a:cs typeface="Times New Roman"/>
              </a:rPr>
              <a:t> </a:t>
            </a:r>
            <a:r>
              <a:rPr lang="en-US" sz="1400" spc="-10" dirty="0">
                <a:latin typeface="Times New Roman"/>
                <a:cs typeface="Times New Roman"/>
              </a:rPr>
              <a:t>224G1A0504</a:t>
            </a:r>
            <a:endParaRPr sz="1400" dirty="0">
              <a:latin typeface="Times New Roman"/>
              <a:cs typeface="Times New Roman"/>
            </a:endParaRPr>
          </a:p>
        </p:txBody>
      </p:sp>
      <p:sp>
        <p:nvSpPr>
          <p:cNvPr id="13" name="object 13"/>
          <p:cNvSpPr txBox="1"/>
          <p:nvPr/>
        </p:nvSpPr>
        <p:spPr>
          <a:xfrm>
            <a:off x="1638190" y="1761919"/>
            <a:ext cx="2411205" cy="598241"/>
          </a:xfrm>
          <a:prstGeom prst="rect">
            <a:avLst/>
          </a:prstGeom>
        </p:spPr>
        <p:txBody>
          <a:bodyPr vert="horz" wrap="square" lIns="0" tIns="13335" rIns="0" bIns="0" rtlCol="0">
            <a:spAutoFit/>
          </a:bodyPr>
          <a:lstStyle/>
          <a:p>
            <a:pPr algn="ctr">
              <a:lnSpc>
                <a:spcPct val="100000"/>
              </a:lnSpc>
              <a:spcBef>
                <a:spcPts val="105"/>
              </a:spcBef>
            </a:pPr>
            <a:r>
              <a:rPr lang="en-US" sz="2400" dirty="0">
                <a:latin typeface="Times New Roman"/>
                <a:cs typeface="Times New Roman"/>
              </a:rPr>
              <a:t>C.ManiChandrika</a:t>
            </a:r>
            <a:endParaRPr sz="2400" dirty="0">
              <a:latin typeface="Times New Roman"/>
              <a:cs typeface="Times New Roman"/>
            </a:endParaRPr>
          </a:p>
          <a:p>
            <a:pPr marL="1270"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US" sz="1400" spc="-10" dirty="0">
                <a:latin typeface="Times New Roman"/>
                <a:cs typeface="Times New Roman"/>
              </a:rPr>
              <a:t>24G1A0549</a:t>
            </a:r>
            <a:endParaRPr sz="14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532814" y="528319"/>
            <a:ext cx="11664308" cy="412934"/>
          </a:xfrm>
          <a:prstGeom prst="rect">
            <a:avLst/>
          </a:prstGeom>
        </p:spPr>
        <p:txBody>
          <a:bodyPr vert="horz" wrap="square" lIns="0" tIns="12700" rIns="0" bIns="0" rtlCol="0">
            <a:spAutoFit/>
          </a:bodyPr>
          <a:lstStyle/>
          <a:p>
            <a:pPr marL="12700" algn="ctr">
              <a:lnSpc>
                <a:spcPct val="100000"/>
              </a:lnSpc>
              <a:spcBef>
                <a:spcPts val="100"/>
              </a:spcBef>
            </a:pPr>
            <a:r>
              <a:rPr lang="en-US" sz="2600" dirty="0"/>
              <a:t>AI-Enhanced Geospatial Tourism Recommendation System</a:t>
            </a:r>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365633"/>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29000" y="-40280"/>
            <a:ext cx="6629400" cy="243656"/>
          </a:xfrm>
          <a:prstGeom prst="rect">
            <a:avLst/>
          </a:prstGeom>
        </p:spPr>
        <p:txBody>
          <a:bodyPr vert="horz" wrap="square" lIns="0" tIns="12700" rIns="0" bIns="0" rtlCol="0">
            <a:spAutoFit/>
          </a:bodyPr>
          <a:lstStyle/>
          <a:p>
            <a:pPr marL="12700">
              <a:lnSpc>
                <a:spcPct val="100000"/>
              </a:lnSpc>
              <a:spcBef>
                <a:spcPts val="100"/>
              </a:spcBef>
            </a:pPr>
            <a:r>
              <a:rPr lang="en-US" sz="1500" dirty="0">
                <a:solidFill>
                  <a:schemeClr val="bg1"/>
                </a:solidFill>
                <a:latin typeface="Times New Roman" panose="02020603050405020304" pitchFamily="18" charset="0"/>
                <a:cs typeface="Times New Roman" panose="02020603050405020304" pitchFamily="18" charset="0"/>
              </a:rPr>
              <a:t>AI-Enhanced Geospatial Tourism Recommendation System</a:t>
            </a:r>
            <a:endParaRPr sz="1500" dirty="0">
              <a:solidFill>
                <a:schemeClr val="bg1"/>
              </a:solidFill>
              <a:latin typeface="Times New Roman" panose="02020603050405020304" pitchFamily="18" charset="0"/>
              <a:cs typeface="Times New Roman" panose="02020603050405020304" pitchFamily="18" charset="0"/>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357650" y="6645601"/>
            <a:ext cx="405255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546"/>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733800" y="-1"/>
            <a:ext cx="6019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Title</a:t>
            </a:r>
            <a:r>
              <a:rPr spc="-110" dirty="0"/>
              <a:t> </a:t>
            </a:r>
            <a:r>
              <a:rPr spc="-10" dirty="0"/>
              <a:t>Justification</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3" name="TextBox 12">
            <a:extLst>
              <a:ext uri="{FF2B5EF4-FFF2-40B4-BE49-F238E27FC236}">
                <a16:creationId xmlns:a16="http://schemas.microsoft.com/office/drawing/2014/main" id="{A9924C31-CA33-3AA0-F6AC-3F8332B657C5}"/>
              </a:ext>
            </a:extLst>
          </p:cNvPr>
          <p:cNvSpPr txBox="1"/>
          <p:nvPr/>
        </p:nvSpPr>
        <p:spPr>
          <a:xfrm>
            <a:off x="784031" y="1524000"/>
            <a:ext cx="10798369" cy="378206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title emphasizes “AI-Enhanced,” which accurately represents the system’s use of advanced machine learning, computer vision, and NLP models to analyze user inputs, identify tourist locations, and generate intelligent, data-driven recommendations.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term “Geospatial” highlights the system’s reliance on GIS techniques, spatial clustering, and location-based context understanding key components that differentiate it from generic recommendation systems by focusing on geographical relationships between destinations.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phrase “Tourism Recommendation System” clearly describes the primary purpose of the work: providing personalized and relevant travel suggestions by analyzing user preferences, proximity-based insights, and place similarities.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38600" y="-18339"/>
            <a:ext cx="6019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1300" y="226615"/>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8551" y="256301"/>
            <a:ext cx="7221414" cy="628377"/>
          </a:xfrm>
          <a:prstGeom prst="rect">
            <a:avLst/>
          </a:prstGeom>
        </p:spPr>
        <p:txBody>
          <a:bodyPr vert="horz" wrap="square" lIns="0" tIns="12700" rIns="0" bIns="0" rtlCol="0">
            <a:spAutoFit/>
          </a:bodyPr>
          <a:lstStyle/>
          <a:p>
            <a:pPr marL="12700">
              <a:lnSpc>
                <a:spcPct val="100000"/>
              </a:lnSpc>
              <a:spcBef>
                <a:spcPts val="100"/>
              </a:spcBef>
            </a:pPr>
            <a:r>
              <a:rPr lang="en-IN" sz="4000" spc="-10" dirty="0"/>
              <a:t>Abstract</a:t>
            </a:r>
            <a:endParaRPr sz="400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383050" y="6629197"/>
            <a:ext cx="402715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60428"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2" name="TextBox 11">
            <a:extLst>
              <a:ext uri="{FF2B5EF4-FFF2-40B4-BE49-F238E27FC236}">
                <a16:creationId xmlns:a16="http://schemas.microsoft.com/office/drawing/2014/main" id="{03289E10-C778-97C5-3BEF-64F0215EEA35}"/>
              </a:ext>
            </a:extLst>
          </p:cNvPr>
          <p:cNvSpPr txBox="1"/>
          <p:nvPr/>
        </p:nvSpPr>
        <p:spPr>
          <a:xfrm>
            <a:off x="609600" y="1367957"/>
            <a:ext cx="10798369"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an AI-Enhanced Geospatial Tourism Recommendation System designed to intelligently identify tourist places from user-uploaded inputs and deliver personalized travel suggestions across India. The system integrates computer vision, natural language processing, and machine learning models to recognize destinations and analyze contextual factors such as geographical proximity, cultural relevance, and user preferences. Geospatial analysis further enhances the system by mapping locations, understanding spatial relationships, and recommending similar or nearby attractions. The results are displayed with rich details including descriptions, images, and interactive map visualizations to support informed decision-making. This integrated approach improves the accuracy, relevance, and usability of tourism recommendations, creating a smart, AI-driven solution that enhances travel planning and enriches user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4876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3"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9" name="object 9"/>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5110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2" name="TextBox 11">
            <a:extLst>
              <a:ext uri="{FF2B5EF4-FFF2-40B4-BE49-F238E27FC236}">
                <a16:creationId xmlns:a16="http://schemas.microsoft.com/office/drawing/2014/main" id="{F64B098F-2EEB-E3B6-D749-B5552382089A}"/>
              </a:ext>
            </a:extLst>
          </p:cNvPr>
          <p:cNvSpPr txBox="1"/>
          <p:nvPr/>
        </p:nvSpPr>
        <p:spPr>
          <a:xfrm>
            <a:off x="784031" y="1524000"/>
            <a:ext cx="10798369"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tourism platforms often fail to automatically identify tourist spots from user-provided inputs such as images, text, or coordinates, making it difficult for travelers to receive context-aware information.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recommendation systems do not incorporate geospatial analysis, resulting in suggestions that ignore spatial proximity, regional features, cultural relevance, and geographical accessibility.</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Current travel recommendation tools offer generic results that do not adapt to user preferences, contextual cues, or the characteristics of the input place, reducing the relevance and usefulness of recommendations.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Travelers lack a unified system that provides detailed destination information along with interactive map visualizations, making trip planning less efficient and less informative.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38600" y="-18340"/>
            <a:ext cx="5257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TextBox 11">
            <a:extLst>
              <a:ext uri="{FF2B5EF4-FFF2-40B4-BE49-F238E27FC236}">
                <a16:creationId xmlns:a16="http://schemas.microsoft.com/office/drawing/2014/main" id="{0E910147-AAFE-44E0-90DF-57091E7D7810}"/>
              </a:ext>
            </a:extLst>
          </p:cNvPr>
          <p:cNvSpPr txBox="1"/>
          <p:nvPr/>
        </p:nvSpPr>
        <p:spPr>
          <a:xfrm>
            <a:off x="784031" y="1524000"/>
            <a:ext cx="10798369"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automatically identify tourist locations from user-uploaded inputs such as images, text descriptions, or coordinates using AI techniques like computer vision and NLP.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the geographical and contextual features of identified locations through machine learning and geospatial processing to understand proximity, cultural relevance, and environmental characteristics.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generate personalized tourism recommendations by suggesting similar or nearby destinations based on user preferences, spatial relationships, and contextual insights.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an interactive and user-friendly interface that displays detailed information, images, and map visualizations of recommended places for enhanced decision-making and trip planning.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53340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09958"/>
            <a:ext cx="8918575" cy="1577355"/>
          </a:xfrm>
          <a:prstGeom prst="rect">
            <a:avLst/>
          </a:prstGeom>
        </p:spPr>
        <p:txBody>
          <a:bodyPr vert="horz" wrap="square" lIns="0" tIns="12700" rIns="0" bIns="0" rtlCol="0">
            <a:spAutoFit/>
          </a:bodyPr>
          <a:lstStyle/>
          <a:p>
            <a:pPr marL="12700">
              <a:lnSpc>
                <a:spcPct val="100000"/>
              </a:lnSpc>
              <a:spcBef>
                <a:spcPts val="100"/>
              </a:spcBef>
            </a:pPr>
            <a:r>
              <a:rPr sz="4400" dirty="0">
                <a:solidFill>
                  <a:schemeClr val="bg1"/>
                </a:solidFill>
                <a:latin typeface="Times New Roman"/>
                <a:cs typeface="Times New Roman"/>
              </a:rPr>
              <a:t>Literature</a:t>
            </a:r>
            <a:r>
              <a:rPr sz="4400" spc="-35" dirty="0">
                <a:solidFill>
                  <a:schemeClr val="bg1"/>
                </a:solidFill>
                <a:latin typeface="Times New Roman"/>
                <a:cs typeface="Times New Roman"/>
              </a:rPr>
              <a:t> </a:t>
            </a:r>
            <a:r>
              <a:rPr sz="4400" dirty="0">
                <a:solidFill>
                  <a:schemeClr val="bg1"/>
                </a:solidFill>
                <a:latin typeface="Times New Roman"/>
                <a:cs typeface="Times New Roman"/>
              </a:rPr>
              <a:t>survey</a:t>
            </a:r>
            <a:r>
              <a:rPr sz="4400" spc="-25" dirty="0">
                <a:solidFill>
                  <a:schemeClr val="bg1"/>
                </a:solidFill>
                <a:latin typeface="Times New Roman"/>
                <a:cs typeface="Times New Roman"/>
              </a:rPr>
              <a:t> </a:t>
            </a:r>
            <a:r>
              <a:rPr sz="4400" dirty="0">
                <a:solidFill>
                  <a:schemeClr val="bg1"/>
                </a:solidFill>
                <a:latin typeface="Times New Roman"/>
                <a:cs typeface="Times New Roman"/>
              </a:rPr>
              <a:t>for</a:t>
            </a:r>
            <a:r>
              <a:rPr sz="4400" spc="-25" dirty="0">
                <a:solidFill>
                  <a:schemeClr val="bg1"/>
                </a:solidFill>
                <a:latin typeface="Times New Roman"/>
                <a:cs typeface="Times New Roman"/>
              </a:rPr>
              <a:t> </a:t>
            </a:r>
            <a:r>
              <a:rPr sz="4400" spc="-10" dirty="0">
                <a:solidFill>
                  <a:schemeClr val="bg1"/>
                </a:solidFill>
                <a:latin typeface="Times New Roman"/>
                <a:cs typeface="Times New Roman"/>
              </a:rPr>
              <a:t>objectives</a:t>
            </a:r>
            <a:endParaRPr sz="4400" dirty="0">
              <a:solidFill>
                <a:schemeClr val="bg1"/>
              </a:solidFill>
              <a:latin typeface="Times New Roman"/>
              <a:cs typeface="Times New Roman"/>
            </a:endParaRPr>
          </a:p>
          <a:p>
            <a:pPr>
              <a:lnSpc>
                <a:spcPct val="100000"/>
              </a:lnSpc>
              <a:spcBef>
                <a:spcPts val="225"/>
              </a:spcBef>
            </a:pPr>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8" name="object 8"/>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147541" y="6629197"/>
            <a:ext cx="41696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graphicFrame>
        <p:nvGraphicFramePr>
          <p:cNvPr id="12" name="Table 11">
            <a:extLst>
              <a:ext uri="{FF2B5EF4-FFF2-40B4-BE49-F238E27FC236}">
                <a16:creationId xmlns:a16="http://schemas.microsoft.com/office/drawing/2014/main" id="{99EF9D97-3DAF-40F7-5670-27C580AF35B1}"/>
              </a:ext>
            </a:extLst>
          </p:cNvPr>
          <p:cNvGraphicFramePr>
            <a:graphicFrameLocks noGrp="1"/>
          </p:cNvGraphicFramePr>
          <p:nvPr>
            <p:extLst>
              <p:ext uri="{D42A27DB-BD31-4B8C-83A1-F6EECF244321}">
                <p14:modId xmlns:p14="http://schemas.microsoft.com/office/powerpoint/2010/main" val="7285597"/>
              </p:ext>
            </p:extLst>
          </p:nvPr>
        </p:nvGraphicFramePr>
        <p:xfrm>
          <a:off x="457200" y="1074738"/>
          <a:ext cx="10744200" cy="4892240"/>
        </p:xfrm>
        <a:graphic>
          <a:graphicData uri="http://schemas.openxmlformats.org/drawingml/2006/table">
            <a:tbl>
              <a:tblPr>
                <a:tableStyleId>{BC89EF96-8CEA-46FF-86C4-4CE0E7609802}</a:tableStyleId>
              </a:tblPr>
              <a:tblGrid>
                <a:gridCol w="2148840">
                  <a:extLst>
                    <a:ext uri="{9D8B030D-6E8A-4147-A177-3AD203B41FA5}">
                      <a16:colId xmlns:a16="http://schemas.microsoft.com/office/drawing/2014/main" val="805013458"/>
                    </a:ext>
                  </a:extLst>
                </a:gridCol>
                <a:gridCol w="1051560">
                  <a:extLst>
                    <a:ext uri="{9D8B030D-6E8A-4147-A177-3AD203B41FA5}">
                      <a16:colId xmlns:a16="http://schemas.microsoft.com/office/drawing/2014/main" val="2872496068"/>
                    </a:ext>
                  </a:extLst>
                </a:gridCol>
                <a:gridCol w="2438400">
                  <a:extLst>
                    <a:ext uri="{9D8B030D-6E8A-4147-A177-3AD203B41FA5}">
                      <a16:colId xmlns:a16="http://schemas.microsoft.com/office/drawing/2014/main" val="3440606919"/>
                    </a:ext>
                  </a:extLst>
                </a:gridCol>
                <a:gridCol w="2667000">
                  <a:extLst>
                    <a:ext uri="{9D8B030D-6E8A-4147-A177-3AD203B41FA5}">
                      <a16:colId xmlns:a16="http://schemas.microsoft.com/office/drawing/2014/main" val="1052781825"/>
                    </a:ext>
                  </a:extLst>
                </a:gridCol>
                <a:gridCol w="2438400">
                  <a:extLst>
                    <a:ext uri="{9D8B030D-6E8A-4147-A177-3AD203B41FA5}">
                      <a16:colId xmlns:a16="http://schemas.microsoft.com/office/drawing/2014/main" val="1767098778"/>
                    </a:ext>
                  </a:extLst>
                </a:gridCol>
              </a:tblGrid>
              <a:tr h="226458">
                <a:tc>
                  <a:txBody>
                    <a:bodyPr/>
                    <a:lstStyle/>
                    <a:p>
                      <a:pPr>
                        <a:buNone/>
                      </a:pPr>
                      <a:r>
                        <a:rPr lang="en-US" sz="1400" b="1" dirty="0">
                          <a:latin typeface="Times New Roman" panose="02020603050405020304" pitchFamily="18" charset="0"/>
                          <a:cs typeface="Times New Roman" panose="02020603050405020304" pitchFamily="18" charset="0"/>
                        </a:rPr>
                        <a:t>Author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Year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Methodology Used</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Implementation</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Limitations</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extLst>
                  <a:ext uri="{0D108BD9-81ED-4DB2-BD59-A6C34878D82A}">
                    <a16:rowId xmlns:a16="http://schemas.microsoft.com/office/drawing/2014/main" val="102232388"/>
                  </a:ext>
                </a:extLst>
              </a:tr>
              <a:tr h="1245523">
                <a:tc>
                  <a:txBody>
                    <a:bodyPr/>
                    <a:lstStyle/>
                    <a:p>
                      <a:pPr>
                        <a:buNone/>
                      </a:pPr>
                      <a:r>
                        <a:rPr lang="en-US" sz="1400" dirty="0">
                          <a:latin typeface="Times New Roman" panose="02020603050405020304" pitchFamily="18" charset="0"/>
                          <a:cs typeface="Times New Roman" panose="02020603050405020304" pitchFamily="18" charset="0"/>
                        </a:rPr>
                        <a:t>Shrestha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Content-Based Image Recognition, CNN Models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Classified tourist attractions from uploaded images using deep learning and provided category-level suggestions.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geospatial analysis; recommendations not personalized; limited to image-only inputs.</a:t>
                      </a:r>
                    </a:p>
                  </a:txBody>
                  <a:tcPr marL="36476" marR="36476" marT="18238" marB="18238" anchor="ctr"/>
                </a:tc>
                <a:extLst>
                  <a:ext uri="{0D108BD9-81ED-4DB2-BD59-A6C34878D82A}">
                    <a16:rowId xmlns:a16="http://schemas.microsoft.com/office/drawing/2014/main" val="944905773"/>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Alsahafi</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2025</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NLP-Based Location Extraction and Similarity Matching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Extracted location names from text queries and recommended similar destinations using text similarity.</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visual input support; lacked interactive map visualization; recommendations not context-aware.</a:t>
                      </a:r>
                    </a:p>
                  </a:txBody>
                  <a:tcPr marL="36476" marR="36476" marT="18238" marB="18238" anchor="ctr"/>
                </a:tc>
                <a:extLst>
                  <a:ext uri="{0D108BD9-81ED-4DB2-BD59-A6C34878D82A}">
                    <a16:rowId xmlns:a16="http://schemas.microsoft.com/office/drawing/2014/main" val="1848534865"/>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Kongpeng</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GIS Mapping + K-Means Spatial Clustering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Used spatial clustering to group nearby tourist spots and suggested regions based on distance metrics.</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Could not analyze user preferences; no AI-based recognition; system depended solely on coordinates.</a:t>
                      </a:r>
                    </a:p>
                  </a:txBody>
                  <a:tcPr marL="36476" marR="36476" marT="18238" marB="18238" anchor="ctr"/>
                </a:tc>
                <a:extLst>
                  <a:ext uri="{0D108BD9-81ED-4DB2-BD59-A6C34878D82A}">
                    <a16:rowId xmlns:a16="http://schemas.microsoft.com/office/drawing/2014/main" val="1793958236"/>
                  </a:ext>
                </a:extLst>
              </a:tr>
              <a:tr h="1245523">
                <a:tc>
                  <a:txBody>
                    <a:bodyPr/>
                    <a:lstStyle/>
                    <a:p>
                      <a:pPr>
                        <a:buNone/>
                      </a:pPr>
                      <a:r>
                        <a:rPr lang="en-US" sz="1400" dirty="0">
                          <a:latin typeface="Times New Roman" panose="02020603050405020304" pitchFamily="18" charset="0"/>
                          <a:cs typeface="Times New Roman" panose="02020603050405020304" pitchFamily="18" charset="0"/>
                        </a:rPr>
                        <a:t>Gupta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Hybrid Recommendation System (Content + Collaborative Filtering)</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Provided personalized tourism recommendations using user behavior and destination metadata.</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Lacked real-time identification of locations; did not integrate geospatial visualization; required large user-history datasets.</a:t>
                      </a:r>
                    </a:p>
                  </a:txBody>
                  <a:tcPr marL="36476" marR="36476" marT="18238" marB="18238" anchor="ctr"/>
                </a:tc>
                <a:extLst>
                  <a:ext uri="{0D108BD9-81ED-4DB2-BD59-A6C34878D82A}">
                    <a16:rowId xmlns:a16="http://schemas.microsoft.com/office/drawing/2014/main" val="184954846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5047584"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8"/>
            <a:ext cx="4322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60428"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609600" y="1254939"/>
            <a:ext cx="10798369" cy="502855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AI-Based Tourist Place Identification </a:t>
            </a:r>
            <a:r>
              <a:rPr lang="en-US" dirty="0">
                <a:latin typeface="Times New Roman" panose="02020603050405020304" pitchFamily="18" charset="0"/>
                <a:cs typeface="Times New Roman" panose="02020603050405020304" pitchFamily="18" charset="0"/>
              </a:rPr>
              <a:t>The system automatically identifies tourist locations from user inputs images, text descriptions or GPS coordinates using advanced computer vision models and NLP techniques to extract meaningful location information</a:t>
            </a:r>
            <a:r>
              <a:rPr lang="en-US" b="1"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Geospatial Context Analysis </a:t>
            </a:r>
            <a:r>
              <a:rPr lang="en-US" dirty="0">
                <a:latin typeface="Times New Roman" panose="02020603050405020304" pitchFamily="18" charset="0"/>
                <a:cs typeface="Times New Roman" panose="02020603050405020304" pitchFamily="18" charset="0"/>
              </a:rPr>
              <a:t>A geospatial processing layer analyzes spatial relationships, proximity, regional characteristics and environmental context using GIS techniques and ML-based clustering to understand the location more accurately.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Intelligent Recommendation Engine </a:t>
            </a:r>
            <a:r>
              <a:rPr lang="en-US" dirty="0">
                <a:latin typeface="Times New Roman" panose="02020603050405020304" pitchFamily="18" charset="0"/>
                <a:cs typeface="Times New Roman" panose="02020603050405020304" pitchFamily="18" charset="0"/>
              </a:rPr>
              <a:t>The system recommends similar or nearby destinations by integrating AI predictions, geospatial distances, cultural similarity and user preference patterns, ensuring highly relevant and personalized travel suggestions.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Interactive Visualization and User Interface </a:t>
            </a:r>
            <a:r>
              <a:rPr lang="en-US" dirty="0">
                <a:latin typeface="Times New Roman" panose="02020603050405020304" pitchFamily="18" charset="0"/>
                <a:cs typeface="Times New Roman" panose="02020603050405020304" pitchFamily="18" charset="0"/>
              </a:rPr>
              <a:t>The platform displays detailed information, images, recommended destinations and interactive map visualizations, allowing users to explore locations easily and make informed travel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97896" y="9732"/>
            <a:ext cx="4739006"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19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13" name="TextBox 12">
            <a:extLst>
              <a:ext uri="{FF2B5EF4-FFF2-40B4-BE49-F238E27FC236}">
                <a16:creationId xmlns:a16="http://schemas.microsoft.com/office/drawing/2014/main" id="{2B534EE4-7247-A472-54E8-BF10F79F09CB}"/>
              </a:ext>
            </a:extLst>
          </p:cNvPr>
          <p:cNvSpPr txBox="1"/>
          <p:nvPr/>
        </p:nvSpPr>
        <p:spPr>
          <a:xfrm>
            <a:off x="784031" y="1524000"/>
            <a:ext cx="10798369" cy="3782061"/>
          </a:xfrm>
          <a:prstGeom prst="rect">
            <a:avLst/>
          </a:prstGeom>
          <a:noFill/>
        </p:spPr>
        <p:txBody>
          <a:bodyPr wrap="square">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Shrestha, </a:t>
            </a:r>
            <a:r>
              <a:rPr lang="en-US" dirty="0" err="1">
                <a:latin typeface="Times New Roman" panose="02020603050405020304" pitchFamily="18" charset="0"/>
                <a:cs typeface="Times New Roman" panose="02020603050405020304" pitchFamily="18" charset="0"/>
              </a:rPr>
              <a:t>Deepanjal</a:t>
            </a:r>
            <a:r>
              <a:rPr lang="en-US" dirty="0">
                <a:latin typeface="Times New Roman" panose="02020603050405020304" pitchFamily="18" charset="0"/>
                <a:cs typeface="Times New Roman" panose="02020603050405020304" pitchFamily="18" charset="0"/>
              </a:rPr>
              <a:t>, et al. "Personalized Tourist recommender system: a data-driven and machine-learning approach." Computation 12.3 (2024): 59.</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Alsahafi</a:t>
            </a:r>
            <a:r>
              <a:rPr lang="en-US" dirty="0">
                <a:latin typeface="Times New Roman" panose="02020603050405020304" pitchFamily="18" charset="0"/>
                <a:cs typeface="Times New Roman" panose="02020603050405020304" pitchFamily="18" charset="0"/>
              </a:rPr>
              <a:t>, Raniah, Rashid Mehmood, and Saad </a:t>
            </a:r>
            <a:r>
              <a:rPr lang="en-US" dirty="0" err="1">
                <a:latin typeface="Times New Roman" panose="02020603050405020304" pitchFamily="18" charset="0"/>
                <a:cs typeface="Times New Roman" panose="02020603050405020304" pitchFamily="18" charset="0"/>
              </a:rPr>
              <a:t>Alqahtany</a:t>
            </a:r>
            <a:r>
              <a:rPr lang="en-US" dirty="0">
                <a:latin typeface="Times New Roman" panose="02020603050405020304" pitchFamily="18" charset="0"/>
                <a:cs typeface="Times New Roman" panose="02020603050405020304" pitchFamily="18" charset="0"/>
              </a:rPr>
              <a:t>. "A Machine Learning-Based Analysis of Tourism Recommendation Systems: Holistic Parameter Discovery and Insights." International Journal of Advanced Computer Science &amp; Applications 16.1 (2025).</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Kongpeng</a:t>
            </a:r>
            <a:r>
              <a:rPr lang="en-US" dirty="0">
                <a:latin typeface="Times New Roman" panose="02020603050405020304" pitchFamily="18" charset="0"/>
                <a:cs typeface="Times New Roman" panose="02020603050405020304" pitchFamily="18" charset="0"/>
              </a:rPr>
              <a:t>, Sumitra, and </a:t>
            </a:r>
            <a:r>
              <a:rPr lang="en-US" dirty="0" err="1">
                <a:latin typeface="Times New Roman" panose="02020603050405020304" pitchFamily="18" charset="0"/>
                <a:cs typeface="Times New Roman" panose="02020603050405020304" pitchFamily="18" charset="0"/>
              </a:rPr>
              <a:t>Anantaporn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Hanskunatai</a:t>
            </a:r>
            <a:r>
              <a:rPr lang="en-US" dirty="0">
                <a:latin typeface="Times New Roman" panose="02020603050405020304" pitchFamily="18" charset="0"/>
                <a:cs typeface="Times New Roman" panose="02020603050405020304" pitchFamily="18" charset="0"/>
              </a:rPr>
              <a:t>. "Tourist Destination Recommendation System based on Machine Learning." Proceedings of the 2024 9th International Conference on Big Data and Computing. 2024.</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Gupta, Keshav, et al. "Deep Learning Classifier to Recommend the Tourist Attraction in Smart Cities." 2024 2nd International Conference on Disruptive Technologies (ICDT). IEEE,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5975" y="1219200"/>
            <a:ext cx="9230994" cy="4733924"/>
          </a:xfrm>
          <a:prstGeom prst="rect">
            <a:avLst/>
          </a:prstGeom>
        </p:spPr>
      </p:pic>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3810000" y="-18339"/>
            <a:ext cx="439928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11" name="object 11"/>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0538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911225" y="6264656"/>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link</a:t>
            </a:r>
            <a:r>
              <a:rPr sz="1800" spc="-1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the</a:t>
            </a:r>
            <a:r>
              <a:rPr sz="1800" spc="-10" dirty="0">
                <a:latin typeface="Arial MT"/>
                <a:cs typeface="Arial MT"/>
              </a:rPr>
              <a:t> Github</a:t>
            </a:r>
            <a:endParaRPr sz="18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886200" y="-18339"/>
            <a:ext cx="53340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6" name="object 6"/>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TotalTime>
  <Words>1225</Words>
  <Application>Microsoft Office PowerPoint</Application>
  <PresentationFormat>Widescreen</PresentationFormat>
  <Paragraphs>131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 MT</vt:lpstr>
      <vt:lpstr>Calibri</vt:lpstr>
      <vt:lpstr>Lucida Sans Unicode</vt:lpstr>
      <vt:lpstr>Times New Roman</vt:lpstr>
      <vt:lpstr>Wingdings</vt:lpstr>
      <vt:lpstr>Office Theme</vt:lpstr>
      <vt:lpstr>AI-Enhanced Geospatial Tourism Recommendation System</vt:lpstr>
      <vt:lpstr>Contents</vt:lpstr>
      <vt:lpstr>Title Justification</vt:lpstr>
      <vt:lpstr>Abstract</vt:lpstr>
      <vt:lpstr>Problem Statement</vt:lpstr>
      <vt:lpstr>Objectives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AI-Enhanced Geospatial Tourism Recommendation System</dc:title>
  <dc:creator>Admin</dc:creator>
  <cp:lastModifiedBy>ManiChandrika Charugundla</cp:lastModifiedBy>
  <cp:revision>24</cp:revision>
  <dcterms:created xsi:type="dcterms:W3CDTF">2025-12-04T07:04:46Z</dcterms:created>
  <dcterms:modified xsi:type="dcterms:W3CDTF">2025-12-19T05:10:50Z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Google</vt:lpwstr>
  </property>
  <property fmtid="{D5CDD505-2E9C-101B-9397-08002B2CF9AE}" pid="4" name="LastSaved">
    <vt:filetime>2025-12-04T00:00:00Z</vt:filetime>
  </property>
</Properties>
</file>